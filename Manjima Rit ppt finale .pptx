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40"/>
  </p:notesMasterIdLst>
  <p:sldIdLst>
    <p:sldId id="256" r:id="rId3"/>
    <p:sldId id="299" r:id="rId4"/>
    <p:sldId id="257" r:id="rId5"/>
    <p:sldId id="268" r:id="rId6"/>
    <p:sldId id="269" r:id="rId7"/>
    <p:sldId id="270" r:id="rId8"/>
    <p:sldId id="297" r:id="rId9"/>
    <p:sldId id="271" r:id="rId10"/>
    <p:sldId id="272" r:id="rId11"/>
    <p:sldId id="273" r:id="rId12"/>
    <p:sldId id="274" r:id="rId13"/>
    <p:sldId id="283" r:id="rId14"/>
    <p:sldId id="284" r:id="rId15"/>
    <p:sldId id="287" r:id="rId16"/>
    <p:sldId id="285" r:id="rId17"/>
    <p:sldId id="286" r:id="rId18"/>
    <p:sldId id="304" r:id="rId19"/>
    <p:sldId id="275" r:id="rId20"/>
    <p:sldId id="289" r:id="rId21"/>
    <p:sldId id="288" r:id="rId22"/>
    <p:sldId id="276" r:id="rId23"/>
    <p:sldId id="277" r:id="rId24"/>
    <p:sldId id="292" r:id="rId25"/>
    <p:sldId id="278" r:id="rId26"/>
    <p:sldId id="290" r:id="rId27"/>
    <p:sldId id="279" r:id="rId28"/>
    <p:sldId id="280" r:id="rId29"/>
    <p:sldId id="291" r:id="rId30"/>
    <p:sldId id="281" r:id="rId31"/>
    <p:sldId id="282" r:id="rId32"/>
    <p:sldId id="293" r:id="rId33"/>
    <p:sldId id="303" r:id="rId34"/>
    <p:sldId id="298" r:id="rId35"/>
    <p:sldId id="301" r:id="rId36"/>
    <p:sldId id="302" r:id="rId37"/>
    <p:sldId id="300" r:id="rId38"/>
    <p:sldId id="296" r:id="rId3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34A"/>
    <a:srgbClr val="A2D00E"/>
    <a:srgbClr val="6FEF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253CDF-D5B6-4C67-97EF-5221AAC93F68}" v="242" dt="2025-05-01T19:34:50.998"/>
    <p1510:client id="{9CA58461-F324-4467-9CE7-DFA9BA19195E}" v="226" dt="2025-05-01T12:12:53.471"/>
    <p1510:client id="{B51B0ED1-C416-40CF-BDD3-42594CEA23A0}" v="101" dt="2025-05-01T17:06:39.2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64" autoAdjust="0"/>
    <p:restoredTop sz="95033" autoAdjust="0"/>
  </p:normalViewPr>
  <p:slideViewPr>
    <p:cSldViewPr snapToGrid="0">
      <p:cViewPr varScale="1">
        <p:scale>
          <a:sx n="102" d="100"/>
          <a:sy n="102" d="100"/>
        </p:scale>
        <p:origin x="120"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jima Rit" userId="c9c7b710bbc944bc" providerId="LiveId" clId="{77253CDF-D5B6-4C67-97EF-5221AAC93F68}"/>
    <pc:docChg chg="undo custSel addSld delSld modSld sldOrd">
      <pc:chgData name="Manjima Rit" userId="c9c7b710bbc944bc" providerId="LiveId" clId="{77253CDF-D5B6-4C67-97EF-5221AAC93F68}" dt="2025-05-02T03:59:04.357" v="2655" actId="1076"/>
      <pc:docMkLst>
        <pc:docMk/>
      </pc:docMkLst>
      <pc:sldChg chg="addSp delSp modSp mod">
        <pc:chgData name="Manjima Rit" userId="c9c7b710bbc944bc" providerId="LiveId" clId="{77253CDF-D5B6-4C67-97EF-5221AAC93F68}" dt="2025-05-01T17:56:34.665" v="886" actId="1076"/>
        <pc:sldMkLst>
          <pc:docMk/>
          <pc:sldMk cId="0" sldId="256"/>
        </pc:sldMkLst>
        <pc:spChg chg="del mod">
          <ac:chgData name="Manjima Rit" userId="c9c7b710bbc944bc" providerId="LiveId" clId="{77253CDF-D5B6-4C67-97EF-5221AAC93F68}" dt="2025-05-01T17:33:31.115" v="649"/>
          <ac:spMkLst>
            <pc:docMk/>
            <pc:sldMk cId="0" sldId="256"/>
            <ac:spMk id="3" creationId="{A4FF5B33-A962-7BE6-00E9-13D65B63784B}"/>
          </ac:spMkLst>
        </pc:spChg>
        <pc:spChg chg="add mod">
          <ac:chgData name="Manjima Rit" userId="c9c7b710bbc944bc" providerId="LiveId" clId="{77253CDF-D5B6-4C67-97EF-5221AAC93F68}" dt="2025-05-01T17:56:34.665" v="886" actId="1076"/>
          <ac:spMkLst>
            <pc:docMk/>
            <pc:sldMk cId="0" sldId="256"/>
            <ac:spMk id="4" creationId="{9789D628-00FF-A24A-A380-C55CA2132D5E}"/>
          </ac:spMkLst>
        </pc:spChg>
        <pc:spChg chg="mod">
          <ac:chgData name="Manjima Rit" userId="c9c7b710bbc944bc" providerId="LiveId" clId="{77253CDF-D5B6-4C67-97EF-5221AAC93F68}" dt="2025-05-01T17:36:03.947" v="757" actId="1076"/>
          <ac:spMkLst>
            <pc:docMk/>
            <pc:sldMk cId="0" sldId="256"/>
            <ac:spMk id="1335" creationId="{00000000-0000-0000-0000-000000000000}"/>
          </ac:spMkLst>
        </pc:spChg>
        <pc:picChg chg="del">
          <ac:chgData name="Manjima Rit" userId="c9c7b710bbc944bc" providerId="LiveId" clId="{77253CDF-D5B6-4C67-97EF-5221AAC93F68}" dt="2025-05-01T17:33:31.108" v="647" actId="478"/>
          <ac:picMkLst>
            <pc:docMk/>
            <pc:sldMk cId="0" sldId="256"/>
            <ac:picMk id="6" creationId="{0D72DF75-FD77-0F6A-4235-FB3D8D485DEE}"/>
          </ac:picMkLst>
        </pc:picChg>
      </pc:sldChg>
      <pc:sldChg chg="modSp mod">
        <pc:chgData name="Manjima Rit" userId="c9c7b710bbc944bc" providerId="LiveId" clId="{77253CDF-D5B6-4C67-97EF-5221AAC93F68}" dt="2025-05-01T19:39:42.367" v="2650" actId="14100"/>
        <pc:sldMkLst>
          <pc:docMk/>
          <pc:sldMk cId="0" sldId="257"/>
        </pc:sldMkLst>
        <pc:spChg chg="mod">
          <ac:chgData name="Manjima Rit" userId="c9c7b710bbc944bc" providerId="LiveId" clId="{77253CDF-D5B6-4C67-97EF-5221AAC93F68}" dt="2025-05-01T19:39:42.367" v="2650" actId="14100"/>
          <ac:spMkLst>
            <pc:docMk/>
            <pc:sldMk cId="0" sldId="257"/>
            <ac:spMk id="3" creationId="{98763A62-F526-CFFE-54EA-506F67F2CFD0}"/>
          </ac:spMkLst>
        </pc:spChg>
      </pc:sldChg>
      <pc:sldChg chg="modSp mod">
        <pc:chgData name="Manjima Rit" userId="c9c7b710bbc944bc" providerId="LiveId" clId="{77253CDF-D5B6-4C67-97EF-5221AAC93F68}" dt="2025-05-01T19:39:50.826" v="2651" actId="113"/>
        <pc:sldMkLst>
          <pc:docMk/>
          <pc:sldMk cId="4119193676" sldId="268"/>
        </pc:sldMkLst>
        <pc:spChg chg="mod">
          <ac:chgData name="Manjima Rit" userId="c9c7b710bbc944bc" providerId="LiveId" clId="{77253CDF-D5B6-4C67-97EF-5221AAC93F68}" dt="2025-05-01T19:39:50.826" v="2651" actId="113"/>
          <ac:spMkLst>
            <pc:docMk/>
            <pc:sldMk cId="4119193676" sldId="268"/>
            <ac:spMk id="4" creationId="{7DE406AB-D464-AFC4-C0E5-9BB3DC8B03A5}"/>
          </ac:spMkLst>
        </pc:spChg>
      </pc:sldChg>
      <pc:sldChg chg="modSp mod">
        <pc:chgData name="Manjima Rit" userId="c9c7b710bbc944bc" providerId="LiveId" clId="{77253CDF-D5B6-4C67-97EF-5221AAC93F68}" dt="2025-05-01T18:50:06.113" v="1981" actId="20577"/>
        <pc:sldMkLst>
          <pc:docMk/>
          <pc:sldMk cId="1117212951" sldId="270"/>
        </pc:sldMkLst>
        <pc:spChg chg="mod">
          <ac:chgData name="Manjima Rit" userId="c9c7b710bbc944bc" providerId="LiveId" clId="{77253CDF-D5B6-4C67-97EF-5221AAC93F68}" dt="2025-05-01T18:50:06.113" v="1981" actId="20577"/>
          <ac:spMkLst>
            <pc:docMk/>
            <pc:sldMk cId="1117212951" sldId="270"/>
            <ac:spMk id="3" creationId="{04F9138E-A90C-6451-15C2-D07928696122}"/>
          </ac:spMkLst>
        </pc:spChg>
      </pc:sldChg>
      <pc:sldChg chg="modSp mod">
        <pc:chgData name="Manjima Rit" userId="c9c7b710bbc944bc" providerId="LiveId" clId="{77253CDF-D5B6-4C67-97EF-5221AAC93F68}" dt="2025-05-02T03:52:50.782" v="2653" actId="20577"/>
        <pc:sldMkLst>
          <pc:docMk/>
          <pc:sldMk cId="2266500777" sldId="271"/>
        </pc:sldMkLst>
        <pc:spChg chg="mod">
          <ac:chgData name="Manjima Rit" userId="c9c7b710bbc944bc" providerId="LiveId" clId="{77253CDF-D5B6-4C67-97EF-5221AAC93F68}" dt="2025-05-01T17:30:33.154" v="570" actId="20577"/>
          <ac:spMkLst>
            <pc:docMk/>
            <pc:sldMk cId="2266500777" sldId="271"/>
            <ac:spMk id="5" creationId="{FF0FB460-E979-D26E-8C96-A20A22414DF2}"/>
          </ac:spMkLst>
        </pc:spChg>
        <pc:spChg chg="mod">
          <ac:chgData name="Manjima Rit" userId="c9c7b710bbc944bc" providerId="LiveId" clId="{77253CDF-D5B6-4C67-97EF-5221AAC93F68}" dt="2025-05-01T17:30:31.264" v="569" actId="20577"/>
          <ac:spMkLst>
            <pc:docMk/>
            <pc:sldMk cId="2266500777" sldId="271"/>
            <ac:spMk id="6" creationId="{D319F663-2244-F824-0EA2-A8AA7508F9BC}"/>
          </ac:spMkLst>
        </pc:spChg>
        <pc:spChg chg="mod">
          <ac:chgData name="Manjima Rit" userId="c9c7b710bbc944bc" providerId="LiveId" clId="{77253CDF-D5B6-4C67-97EF-5221AAC93F68}" dt="2025-05-02T03:52:50.782" v="2653" actId="20577"/>
          <ac:spMkLst>
            <pc:docMk/>
            <pc:sldMk cId="2266500777" sldId="271"/>
            <ac:spMk id="8" creationId="{BBA7EA6C-DDE7-0498-9599-2E4D30B90843}"/>
          </ac:spMkLst>
        </pc:spChg>
        <pc:spChg chg="mod">
          <ac:chgData name="Manjima Rit" userId="c9c7b710bbc944bc" providerId="LiveId" clId="{77253CDF-D5B6-4C67-97EF-5221AAC93F68}" dt="2025-05-01T17:28:54.104" v="473" actId="1076"/>
          <ac:spMkLst>
            <pc:docMk/>
            <pc:sldMk cId="2266500777" sldId="271"/>
            <ac:spMk id="12" creationId="{0A81B215-1919-4D42-4A46-03132A02F3D9}"/>
          </ac:spMkLst>
        </pc:spChg>
        <pc:picChg chg="mod">
          <ac:chgData name="Manjima Rit" userId="c9c7b710bbc944bc" providerId="LiveId" clId="{77253CDF-D5B6-4C67-97EF-5221AAC93F68}" dt="2025-05-01T17:28:56.810" v="474" actId="1076"/>
          <ac:picMkLst>
            <pc:docMk/>
            <pc:sldMk cId="2266500777" sldId="271"/>
            <ac:picMk id="4" creationId="{E577C8FB-77F3-0DBA-BDF8-74D6EDCFAEA0}"/>
          </ac:picMkLst>
        </pc:picChg>
      </pc:sldChg>
      <pc:sldChg chg="modSp mod">
        <pc:chgData name="Manjima Rit" userId="c9c7b710bbc944bc" providerId="LiveId" clId="{77253CDF-D5B6-4C67-97EF-5221AAC93F68}" dt="2025-05-01T17:26:59.314" v="445" actId="14100"/>
        <pc:sldMkLst>
          <pc:docMk/>
          <pc:sldMk cId="319449346" sldId="272"/>
        </pc:sldMkLst>
        <pc:spChg chg="mod">
          <ac:chgData name="Manjima Rit" userId="c9c7b710bbc944bc" providerId="LiveId" clId="{77253CDF-D5B6-4C67-97EF-5221AAC93F68}" dt="2025-05-01T17:26:53.266" v="443" actId="1076"/>
          <ac:spMkLst>
            <pc:docMk/>
            <pc:sldMk cId="319449346" sldId="272"/>
            <ac:spMk id="5" creationId="{83928108-DF2B-AD6B-0C60-556F9C888DFF}"/>
          </ac:spMkLst>
        </pc:spChg>
        <pc:spChg chg="mod">
          <ac:chgData name="Manjima Rit" userId="c9c7b710bbc944bc" providerId="LiveId" clId="{77253CDF-D5B6-4C67-97EF-5221AAC93F68}" dt="2025-05-01T17:24:46.002" v="371" actId="20577"/>
          <ac:spMkLst>
            <pc:docMk/>
            <pc:sldMk cId="319449346" sldId="272"/>
            <ac:spMk id="6" creationId="{C362843A-F037-359B-8CCA-005FAAD3F62D}"/>
          </ac:spMkLst>
        </pc:spChg>
        <pc:spChg chg="mod">
          <ac:chgData name="Manjima Rit" userId="c9c7b710bbc944bc" providerId="LiveId" clId="{77253CDF-D5B6-4C67-97EF-5221AAC93F68}" dt="2025-05-01T17:23:36.137" v="343" actId="20577"/>
          <ac:spMkLst>
            <pc:docMk/>
            <pc:sldMk cId="319449346" sldId="272"/>
            <ac:spMk id="7" creationId="{6379E2E9-3A92-C916-75C3-09770836C6B8}"/>
          </ac:spMkLst>
        </pc:spChg>
        <pc:picChg chg="mod">
          <ac:chgData name="Manjima Rit" userId="c9c7b710bbc944bc" providerId="LiveId" clId="{77253CDF-D5B6-4C67-97EF-5221AAC93F68}" dt="2025-05-01T17:26:59.314" v="445" actId="14100"/>
          <ac:picMkLst>
            <pc:docMk/>
            <pc:sldMk cId="319449346" sldId="272"/>
            <ac:picMk id="2" creationId="{3ABE879F-548F-F490-C50A-61491EBBD076}"/>
          </ac:picMkLst>
        </pc:picChg>
        <pc:picChg chg="mod">
          <ac:chgData name="Manjima Rit" userId="c9c7b710bbc944bc" providerId="LiveId" clId="{77253CDF-D5B6-4C67-97EF-5221AAC93F68}" dt="2025-05-01T17:26:35.510" v="439" actId="1076"/>
          <ac:picMkLst>
            <pc:docMk/>
            <pc:sldMk cId="319449346" sldId="272"/>
            <ac:picMk id="4" creationId="{C94680AA-76D8-3C9E-2790-FC96BA573DB3}"/>
          </ac:picMkLst>
        </pc:picChg>
      </pc:sldChg>
      <pc:sldChg chg="modSp mod">
        <pc:chgData name="Manjima Rit" userId="c9c7b710bbc944bc" providerId="LiveId" clId="{77253CDF-D5B6-4C67-97EF-5221AAC93F68}" dt="2025-05-02T03:55:10.089" v="2654" actId="20577"/>
        <pc:sldMkLst>
          <pc:docMk/>
          <pc:sldMk cId="482352672" sldId="273"/>
        </pc:sldMkLst>
        <pc:spChg chg="mod">
          <ac:chgData name="Manjima Rit" userId="c9c7b710bbc944bc" providerId="LiveId" clId="{77253CDF-D5B6-4C67-97EF-5221AAC93F68}" dt="2025-05-01T17:21:15.376" v="271" actId="20577"/>
          <ac:spMkLst>
            <pc:docMk/>
            <pc:sldMk cId="482352672" sldId="273"/>
            <ac:spMk id="4" creationId="{B1A8D18E-A1FB-F865-D007-BAB73ED4BEA9}"/>
          </ac:spMkLst>
        </pc:spChg>
        <pc:spChg chg="mod">
          <ac:chgData name="Manjima Rit" userId="c9c7b710bbc944bc" providerId="LiveId" clId="{77253CDF-D5B6-4C67-97EF-5221AAC93F68}" dt="2025-05-02T03:55:10.089" v="2654" actId="20577"/>
          <ac:spMkLst>
            <pc:docMk/>
            <pc:sldMk cId="482352672" sldId="273"/>
            <ac:spMk id="5" creationId="{4CD6D247-9C77-E5D0-8680-275562B5218D}"/>
          </ac:spMkLst>
        </pc:spChg>
      </pc:sldChg>
      <pc:sldChg chg="modSp mod">
        <pc:chgData name="Manjima Rit" userId="c9c7b710bbc944bc" providerId="LiveId" clId="{77253CDF-D5B6-4C67-97EF-5221AAC93F68}" dt="2025-05-01T18:40:23.473" v="1834" actId="14100"/>
        <pc:sldMkLst>
          <pc:docMk/>
          <pc:sldMk cId="3116966537" sldId="275"/>
        </pc:sldMkLst>
        <pc:spChg chg="mod">
          <ac:chgData name="Manjima Rit" userId="c9c7b710bbc944bc" providerId="LiveId" clId="{77253CDF-D5B6-4C67-97EF-5221AAC93F68}" dt="2025-05-01T18:40:09.849" v="1830" actId="14100"/>
          <ac:spMkLst>
            <pc:docMk/>
            <pc:sldMk cId="3116966537" sldId="275"/>
            <ac:spMk id="5" creationId="{8774193D-A974-E1BF-A159-838D48BAA81A}"/>
          </ac:spMkLst>
        </pc:spChg>
        <pc:picChg chg="mod">
          <ac:chgData name="Manjima Rit" userId="c9c7b710bbc944bc" providerId="LiveId" clId="{77253CDF-D5B6-4C67-97EF-5221AAC93F68}" dt="2025-05-01T18:40:23.473" v="1834" actId="14100"/>
          <ac:picMkLst>
            <pc:docMk/>
            <pc:sldMk cId="3116966537" sldId="275"/>
            <ac:picMk id="3" creationId="{EF36521A-4924-E35F-CBFB-DD91C6232849}"/>
          </ac:picMkLst>
        </pc:picChg>
        <pc:picChg chg="mod">
          <ac:chgData name="Manjima Rit" userId="c9c7b710bbc944bc" providerId="LiveId" clId="{77253CDF-D5B6-4C67-97EF-5221AAC93F68}" dt="2025-05-01T18:40:19.682" v="1833" actId="14100"/>
          <ac:picMkLst>
            <pc:docMk/>
            <pc:sldMk cId="3116966537" sldId="275"/>
            <ac:picMk id="4" creationId="{DE7820D3-1692-5A03-215F-58398E315056}"/>
          </ac:picMkLst>
        </pc:picChg>
      </pc:sldChg>
      <pc:sldChg chg="modSp mod">
        <pc:chgData name="Manjima Rit" userId="c9c7b710bbc944bc" providerId="LiveId" clId="{77253CDF-D5B6-4C67-97EF-5221AAC93F68}" dt="2025-05-01T18:52:03.134" v="1998"/>
        <pc:sldMkLst>
          <pc:docMk/>
          <pc:sldMk cId="4218452947" sldId="276"/>
        </pc:sldMkLst>
        <pc:spChg chg="mod">
          <ac:chgData name="Manjima Rit" userId="c9c7b710bbc944bc" providerId="LiveId" clId="{77253CDF-D5B6-4C67-97EF-5221AAC93F68}" dt="2025-05-01T18:52:03.134" v="1998"/>
          <ac:spMkLst>
            <pc:docMk/>
            <pc:sldMk cId="4218452947" sldId="276"/>
            <ac:spMk id="5" creationId="{8BB6DE27-965A-977E-8D67-DEB692D95B01}"/>
          </ac:spMkLst>
        </pc:spChg>
      </pc:sldChg>
      <pc:sldChg chg="modSp mod">
        <pc:chgData name="Manjima Rit" userId="c9c7b710bbc944bc" providerId="LiveId" clId="{77253CDF-D5B6-4C67-97EF-5221AAC93F68}" dt="2025-05-01T18:41:10.336" v="1844" actId="14100"/>
        <pc:sldMkLst>
          <pc:docMk/>
          <pc:sldMk cId="1699199759" sldId="278"/>
        </pc:sldMkLst>
        <pc:spChg chg="mod">
          <ac:chgData name="Manjima Rit" userId="c9c7b710bbc944bc" providerId="LiveId" clId="{77253CDF-D5B6-4C67-97EF-5221AAC93F68}" dt="2025-05-01T18:41:10.336" v="1844" actId="14100"/>
          <ac:spMkLst>
            <pc:docMk/>
            <pc:sldMk cId="1699199759" sldId="278"/>
            <ac:spMk id="8" creationId="{383C486D-4F15-99CE-0AC4-72C569CD18E0}"/>
          </ac:spMkLst>
        </pc:spChg>
      </pc:sldChg>
      <pc:sldChg chg="modSp mod">
        <pc:chgData name="Manjima Rit" userId="c9c7b710bbc944bc" providerId="LiveId" clId="{77253CDF-D5B6-4C67-97EF-5221AAC93F68}" dt="2025-05-01T19:19:07.661" v="2349" actId="20577"/>
        <pc:sldMkLst>
          <pc:docMk/>
          <pc:sldMk cId="2189821345" sldId="279"/>
        </pc:sldMkLst>
        <pc:spChg chg="mod">
          <ac:chgData name="Manjima Rit" userId="c9c7b710bbc944bc" providerId="LiveId" clId="{77253CDF-D5B6-4C67-97EF-5221AAC93F68}" dt="2025-05-01T19:19:07.661" v="2349" actId="20577"/>
          <ac:spMkLst>
            <pc:docMk/>
            <pc:sldMk cId="2189821345" sldId="279"/>
            <ac:spMk id="7" creationId="{1E69399F-A873-8578-F9BC-7FC9A2B88521}"/>
          </ac:spMkLst>
        </pc:spChg>
        <pc:picChg chg="mod">
          <ac:chgData name="Manjima Rit" userId="c9c7b710bbc944bc" providerId="LiveId" clId="{77253CDF-D5B6-4C67-97EF-5221AAC93F68}" dt="2025-05-01T18:41:56.179" v="1849" actId="14100"/>
          <ac:picMkLst>
            <pc:docMk/>
            <pc:sldMk cId="2189821345" sldId="279"/>
            <ac:picMk id="2" creationId="{08C0EB88-CD95-D245-081C-3F05897C735A}"/>
          </ac:picMkLst>
        </pc:picChg>
        <pc:picChg chg="mod">
          <ac:chgData name="Manjima Rit" userId="c9c7b710bbc944bc" providerId="LiveId" clId="{77253CDF-D5B6-4C67-97EF-5221AAC93F68}" dt="2025-05-01T18:41:52.747" v="1848" actId="14100"/>
          <ac:picMkLst>
            <pc:docMk/>
            <pc:sldMk cId="2189821345" sldId="279"/>
            <ac:picMk id="3" creationId="{7CEBA878-055F-CA86-32D8-408BCA5D13A8}"/>
          </ac:picMkLst>
        </pc:picChg>
        <pc:picChg chg="mod">
          <ac:chgData name="Manjima Rit" userId="c9c7b710bbc944bc" providerId="LiveId" clId="{77253CDF-D5B6-4C67-97EF-5221AAC93F68}" dt="2025-05-01T18:41:59.769" v="1850" actId="14100"/>
          <ac:picMkLst>
            <pc:docMk/>
            <pc:sldMk cId="2189821345" sldId="279"/>
            <ac:picMk id="4" creationId="{EDA7039E-43C5-5C55-D976-B9D316B64AF2}"/>
          </ac:picMkLst>
        </pc:picChg>
      </pc:sldChg>
      <pc:sldChg chg="modSp mod">
        <pc:chgData name="Manjima Rit" userId="c9c7b710bbc944bc" providerId="LiveId" clId="{77253CDF-D5B6-4C67-97EF-5221AAC93F68}" dt="2025-05-01T19:17:45.815" v="2302" actId="114"/>
        <pc:sldMkLst>
          <pc:docMk/>
          <pc:sldMk cId="1340448221" sldId="280"/>
        </pc:sldMkLst>
        <pc:spChg chg="mod">
          <ac:chgData name="Manjima Rit" userId="c9c7b710bbc944bc" providerId="LiveId" clId="{77253CDF-D5B6-4C67-97EF-5221AAC93F68}" dt="2025-05-01T19:17:45.815" v="2302" actId="114"/>
          <ac:spMkLst>
            <pc:docMk/>
            <pc:sldMk cId="1340448221" sldId="280"/>
            <ac:spMk id="12" creationId="{78B17E38-8A82-28E9-2572-F8CC0F212DA3}"/>
          </ac:spMkLst>
        </pc:spChg>
      </pc:sldChg>
      <pc:sldChg chg="modSp mod">
        <pc:chgData name="Manjima Rit" userId="c9c7b710bbc944bc" providerId="LiveId" clId="{77253CDF-D5B6-4C67-97EF-5221AAC93F68}" dt="2025-05-01T19:20:06.191" v="2356" actId="14100"/>
        <pc:sldMkLst>
          <pc:docMk/>
          <pc:sldMk cId="766309750" sldId="281"/>
        </pc:sldMkLst>
        <pc:spChg chg="mod">
          <ac:chgData name="Manjima Rit" userId="c9c7b710bbc944bc" providerId="LiveId" clId="{77253CDF-D5B6-4C67-97EF-5221AAC93F68}" dt="2025-05-01T19:19:59.400" v="2354" actId="1076"/>
          <ac:spMkLst>
            <pc:docMk/>
            <pc:sldMk cId="766309750" sldId="281"/>
            <ac:spMk id="8" creationId="{A2254C4E-90E7-2B9C-E5E2-9F987A6591CC}"/>
          </ac:spMkLst>
        </pc:spChg>
        <pc:graphicFrameChg chg="mod">
          <ac:chgData name="Manjima Rit" userId="c9c7b710bbc944bc" providerId="LiveId" clId="{77253CDF-D5B6-4C67-97EF-5221AAC93F68}" dt="2025-05-01T19:20:06.191" v="2356" actId="14100"/>
          <ac:graphicFrameMkLst>
            <pc:docMk/>
            <pc:sldMk cId="766309750" sldId="281"/>
            <ac:graphicFrameMk id="2" creationId="{92EB6193-A9F0-65C8-062C-6DCB191AE752}"/>
          </ac:graphicFrameMkLst>
        </pc:graphicFrameChg>
      </pc:sldChg>
      <pc:sldChg chg="modSp mod">
        <pc:chgData name="Manjima Rit" userId="c9c7b710bbc944bc" providerId="LiveId" clId="{77253CDF-D5B6-4C67-97EF-5221AAC93F68}" dt="2025-05-01T19:35:31.556" v="2645" actId="1076"/>
        <pc:sldMkLst>
          <pc:docMk/>
          <pc:sldMk cId="4165516227" sldId="282"/>
        </pc:sldMkLst>
        <pc:spChg chg="mod">
          <ac:chgData name="Manjima Rit" userId="c9c7b710bbc944bc" providerId="LiveId" clId="{77253CDF-D5B6-4C67-97EF-5221AAC93F68}" dt="2025-05-01T19:35:31.556" v="2645" actId="1076"/>
          <ac:spMkLst>
            <pc:docMk/>
            <pc:sldMk cId="4165516227" sldId="282"/>
            <ac:spMk id="3" creationId="{7FD19AEE-D8CF-526A-69D7-EEDDDF5EDEE1}"/>
          </ac:spMkLst>
        </pc:spChg>
        <pc:spChg chg="mod">
          <ac:chgData name="Manjima Rit" userId="c9c7b710bbc944bc" providerId="LiveId" clId="{77253CDF-D5B6-4C67-97EF-5221AAC93F68}" dt="2025-05-01T19:35:26.413" v="2644" actId="1076"/>
          <ac:spMkLst>
            <pc:docMk/>
            <pc:sldMk cId="4165516227" sldId="282"/>
            <ac:spMk id="5" creationId="{3782C52A-F51A-F739-8474-6CB12BCA6BCB}"/>
          </ac:spMkLst>
        </pc:spChg>
      </pc:sldChg>
      <pc:sldChg chg="modSp mod">
        <pc:chgData name="Manjima Rit" userId="c9c7b710bbc944bc" providerId="LiveId" clId="{77253CDF-D5B6-4C67-97EF-5221AAC93F68}" dt="2025-05-02T03:59:04.357" v="2655" actId="1076"/>
        <pc:sldMkLst>
          <pc:docMk/>
          <pc:sldMk cId="309915511" sldId="284"/>
        </pc:sldMkLst>
        <pc:picChg chg="mod">
          <ac:chgData name="Manjima Rit" userId="c9c7b710bbc944bc" providerId="LiveId" clId="{77253CDF-D5B6-4C67-97EF-5221AAC93F68}" dt="2025-05-02T03:59:04.357" v="2655" actId="1076"/>
          <ac:picMkLst>
            <pc:docMk/>
            <pc:sldMk cId="309915511" sldId="284"/>
            <ac:picMk id="4" creationId="{341EABEF-AD04-1365-0E5D-944DC7085F29}"/>
          </ac:picMkLst>
        </pc:picChg>
      </pc:sldChg>
      <pc:sldChg chg="modSp mod">
        <pc:chgData name="Manjima Rit" userId="c9c7b710bbc944bc" providerId="LiveId" clId="{77253CDF-D5B6-4C67-97EF-5221AAC93F68}" dt="2025-05-01T18:40:39.771" v="1840" actId="403"/>
        <pc:sldMkLst>
          <pc:docMk/>
          <pc:sldMk cId="2053270898" sldId="288"/>
        </pc:sldMkLst>
        <pc:spChg chg="mod">
          <ac:chgData name="Manjima Rit" userId="c9c7b710bbc944bc" providerId="LiveId" clId="{77253CDF-D5B6-4C67-97EF-5221AAC93F68}" dt="2025-05-01T18:40:39.771" v="1840" actId="403"/>
          <ac:spMkLst>
            <pc:docMk/>
            <pc:sldMk cId="2053270898" sldId="288"/>
            <ac:spMk id="5" creationId="{930AD93B-E50F-9B4D-401D-DF680F839CD5}"/>
          </ac:spMkLst>
        </pc:spChg>
      </pc:sldChg>
      <pc:sldChg chg="modSp mod">
        <pc:chgData name="Manjima Rit" userId="c9c7b710bbc944bc" providerId="LiveId" clId="{77253CDF-D5B6-4C67-97EF-5221AAC93F68}" dt="2025-05-01T18:40:30.308" v="1836" actId="14100"/>
        <pc:sldMkLst>
          <pc:docMk/>
          <pc:sldMk cId="2075525539" sldId="289"/>
        </pc:sldMkLst>
        <pc:spChg chg="mod">
          <ac:chgData name="Manjima Rit" userId="c9c7b710bbc944bc" providerId="LiveId" clId="{77253CDF-D5B6-4C67-97EF-5221AAC93F68}" dt="2025-05-01T18:39:58.623" v="1828" actId="14100"/>
          <ac:spMkLst>
            <pc:docMk/>
            <pc:sldMk cId="2075525539" sldId="289"/>
            <ac:spMk id="5" creationId="{0270CB28-604A-AF18-CAA1-C33FC8E39C97}"/>
          </ac:spMkLst>
        </pc:spChg>
        <pc:picChg chg="mod">
          <ac:chgData name="Manjima Rit" userId="c9c7b710bbc944bc" providerId="LiveId" clId="{77253CDF-D5B6-4C67-97EF-5221AAC93F68}" dt="2025-05-01T18:40:27.529" v="1835" actId="14100"/>
          <ac:picMkLst>
            <pc:docMk/>
            <pc:sldMk cId="2075525539" sldId="289"/>
            <ac:picMk id="2" creationId="{FA223C1A-3CF5-022E-D134-3FBC98FBB7DC}"/>
          </ac:picMkLst>
        </pc:picChg>
        <pc:picChg chg="mod">
          <ac:chgData name="Manjima Rit" userId="c9c7b710bbc944bc" providerId="LiveId" clId="{77253CDF-D5B6-4C67-97EF-5221AAC93F68}" dt="2025-05-01T18:40:30.308" v="1836" actId="14100"/>
          <ac:picMkLst>
            <pc:docMk/>
            <pc:sldMk cId="2075525539" sldId="289"/>
            <ac:picMk id="6" creationId="{DB7361CA-5434-0A69-7B87-6AA0D3A5657E}"/>
          </ac:picMkLst>
        </pc:picChg>
      </pc:sldChg>
      <pc:sldChg chg="modSp mod">
        <pc:chgData name="Manjima Rit" userId="c9c7b710bbc944bc" providerId="LiveId" clId="{77253CDF-D5B6-4C67-97EF-5221AAC93F68}" dt="2025-05-01T19:19:15.187" v="2352" actId="20577"/>
        <pc:sldMkLst>
          <pc:docMk/>
          <pc:sldMk cId="2463428800" sldId="290"/>
        </pc:sldMkLst>
        <pc:spChg chg="mod">
          <ac:chgData name="Manjima Rit" userId="c9c7b710bbc944bc" providerId="LiveId" clId="{77253CDF-D5B6-4C67-97EF-5221AAC93F68}" dt="2025-05-01T19:19:15.187" v="2352" actId="20577"/>
          <ac:spMkLst>
            <pc:docMk/>
            <pc:sldMk cId="2463428800" sldId="290"/>
            <ac:spMk id="5" creationId="{7D336CBF-145D-E338-BE24-A8BFFDF20088}"/>
          </ac:spMkLst>
        </pc:spChg>
      </pc:sldChg>
      <pc:sldChg chg="modSp mod">
        <pc:chgData name="Manjima Rit" userId="c9c7b710bbc944bc" providerId="LiveId" clId="{77253CDF-D5B6-4C67-97EF-5221AAC93F68}" dt="2025-05-01T19:18:45.547" v="2346" actId="20577"/>
        <pc:sldMkLst>
          <pc:docMk/>
          <pc:sldMk cId="3269921622" sldId="291"/>
        </pc:sldMkLst>
        <pc:spChg chg="mod">
          <ac:chgData name="Manjima Rit" userId="c9c7b710bbc944bc" providerId="LiveId" clId="{77253CDF-D5B6-4C67-97EF-5221AAC93F68}" dt="2025-05-01T19:18:45.547" v="2346" actId="20577"/>
          <ac:spMkLst>
            <pc:docMk/>
            <pc:sldMk cId="3269921622" sldId="291"/>
            <ac:spMk id="8" creationId="{12F5A2FC-AE8A-4CC7-F33E-190C9F369C92}"/>
          </ac:spMkLst>
        </pc:spChg>
        <pc:spChg chg="mod">
          <ac:chgData name="Manjima Rit" userId="c9c7b710bbc944bc" providerId="LiveId" clId="{77253CDF-D5B6-4C67-97EF-5221AAC93F68}" dt="2025-05-01T19:18:28.072" v="2329" actId="20577"/>
          <ac:spMkLst>
            <pc:docMk/>
            <pc:sldMk cId="3269921622" sldId="291"/>
            <ac:spMk id="10" creationId="{5D5D979C-67E1-ACEE-339C-B6EC065F9E59}"/>
          </ac:spMkLst>
        </pc:spChg>
      </pc:sldChg>
      <pc:sldChg chg="modSp mod">
        <pc:chgData name="Manjima Rit" userId="c9c7b710bbc944bc" providerId="LiveId" clId="{77253CDF-D5B6-4C67-97EF-5221AAC93F68}" dt="2025-05-01T19:05:28.588" v="2189" actId="20577"/>
        <pc:sldMkLst>
          <pc:docMk/>
          <pc:sldMk cId="153380635" sldId="293"/>
        </pc:sldMkLst>
        <pc:spChg chg="mod">
          <ac:chgData name="Manjima Rit" userId="c9c7b710bbc944bc" providerId="LiveId" clId="{77253CDF-D5B6-4C67-97EF-5221AAC93F68}" dt="2025-05-01T19:05:28.588" v="2189" actId="20577"/>
          <ac:spMkLst>
            <pc:docMk/>
            <pc:sldMk cId="153380635" sldId="293"/>
            <ac:spMk id="13" creationId="{4C238780-65BB-AF52-F767-615D3BE6EF28}"/>
          </ac:spMkLst>
        </pc:spChg>
      </pc:sldChg>
      <pc:sldChg chg="addSp delSp modSp mod ord">
        <pc:chgData name="Manjima Rit" userId="c9c7b710bbc944bc" providerId="LiveId" clId="{77253CDF-D5B6-4C67-97EF-5221AAC93F68}" dt="2025-05-02T03:28:31.961" v="2652" actId="14100"/>
        <pc:sldMkLst>
          <pc:docMk/>
          <pc:sldMk cId="1436006435" sldId="296"/>
        </pc:sldMkLst>
        <pc:spChg chg="mod">
          <ac:chgData name="Manjima Rit" userId="c9c7b710bbc944bc" providerId="LiveId" clId="{77253CDF-D5B6-4C67-97EF-5221AAC93F68}" dt="2025-05-02T03:28:31.961" v="2652" actId="14100"/>
          <ac:spMkLst>
            <pc:docMk/>
            <pc:sldMk cId="1436006435" sldId="296"/>
            <ac:spMk id="5" creationId="{77169E82-45C3-BB80-8747-A085AA77AF3E}"/>
          </ac:spMkLst>
        </pc:spChg>
        <pc:spChg chg="add del mod">
          <ac:chgData name="Manjima Rit" userId="c9c7b710bbc944bc" providerId="LiveId" clId="{77253CDF-D5B6-4C67-97EF-5221AAC93F68}" dt="2025-05-01T18:33:50.041" v="1819"/>
          <ac:spMkLst>
            <pc:docMk/>
            <pc:sldMk cId="1436006435" sldId="296"/>
            <ac:spMk id="6" creationId="{4F5AD2C3-7703-DBF7-20E6-E40C0658C66F}"/>
          </ac:spMkLst>
        </pc:spChg>
        <pc:spChg chg="add mod">
          <ac:chgData name="Manjima Rit" userId="c9c7b710bbc944bc" providerId="LiveId" clId="{77253CDF-D5B6-4C67-97EF-5221AAC93F68}" dt="2025-05-01T18:57:06.917" v="2046" actId="1076"/>
          <ac:spMkLst>
            <pc:docMk/>
            <pc:sldMk cId="1436006435" sldId="296"/>
            <ac:spMk id="7" creationId="{5AAAE069-5F26-67FF-B1A8-8E8903B44343}"/>
          </ac:spMkLst>
        </pc:spChg>
        <pc:spChg chg="add">
          <ac:chgData name="Manjima Rit" userId="c9c7b710bbc944bc" providerId="LiveId" clId="{77253CDF-D5B6-4C67-97EF-5221AAC93F68}" dt="2025-05-01T18:57:02.215" v="2045" actId="11529"/>
          <ac:spMkLst>
            <pc:docMk/>
            <pc:sldMk cId="1436006435" sldId="296"/>
            <ac:spMk id="8" creationId="{7BC31A74-0260-4F0F-75AD-28E01563C93F}"/>
          </ac:spMkLst>
        </pc:spChg>
      </pc:sldChg>
      <pc:sldChg chg="ord">
        <pc:chgData name="Manjima Rit" userId="c9c7b710bbc944bc" providerId="LiveId" clId="{77253CDF-D5B6-4C67-97EF-5221AAC93F68}" dt="2025-05-01T17:59:26.263" v="927"/>
        <pc:sldMkLst>
          <pc:docMk/>
          <pc:sldMk cId="1596467504" sldId="298"/>
        </pc:sldMkLst>
      </pc:sldChg>
      <pc:sldChg chg="addSp modSp new mod">
        <pc:chgData name="Manjima Rit" userId="c9c7b710bbc944bc" providerId="LiveId" clId="{77253CDF-D5B6-4C67-97EF-5221AAC93F68}" dt="2025-05-01T19:12:54.700" v="2292" actId="20577"/>
        <pc:sldMkLst>
          <pc:docMk/>
          <pc:sldMk cId="3370200719" sldId="299"/>
        </pc:sldMkLst>
        <pc:spChg chg="mod">
          <ac:chgData name="Manjima Rit" userId="c9c7b710bbc944bc" providerId="LiveId" clId="{77253CDF-D5B6-4C67-97EF-5221AAC93F68}" dt="2025-05-01T17:37:17.177" v="788" actId="1076"/>
          <ac:spMkLst>
            <pc:docMk/>
            <pc:sldMk cId="3370200719" sldId="299"/>
            <ac:spMk id="2" creationId="{BFF7E384-4CBF-0AC7-C1F0-7BC833E3E4A4}"/>
          </ac:spMkLst>
        </pc:spChg>
        <pc:spChg chg="mod">
          <ac:chgData name="Manjima Rit" userId="c9c7b710bbc944bc" providerId="LiveId" clId="{77253CDF-D5B6-4C67-97EF-5221AAC93F68}" dt="2025-05-01T17:37:06.147" v="786" actId="14100"/>
          <ac:spMkLst>
            <pc:docMk/>
            <pc:sldMk cId="3370200719" sldId="299"/>
            <ac:spMk id="3" creationId="{C8579E65-91BF-5867-50A6-C7194DBAE84C}"/>
          </ac:spMkLst>
        </pc:spChg>
        <pc:spChg chg="add mod">
          <ac:chgData name="Manjima Rit" userId="c9c7b710bbc944bc" providerId="LiveId" clId="{77253CDF-D5B6-4C67-97EF-5221AAC93F68}" dt="2025-05-01T19:12:54.700" v="2292" actId="20577"/>
          <ac:spMkLst>
            <pc:docMk/>
            <pc:sldMk cId="3370200719" sldId="299"/>
            <ac:spMk id="5" creationId="{FCB758A4-9011-BBF2-8B86-7A96157AF715}"/>
          </ac:spMkLst>
        </pc:spChg>
        <pc:spChg chg="add mod">
          <ac:chgData name="Manjima Rit" userId="c9c7b710bbc944bc" providerId="LiveId" clId="{77253CDF-D5B6-4C67-97EF-5221AAC93F68}" dt="2025-05-01T19:12:46.526" v="2274" actId="20577"/>
          <ac:spMkLst>
            <pc:docMk/>
            <pc:sldMk cId="3370200719" sldId="299"/>
            <ac:spMk id="6" creationId="{0802E853-6BF7-C455-7048-94EBE7ACCE94}"/>
          </ac:spMkLst>
        </pc:spChg>
      </pc:sldChg>
      <pc:sldChg chg="new del">
        <pc:chgData name="Manjima Rit" userId="c9c7b710bbc944bc" providerId="LiveId" clId="{77253CDF-D5B6-4C67-97EF-5221AAC93F68}" dt="2025-05-01T17:59:17.151" v="924" actId="680"/>
        <pc:sldMkLst>
          <pc:docMk/>
          <pc:sldMk cId="1031487108" sldId="300"/>
        </pc:sldMkLst>
      </pc:sldChg>
      <pc:sldChg chg="addSp delSp modSp new mod">
        <pc:chgData name="Manjima Rit" userId="c9c7b710bbc944bc" providerId="LiveId" clId="{77253CDF-D5B6-4C67-97EF-5221AAC93F68}" dt="2025-05-01T18:56:09.217" v="2032" actId="11529"/>
        <pc:sldMkLst>
          <pc:docMk/>
          <pc:sldMk cId="4042622096" sldId="300"/>
        </pc:sldMkLst>
        <pc:spChg chg="add mod">
          <ac:chgData name="Manjima Rit" userId="c9c7b710bbc944bc" providerId="LiveId" clId="{77253CDF-D5B6-4C67-97EF-5221AAC93F68}" dt="2025-05-01T18:06:45.453" v="1104" actId="14100"/>
          <ac:spMkLst>
            <pc:docMk/>
            <pc:sldMk cId="4042622096" sldId="300"/>
            <ac:spMk id="6" creationId="{D8B3EAC1-2B7C-CA13-CD87-F4D3AE23374C}"/>
          </ac:spMkLst>
        </pc:spChg>
        <pc:spChg chg="add del">
          <ac:chgData name="Manjima Rit" userId="c9c7b710bbc944bc" providerId="LiveId" clId="{77253CDF-D5B6-4C67-97EF-5221AAC93F68}" dt="2025-05-01T18:09:44.943" v="1157" actId="11529"/>
          <ac:spMkLst>
            <pc:docMk/>
            <pc:sldMk cId="4042622096" sldId="300"/>
            <ac:spMk id="7" creationId="{9E09A367-2C27-2FE3-665B-AAECB14783CA}"/>
          </ac:spMkLst>
        </pc:spChg>
        <pc:spChg chg="add mod">
          <ac:chgData name="Manjima Rit" userId="c9c7b710bbc944bc" providerId="LiveId" clId="{77253CDF-D5B6-4C67-97EF-5221AAC93F68}" dt="2025-05-01T18:55:48.966" v="2024" actId="1076"/>
          <ac:spMkLst>
            <pc:docMk/>
            <pc:sldMk cId="4042622096" sldId="300"/>
            <ac:spMk id="8" creationId="{86C10F62-9C4F-E16C-B829-2EC9BC5B0C4D}"/>
          </ac:spMkLst>
        </pc:spChg>
        <pc:spChg chg="add mod">
          <ac:chgData name="Manjima Rit" userId="c9c7b710bbc944bc" providerId="LiveId" clId="{77253CDF-D5B6-4C67-97EF-5221AAC93F68}" dt="2025-05-01T18:56:02.146" v="2031" actId="1076"/>
          <ac:spMkLst>
            <pc:docMk/>
            <pc:sldMk cId="4042622096" sldId="300"/>
            <ac:spMk id="9" creationId="{719FAD05-F66B-F886-A66C-48782E2B34D7}"/>
          </ac:spMkLst>
        </pc:spChg>
        <pc:spChg chg="add">
          <ac:chgData name="Manjima Rit" userId="c9c7b710bbc944bc" providerId="LiveId" clId="{77253CDF-D5B6-4C67-97EF-5221AAC93F68}" dt="2025-05-01T18:56:09.217" v="2032" actId="11529"/>
          <ac:spMkLst>
            <pc:docMk/>
            <pc:sldMk cId="4042622096" sldId="300"/>
            <ac:spMk id="10" creationId="{D5B3BCA0-BA39-20E9-F121-87D5C553E501}"/>
          </ac:spMkLst>
        </pc:spChg>
        <pc:graphicFrameChg chg="add mod">
          <ac:chgData name="Manjima Rit" userId="c9c7b710bbc944bc" providerId="LiveId" clId="{77253CDF-D5B6-4C67-97EF-5221AAC93F68}" dt="2025-05-01T18:00:55.670" v="932"/>
          <ac:graphicFrameMkLst>
            <pc:docMk/>
            <pc:sldMk cId="4042622096" sldId="300"/>
            <ac:graphicFrameMk id="2" creationId="{59566859-9A60-13BC-E682-3C9E89B2DC91}"/>
          </ac:graphicFrameMkLst>
        </pc:graphicFrameChg>
        <pc:graphicFrameChg chg="add mod modGraphic">
          <ac:chgData name="Manjima Rit" userId="c9c7b710bbc944bc" providerId="LiveId" clId="{77253CDF-D5B6-4C67-97EF-5221AAC93F68}" dt="2025-05-01T18:01:20.313" v="937" actId="14100"/>
          <ac:graphicFrameMkLst>
            <pc:docMk/>
            <pc:sldMk cId="4042622096" sldId="300"/>
            <ac:graphicFrameMk id="3" creationId="{396DE0FD-6497-A708-C9EE-A2F932C2DFB4}"/>
          </ac:graphicFrameMkLst>
        </pc:graphicFrameChg>
        <pc:graphicFrameChg chg="add mod modGraphic">
          <ac:chgData name="Manjima Rit" userId="c9c7b710bbc944bc" providerId="LiveId" clId="{77253CDF-D5B6-4C67-97EF-5221AAC93F68}" dt="2025-05-01T18:10:12.574" v="1166" actId="1076"/>
          <ac:graphicFrameMkLst>
            <pc:docMk/>
            <pc:sldMk cId="4042622096" sldId="300"/>
            <ac:graphicFrameMk id="4" creationId="{3641F0D5-6301-6EDB-98E8-08AD78E00067}"/>
          </ac:graphicFrameMkLst>
        </pc:graphicFrameChg>
      </pc:sldChg>
      <pc:sldChg chg="addSp delSp modSp new mod ord">
        <pc:chgData name="Manjima Rit" userId="c9c7b710bbc944bc" providerId="LiveId" clId="{77253CDF-D5B6-4C67-97EF-5221AAC93F68}" dt="2025-05-01T18:56:38.503" v="2036"/>
        <pc:sldMkLst>
          <pc:docMk/>
          <pc:sldMk cId="1212701668" sldId="301"/>
        </pc:sldMkLst>
        <pc:spChg chg="add mod">
          <ac:chgData name="Manjima Rit" userId="c9c7b710bbc944bc" providerId="LiveId" clId="{77253CDF-D5B6-4C67-97EF-5221AAC93F68}" dt="2025-05-01T18:21:57.874" v="1628" actId="20577"/>
          <ac:spMkLst>
            <pc:docMk/>
            <pc:sldMk cId="1212701668" sldId="301"/>
            <ac:spMk id="7" creationId="{F574914D-3303-0B6C-2AFF-BD1491A8092E}"/>
          </ac:spMkLst>
        </pc:spChg>
        <pc:spChg chg="add mod">
          <ac:chgData name="Manjima Rit" userId="c9c7b710bbc944bc" providerId="LiveId" clId="{77253CDF-D5B6-4C67-97EF-5221AAC93F68}" dt="2025-05-01T18:53:34.750" v="2007" actId="1076"/>
          <ac:spMkLst>
            <pc:docMk/>
            <pc:sldMk cId="1212701668" sldId="301"/>
            <ac:spMk id="8" creationId="{B1160784-C3EC-1A06-FF1B-DCA5E73BB4A0}"/>
          </ac:spMkLst>
        </pc:spChg>
        <pc:spChg chg="add del">
          <ac:chgData name="Manjima Rit" userId="c9c7b710bbc944bc" providerId="LiveId" clId="{77253CDF-D5B6-4C67-97EF-5221AAC93F68}" dt="2025-05-01T18:53:13.881" v="2005" actId="11529"/>
          <ac:spMkLst>
            <pc:docMk/>
            <pc:sldMk cId="1212701668" sldId="301"/>
            <ac:spMk id="9" creationId="{41AA77AC-F2E9-5882-9A57-330590DDE1EA}"/>
          </ac:spMkLst>
        </pc:spChg>
        <pc:spChg chg="add mod">
          <ac:chgData name="Manjima Rit" userId="c9c7b710bbc944bc" providerId="LiveId" clId="{77253CDF-D5B6-4C67-97EF-5221AAC93F68}" dt="2025-05-01T18:53:39.606" v="2008" actId="1076"/>
          <ac:spMkLst>
            <pc:docMk/>
            <pc:sldMk cId="1212701668" sldId="301"/>
            <ac:spMk id="10" creationId="{FA420871-C734-9EE2-D348-4C71DDF63012}"/>
          </ac:spMkLst>
        </pc:spChg>
        <pc:graphicFrameChg chg="add mod modGraphic">
          <ac:chgData name="Manjima Rit" userId="c9c7b710bbc944bc" providerId="LiveId" clId="{77253CDF-D5B6-4C67-97EF-5221AAC93F68}" dt="2025-05-01T18:19:56.828" v="1530" actId="14100"/>
          <ac:graphicFrameMkLst>
            <pc:docMk/>
            <pc:sldMk cId="1212701668" sldId="301"/>
            <ac:graphicFrameMk id="2" creationId="{7975DAF8-1250-F7D4-DA8C-D2E1B6ECEED1}"/>
          </ac:graphicFrameMkLst>
        </pc:graphicFrameChg>
        <pc:graphicFrameChg chg="add del mod modGraphic">
          <ac:chgData name="Manjima Rit" userId="c9c7b710bbc944bc" providerId="LiveId" clId="{77253CDF-D5B6-4C67-97EF-5221AAC93F68}" dt="2025-05-01T18:17:59.249" v="1500" actId="478"/>
          <ac:graphicFrameMkLst>
            <pc:docMk/>
            <pc:sldMk cId="1212701668" sldId="301"/>
            <ac:graphicFrameMk id="3" creationId="{D52A57EE-C1EA-CD69-C73E-D6C07A1F8452}"/>
          </ac:graphicFrameMkLst>
        </pc:graphicFrameChg>
        <pc:graphicFrameChg chg="add mod modGraphic">
          <ac:chgData name="Manjima Rit" userId="c9c7b710bbc944bc" providerId="LiveId" clId="{77253CDF-D5B6-4C67-97EF-5221AAC93F68}" dt="2025-05-01T18:20:06.056" v="1532" actId="14100"/>
          <ac:graphicFrameMkLst>
            <pc:docMk/>
            <pc:sldMk cId="1212701668" sldId="301"/>
            <ac:graphicFrameMk id="4" creationId="{90957B2B-31D6-720F-D117-A798FF396800}"/>
          </ac:graphicFrameMkLst>
        </pc:graphicFrameChg>
        <pc:graphicFrameChg chg="add mod modGraphic">
          <ac:chgData name="Manjima Rit" userId="c9c7b710bbc944bc" providerId="LiveId" clId="{77253CDF-D5B6-4C67-97EF-5221AAC93F68}" dt="2025-05-01T18:19:36.166" v="1526" actId="1076"/>
          <ac:graphicFrameMkLst>
            <pc:docMk/>
            <pc:sldMk cId="1212701668" sldId="301"/>
            <ac:graphicFrameMk id="5" creationId="{B40E96DA-B0AD-14E7-2CAB-ACB277760932}"/>
          </ac:graphicFrameMkLst>
        </pc:graphicFrameChg>
      </pc:sldChg>
      <pc:sldChg chg="addSp modSp add mod ord">
        <pc:chgData name="Manjima Rit" userId="c9c7b710bbc944bc" providerId="LiveId" clId="{77253CDF-D5B6-4C67-97EF-5221AAC93F68}" dt="2025-05-01T18:56:40.037" v="2038"/>
        <pc:sldMkLst>
          <pc:docMk/>
          <pc:sldMk cId="4010570058" sldId="302"/>
        </pc:sldMkLst>
        <pc:spChg chg="add mod">
          <ac:chgData name="Manjima Rit" userId="c9c7b710bbc944bc" providerId="LiveId" clId="{77253CDF-D5B6-4C67-97EF-5221AAC93F68}" dt="2025-05-01T18:26:28.750" v="1739" actId="404"/>
          <ac:spMkLst>
            <pc:docMk/>
            <pc:sldMk cId="4010570058" sldId="302"/>
            <ac:spMk id="4" creationId="{999E0AEF-073A-CC79-4160-907E7BC3A3B1}"/>
          </ac:spMkLst>
        </pc:spChg>
        <pc:spChg chg="add mod">
          <ac:chgData name="Manjima Rit" userId="c9c7b710bbc944bc" providerId="LiveId" clId="{77253CDF-D5B6-4C67-97EF-5221AAC93F68}" dt="2025-05-01T18:54:16.486" v="2013" actId="20577"/>
          <ac:spMkLst>
            <pc:docMk/>
            <pc:sldMk cId="4010570058" sldId="302"/>
            <ac:spMk id="5" creationId="{0408648A-8947-8CDB-E4ED-AF3997C2299B}"/>
          </ac:spMkLst>
        </pc:spChg>
        <pc:spChg chg="add mod">
          <ac:chgData name="Manjima Rit" userId="c9c7b710bbc944bc" providerId="LiveId" clId="{77253CDF-D5B6-4C67-97EF-5221AAC93F68}" dt="2025-05-01T18:54:27.138" v="2015" actId="14100"/>
          <ac:spMkLst>
            <pc:docMk/>
            <pc:sldMk cId="4010570058" sldId="302"/>
            <ac:spMk id="6" creationId="{899B95B9-9334-819F-E9B8-59424481BCD4}"/>
          </ac:spMkLst>
        </pc:spChg>
        <pc:graphicFrameChg chg="add mod modGraphic">
          <ac:chgData name="Manjima Rit" userId="c9c7b710bbc944bc" providerId="LiveId" clId="{77253CDF-D5B6-4C67-97EF-5221AAC93F68}" dt="2025-05-01T18:27:24.567" v="1746" actId="14100"/>
          <ac:graphicFrameMkLst>
            <pc:docMk/>
            <pc:sldMk cId="4010570058" sldId="302"/>
            <ac:graphicFrameMk id="2" creationId="{816789F1-6BA5-B133-CB15-CBFB9F8719E0}"/>
          </ac:graphicFrameMkLst>
        </pc:graphicFrameChg>
      </pc:sldChg>
      <pc:sldChg chg="addSp modSp new mod">
        <pc:chgData name="Manjima Rit" userId="c9c7b710bbc944bc" providerId="LiveId" clId="{77253CDF-D5B6-4C67-97EF-5221AAC93F68}" dt="2025-05-01T19:34:55.205" v="2643" actId="1076"/>
        <pc:sldMkLst>
          <pc:docMk/>
          <pc:sldMk cId="1062443686" sldId="303"/>
        </pc:sldMkLst>
        <pc:spChg chg="add mod">
          <ac:chgData name="Manjima Rit" userId="c9c7b710bbc944bc" providerId="LiveId" clId="{77253CDF-D5B6-4C67-97EF-5221AAC93F68}" dt="2025-05-01T19:34:55.205" v="2643" actId="1076"/>
          <ac:spMkLst>
            <pc:docMk/>
            <pc:sldMk cId="1062443686" sldId="303"/>
            <ac:spMk id="3" creationId="{E5108EC6-2396-02FC-217F-7590F572D50C}"/>
          </ac:spMkLst>
        </pc:spChg>
        <pc:spChg chg="add mod">
          <ac:chgData name="Manjima Rit" userId="c9c7b710bbc944bc" providerId="LiveId" clId="{77253CDF-D5B6-4C67-97EF-5221AAC93F68}" dt="2025-05-01T19:33:27.505" v="2631" actId="14100"/>
          <ac:spMkLst>
            <pc:docMk/>
            <pc:sldMk cId="1062443686" sldId="303"/>
            <ac:spMk id="5" creationId="{73675F6C-2526-68BA-61AE-0E79A93A879E}"/>
          </ac:spMkLst>
        </pc:spChg>
        <pc:spChg chg="add mod">
          <ac:chgData name="Manjima Rit" userId="c9c7b710bbc944bc" providerId="LiveId" clId="{77253CDF-D5B6-4C67-97EF-5221AAC93F68}" dt="2025-05-01T19:34:07.509" v="2640" actId="5793"/>
          <ac:spMkLst>
            <pc:docMk/>
            <pc:sldMk cId="1062443686" sldId="303"/>
            <ac:spMk id="7" creationId="{F5477720-1DDE-34C3-2094-1ECCE1DE5BA2}"/>
          </ac:spMkLst>
        </pc:spChg>
        <pc:spChg chg="mod">
          <ac:chgData name="Manjima Rit" userId="c9c7b710bbc944bc" providerId="LiveId" clId="{77253CDF-D5B6-4C67-97EF-5221AAC93F68}" dt="2025-05-01T19:34:50.998" v="2642"/>
          <ac:spMkLst>
            <pc:docMk/>
            <pc:sldMk cId="1062443686" sldId="303"/>
            <ac:spMk id="12" creationId="{39357DE6-172A-9AC8-AA00-A102341C3D79}"/>
          </ac:spMkLst>
        </pc:spChg>
        <pc:spChg chg="mod">
          <ac:chgData name="Manjima Rit" userId="c9c7b710bbc944bc" providerId="LiveId" clId="{77253CDF-D5B6-4C67-97EF-5221AAC93F68}" dt="2025-05-01T19:34:50.998" v="2642"/>
          <ac:spMkLst>
            <pc:docMk/>
            <pc:sldMk cId="1062443686" sldId="303"/>
            <ac:spMk id="14" creationId="{B0B904E0-CBA6-B1F4-4CEC-328D5B7CC8F5}"/>
          </ac:spMkLst>
        </pc:spChg>
        <pc:spChg chg="mod">
          <ac:chgData name="Manjima Rit" userId="c9c7b710bbc944bc" providerId="LiveId" clId="{77253CDF-D5B6-4C67-97EF-5221AAC93F68}" dt="2025-05-01T19:34:50.998" v="2642"/>
          <ac:spMkLst>
            <pc:docMk/>
            <pc:sldMk cId="1062443686" sldId="303"/>
            <ac:spMk id="15" creationId="{91D76B43-7A3E-8EF5-3D0F-FF95E7C18117}"/>
          </ac:spMkLst>
        </pc:spChg>
        <pc:spChg chg="mod">
          <ac:chgData name="Manjima Rit" userId="c9c7b710bbc944bc" providerId="LiveId" clId="{77253CDF-D5B6-4C67-97EF-5221AAC93F68}" dt="2025-05-01T19:34:50.998" v="2642"/>
          <ac:spMkLst>
            <pc:docMk/>
            <pc:sldMk cId="1062443686" sldId="303"/>
            <ac:spMk id="16" creationId="{0E8DE03C-91B7-6A98-A279-93B5451CC729}"/>
          </ac:spMkLst>
        </pc:spChg>
        <pc:grpChg chg="add mod">
          <ac:chgData name="Manjima Rit" userId="c9c7b710bbc944bc" providerId="LiveId" clId="{77253CDF-D5B6-4C67-97EF-5221AAC93F68}" dt="2025-05-01T19:34:50.998" v="2642"/>
          <ac:grpSpMkLst>
            <pc:docMk/>
            <pc:sldMk cId="1062443686" sldId="303"/>
            <ac:grpSpMk id="9" creationId="{968F4617-D4DB-1770-A9C0-5CCB764A34DC}"/>
          </ac:grpSpMkLst>
        </pc:grpChg>
        <pc:grpChg chg="mod">
          <ac:chgData name="Manjima Rit" userId="c9c7b710bbc944bc" providerId="LiveId" clId="{77253CDF-D5B6-4C67-97EF-5221AAC93F68}" dt="2025-05-01T19:34:50.998" v="2642"/>
          <ac:grpSpMkLst>
            <pc:docMk/>
            <pc:sldMk cId="1062443686" sldId="303"/>
            <ac:grpSpMk id="10" creationId="{C2556684-BE60-BAD1-8388-B7FDDF82A82D}"/>
          </ac:grpSpMkLst>
        </pc:grpChg>
        <pc:grpChg chg="mod">
          <ac:chgData name="Manjima Rit" userId="c9c7b710bbc944bc" providerId="LiveId" clId="{77253CDF-D5B6-4C67-97EF-5221AAC93F68}" dt="2025-05-01T19:34:50.998" v="2642"/>
          <ac:grpSpMkLst>
            <pc:docMk/>
            <pc:sldMk cId="1062443686" sldId="303"/>
            <ac:grpSpMk id="11" creationId="{4CF88407-774A-3491-BB66-EEA9467F84AA}"/>
          </ac:grpSpMkLst>
        </pc:grpChg>
        <pc:cxnChg chg="add mod">
          <ac:chgData name="Manjima Rit" userId="c9c7b710bbc944bc" providerId="LiveId" clId="{77253CDF-D5B6-4C67-97EF-5221AAC93F68}" dt="2025-05-01T19:34:26.877" v="2641"/>
          <ac:cxnSpMkLst>
            <pc:docMk/>
            <pc:sldMk cId="1062443686" sldId="303"/>
            <ac:cxnSpMk id="8" creationId="{A5253B6D-1813-D10B-02DB-591D2D11943E}"/>
          </ac:cxnSpMkLst>
        </pc:cxnChg>
        <pc:cxnChg chg="mod">
          <ac:chgData name="Manjima Rit" userId="c9c7b710bbc944bc" providerId="LiveId" clId="{77253CDF-D5B6-4C67-97EF-5221AAC93F68}" dt="2025-05-01T19:34:50.998" v="2642"/>
          <ac:cxnSpMkLst>
            <pc:docMk/>
            <pc:sldMk cId="1062443686" sldId="303"/>
            <ac:cxnSpMk id="13" creationId="{AC17751A-3ADA-BA44-BDD4-5EE090AB93A8}"/>
          </ac:cxnSpMkLst>
        </pc:cxnChg>
      </pc:sldChg>
      <pc:sldChg chg="add del">
        <pc:chgData name="Manjima Rit" userId="c9c7b710bbc944bc" providerId="LiveId" clId="{77253CDF-D5B6-4C67-97EF-5221AAC93F68}" dt="2025-05-01T18:58:27.003" v="2048" actId="2696"/>
        <pc:sldMkLst>
          <pc:docMk/>
          <pc:sldMk cId="3730894694" sldId="303"/>
        </pc:sldMkLst>
      </pc:sldChg>
      <pc:sldChg chg="addSp modSp add del mod">
        <pc:chgData name="Manjima Rit" userId="c9c7b710bbc944bc" providerId="LiveId" clId="{77253CDF-D5B6-4C67-97EF-5221AAC93F68}" dt="2025-05-01T18:55:11.834" v="2016" actId="2696"/>
        <pc:sldMkLst>
          <pc:docMk/>
          <pc:sldMk cId="745748641" sldId="304"/>
        </pc:sldMkLst>
        <pc:spChg chg="add mod">
          <ac:chgData name="Manjima Rit" userId="c9c7b710bbc944bc" providerId="LiveId" clId="{77253CDF-D5B6-4C67-97EF-5221AAC93F68}" dt="2025-05-01T18:31:24.098" v="1780" actId="1076"/>
          <ac:spMkLst>
            <pc:docMk/>
            <pc:sldMk cId="745748641" sldId="304"/>
            <ac:spMk id="3" creationId="{0B0F1EE5-FB81-02A8-7FCD-CF5326E1F97B}"/>
          </ac:spMkLst>
        </pc:spChg>
        <pc:spChg chg="add mod">
          <ac:chgData name="Manjima Rit" userId="c9c7b710bbc944bc" providerId="LiveId" clId="{77253CDF-D5B6-4C67-97EF-5221AAC93F68}" dt="2025-05-01T18:29:20.294" v="1779" actId="14100"/>
          <ac:spMkLst>
            <pc:docMk/>
            <pc:sldMk cId="745748641" sldId="304"/>
            <ac:spMk id="5" creationId="{9FF4A60A-CC7B-6807-D240-4211C1055DD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dirty="0"/>
              <a:t>Forecasted</a:t>
            </a:r>
            <a:r>
              <a:rPr lang="en-IN" baseline="0" dirty="0"/>
              <a:t> Rape Crime Rates in Germany, Kenya and India</a:t>
            </a:r>
            <a:endParaRPr lang="en-IN" dirty="0"/>
          </a:p>
        </c:rich>
      </c:tx>
      <c:layout>
        <c:manualLayout>
          <c:xMode val="edge"/>
          <c:yMode val="edge"/>
          <c:x val="0.14562422180502807"/>
          <c:y val="3.5531929775477374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9.0477919366707404E-2"/>
          <c:y val="0.30994489635266337"/>
          <c:w val="0.88687901764440824"/>
          <c:h val="0.3801184718087095"/>
        </c:manualLayout>
      </c:layout>
      <c:lineChart>
        <c:grouping val="standard"/>
        <c:varyColors val="0"/>
        <c:ser>
          <c:idx val="2"/>
          <c:order val="0"/>
          <c:tx>
            <c:strRef>
              <c:f>Sheet2!$C$1</c:f>
              <c:strCache>
                <c:ptCount val="1"/>
                <c:pt idx="0">
                  <c:v>Kenya</c:v>
                </c:pt>
              </c:strCache>
            </c:strRef>
          </c:tx>
          <c:spPr>
            <a:ln w="34925" cap="rnd">
              <a:solidFill>
                <a:schemeClr val="accent6">
                  <a:lumMod val="50000"/>
                </a:schemeClr>
              </a:solidFill>
              <a:round/>
            </a:ln>
            <a:effectLst>
              <a:outerShdw blurRad="40000" dist="23000" dir="5400000" rotWithShape="0">
                <a:srgbClr val="000000">
                  <a:alpha val="35000"/>
                </a:srgbClr>
              </a:outerShdw>
            </a:effectLst>
          </c:spPr>
          <c:marker>
            <c:symbol val="none"/>
          </c:marker>
          <c:cat>
            <c:numRef>
              <c:f>Sheet2!$A$2:$A$11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Sheet2!$C$2:$C$11</c:f>
              <c:numCache>
                <c:formatCode>General</c:formatCode>
                <c:ptCount val="10"/>
                <c:pt idx="0">
                  <c:v>1.727274</c:v>
                </c:pt>
                <c:pt idx="1">
                  <c:v>1.727274</c:v>
                </c:pt>
                <c:pt idx="2">
                  <c:v>1.727274</c:v>
                </c:pt>
                <c:pt idx="3">
                  <c:v>1.727274</c:v>
                </c:pt>
                <c:pt idx="4">
                  <c:v>1.727274</c:v>
                </c:pt>
                <c:pt idx="5">
                  <c:v>1.727274</c:v>
                </c:pt>
                <c:pt idx="6">
                  <c:v>1.727274</c:v>
                </c:pt>
                <c:pt idx="7">
                  <c:v>1.727274</c:v>
                </c:pt>
                <c:pt idx="8">
                  <c:v>1.727274</c:v>
                </c:pt>
                <c:pt idx="9">
                  <c:v>1.727274</c:v>
                </c:pt>
              </c:numCache>
            </c:numRef>
          </c:val>
          <c:smooth val="0"/>
          <c:extLst>
            <c:ext xmlns:c16="http://schemas.microsoft.com/office/drawing/2014/chart" uri="{C3380CC4-5D6E-409C-BE32-E72D297353CC}">
              <c16:uniqueId val="{00000000-57D4-45D8-9B31-08C97007EE4F}"/>
            </c:ext>
          </c:extLst>
        </c:ser>
        <c:ser>
          <c:idx val="3"/>
          <c:order val="1"/>
          <c:tx>
            <c:strRef>
              <c:f>Sheet2!$D$1</c:f>
              <c:strCache>
                <c:ptCount val="1"/>
                <c:pt idx="0">
                  <c:v>India</c:v>
                </c:pt>
              </c:strCache>
            </c:strRef>
          </c:tx>
          <c:spPr>
            <a:ln w="34925" cap="rnd">
              <a:solidFill>
                <a:srgbClr val="0070C0"/>
              </a:solidFill>
              <a:round/>
            </a:ln>
            <a:effectLst>
              <a:outerShdw blurRad="40000" dist="23000" dir="5400000" rotWithShape="0">
                <a:srgbClr val="000000">
                  <a:alpha val="35000"/>
                </a:srgbClr>
              </a:outerShdw>
            </a:effectLst>
          </c:spPr>
          <c:marker>
            <c:symbol val="none"/>
          </c:marker>
          <c:cat>
            <c:numRef>
              <c:f>Sheet2!$A$2:$A$11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Sheet2!$D$2:$D$11</c:f>
              <c:numCache>
                <c:formatCode>General</c:formatCode>
                <c:ptCount val="10"/>
                <c:pt idx="0">
                  <c:v>4.7</c:v>
                </c:pt>
                <c:pt idx="1">
                  <c:v>4.7</c:v>
                </c:pt>
                <c:pt idx="2">
                  <c:v>4.7</c:v>
                </c:pt>
                <c:pt idx="3">
                  <c:v>4.7</c:v>
                </c:pt>
                <c:pt idx="4">
                  <c:v>4.7</c:v>
                </c:pt>
                <c:pt idx="5">
                  <c:v>4.7</c:v>
                </c:pt>
                <c:pt idx="6">
                  <c:v>4.7</c:v>
                </c:pt>
                <c:pt idx="7">
                  <c:v>4.7</c:v>
                </c:pt>
                <c:pt idx="8">
                  <c:v>4.7</c:v>
                </c:pt>
                <c:pt idx="9">
                  <c:v>4.7</c:v>
                </c:pt>
              </c:numCache>
            </c:numRef>
          </c:val>
          <c:smooth val="0"/>
          <c:extLst>
            <c:ext xmlns:c16="http://schemas.microsoft.com/office/drawing/2014/chart" uri="{C3380CC4-5D6E-409C-BE32-E72D297353CC}">
              <c16:uniqueId val="{00000001-57D4-45D8-9B31-08C97007EE4F}"/>
            </c:ext>
          </c:extLst>
        </c:ser>
        <c:ser>
          <c:idx val="0"/>
          <c:order val="2"/>
          <c:tx>
            <c:strRef>
              <c:f>Sheet2!$B$1</c:f>
              <c:strCache>
                <c:ptCount val="1"/>
                <c:pt idx="0">
                  <c:v>Germany</c:v>
                </c:pt>
              </c:strCache>
            </c:strRef>
          </c:tx>
          <c:spPr>
            <a:ln w="34925" cap="rnd">
              <a:solidFill>
                <a:srgbClr val="FF0000"/>
              </a:solidFill>
              <a:round/>
            </a:ln>
            <a:effectLst>
              <a:outerShdw blurRad="40000" dist="23000" dir="5400000" rotWithShape="0">
                <a:srgbClr val="000000">
                  <a:alpha val="35000"/>
                </a:srgbClr>
              </a:outerShdw>
            </a:effectLst>
          </c:spPr>
          <c:marker>
            <c:symbol val="none"/>
          </c:marker>
          <c:val>
            <c:numRef>
              <c:f>Sheet2!$B$2:$B$11</c:f>
              <c:numCache>
                <c:formatCode>General</c:formatCode>
                <c:ptCount val="10"/>
                <c:pt idx="0">
                  <c:v>13.41399</c:v>
                </c:pt>
                <c:pt idx="1">
                  <c:v>13.91169</c:v>
                </c:pt>
                <c:pt idx="2">
                  <c:v>14.33503</c:v>
                </c:pt>
                <c:pt idx="3">
                  <c:v>14.810840000000001</c:v>
                </c:pt>
                <c:pt idx="4">
                  <c:v>15.24963</c:v>
                </c:pt>
                <c:pt idx="5">
                  <c:v>15.71454</c:v>
                </c:pt>
                <c:pt idx="6">
                  <c:v>16.161020000000001</c:v>
                </c:pt>
                <c:pt idx="7">
                  <c:v>16.6205</c:v>
                </c:pt>
                <c:pt idx="8">
                  <c:v>17.070810000000002</c:v>
                </c:pt>
                <c:pt idx="9">
                  <c:v>17.5276</c:v>
                </c:pt>
              </c:numCache>
            </c:numRef>
          </c:val>
          <c:smooth val="0"/>
          <c:extLst>
            <c:ext xmlns:c16="http://schemas.microsoft.com/office/drawing/2014/chart" uri="{C3380CC4-5D6E-409C-BE32-E72D297353CC}">
              <c16:uniqueId val="{00000002-57D4-45D8-9B31-08C97007EE4F}"/>
            </c:ext>
          </c:extLst>
        </c:ser>
        <c:dLbls>
          <c:showLegendKey val="0"/>
          <c:showVal val="0"/>
          <c:showCatName val="0"/>
          <c:showSerName val="0"/>
          <c:showPercent val="0"/>
          <c:showBubbleSize val="0"/>
        </c:dLbls>
        <c:smooth val="0"/>
        <c:axId val="1377499296"/>
        <c:axId val="1377499776"/>
      </c:lineChart>
      <c:catAx>
        <c:axId val="1377499296"/>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IN"/>
                  <a:t> Years</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7499776"/>
        <c:crosses val="autoZero"/>
        <c:auto val="1"/>
        <c:lblAlgn val="ctr"/>
        <c:lblOffset val="100"/>
        <c:noMultiLvlLbl val="0"/>
      </c:catAx>
      <c:valAx>
        <c:axId val="13774997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IN"/>
                  <a:t>Rape</a:t>
                </a:r>
                <a:r>
                  <a:rPr lang="en-IN" baseline="0"/>
                  <a:t> Crime Rate</a:t>
                </a:r>
                <a:endParaRPr lang="en-IN"/>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7499296"/>
        <c:crosses val="autoZero"/>
        <c:crossBetween val="between"/>
      </c:valAx>
      <c:spPr>
        <a:noFill/>
        <a:ln>
          <a:noFill/>
        </a:ln>
        <a:effectLst/>
      </c:spPr>
    </c:plotArea>
    <c:legend>
      <c:legendPos val="b"/>
      <c:layout>
        <c:manualLayout>
          <c:xMode val="edge"/>
          <c:yMode val="edge"/>
          <c:x val="0.28265106991309086"/>
          <c:y val="0.87995214846373015"/>
          <c:w val="0.43058077754689883"/>
          <c:h val="8.856005305818011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dirty="0"/>
              <a:t>Forecasted</a:t>
            </a:r>
            <a:r>
              <a:rPr lang="en-IN" baseline="0" dirty="0"/>
              <a:t> Rape Crime Rate for Top 10 States in India</a:t>
            </a:r>
            <a:endParaRPr lang="en-IN" dirty="0"/>
          </a:p>
        </c:rich>
      </c:tx>
      <c:layout>
        <c:manualLayout>
          <c:xMode val="edge"/>
          <c:yMode val="edge"/>
          <c:x val="0.13216446221675382"/>
          <c:y val="2.3668639053254437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7.0984821145280569E-2"/>
          <c:y val="0.14225380111509731"/>
          <c:w val="0.91017647709446958"/>
          <c:h val="0.57770612992902526"/>
        </c:manualLayout>
      </c:layout>
      <c:lineChart>
        <c:grouping val="standard"/>
        <c:varyColors val="0"/>
        <c:ser>
          <c:idx val="0"/>
          <c:order val="0"/>
          <c:tx>
            <c:strRef>
              <c:f>'[delhi  ^0 overall forecast .xlsx]Prediction line'!$B$1</c:f>
              <c:strCache>
                <c:ptCount val="1"/>
                <c:pt idx="0">
                  <c:v>Delhi</c:v>
                </c:pt>
              </c:strCache>
            </c:strRef>
          </c:tx>
          <c:spPr>
            <a:ln w="34925" cap="rnd">
              <a:solidFill>
                <a:schemeClr val="accent2">
                  <a:lumMod val="60000"/>
                  <a:lumOff val="40000"/>
                </a:schemeClr>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line'!$B$2:$B$11</c:f>
              <c:numCache>
                <c:formatCode>General</c:formatCode>
                <c:ptCount val="10"/>
                <c:pt idx="0">
                  <c:v>3.4842059999999999</c:v>
                </c:pt>
                <c:pt idx="1">
                  <c:v>3.1946560000000002</c:v>
                </c:pt>
                <c:pt idx="2">
                  <c:v>2.9291680000000002</c:v>
                </c:pt>
                <c:pt idx="3">
                  <c:v>2.6857440000000001</c:v>
                </c:pt>
                <c:pt idx="4">
                  <c:v>2.4625490000000001</c:v>
                </c:pt>
                <c:pt idx="5">
                  <c:v>2.2579020000000001</c:v>
                </c:pt>
                <c:pt idx="6">
                  <c:v>2.070262</c:v>
                </c:pt>
                <c:pt idx="7">
                  <c:v>1.8982159999999999</c:v>
                </c:pt>
                <c:pt idx="8">
                  <c:v>1.740467</c:v>
                </c:pt>
                <c:pt idx="9">
                  <c:v>1.595828</c:v>
                </c:pt>
              </c:numCache>
            </c:numRef>
          </c:val>
          <c:smooth val="0"/>
          <c:extLst>
            <c:ext xmlns:c16="http://schemas.microsoft.com/office/drawing/2014/chart" uri="{C3380CC4-5D6E-409C-BE32-E72D297353CC}">
              <c16:uniqueId val="{00000000-D1D7-4F94-A21A-F55D64289BAF}"/>
            </c:ext>
          </c:extLst>
        </c:ser>
        <c:ser>
          <c:idx val="2"/>
          <c:order val="1"/>
          <c:tx>
            <c:strRef>
              <c:f>'[delhi  ^0 overall forecast .xlsx]Prediction line'!$D$1</c:f>
              <c:strCache>
                <c:ptCount val="1"/>
                <c:pt idx="0">
                  <c:v>Mizoram</c:v>
                </c:pt>
              </c:strCache>
            </c:strRef>
          </c:tx>
          <c:spPr>
            <a:ln w="34925" cap="rnd">
              <a:solidFill>
                <a:srgbClr val="0EFEDC"/>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line'!$D$2:$D$11</c:f>
              <c:numCache>
                <c:formatCode>General</c:formatCode>
                <c:ptCount val="10"/>
                <c:pt idx="0">
                  <c:v>6.3062500000000004</c:v>
                </c:pt>
                <c:pt idx="1">
                  <c:v>6.3062500000000004</c:v>
                </c:pt>
                <c:pt idx="2">
                  <c:v>6.3062500000000004</c:v>
                </c:pt>
                <c:pt idx="3">
                  <c:v>6.3062500000000004</c:v>
                </c:pt>
                <c:pt idx="4">
                  <c:v>6.3062500000000004</c:v>
                </c:pt>
                <c:pt idx="5">
                  <c:v>6.3062500000000004</c:v>
                </c:pt>
                <c:pt idx="6">
                  <c:v>6.3062500000000004</c:v>
                </c:pt>
                <c:pt idx="7">
                  <c:v>6.3062500000000004</c:v>
                </c:pt>
                <c:pt idx="8">
                  <c:v>6.3062500000000004</c:v>
                </c:pt>
                <c:pt idx="9">
                  <c:v>6.3062500000000004</c:v>
                </c:pt>
              </c:numCache>
            </c:numRef>
          </c:val>
          <c:smooth val="0"/>
          <c:extLst>
            <c:ext xmlns:c16="http://schemas.microsoft.com/office/drawing/2014/chart" uri="{C3380CC4-5D6E-409C-BE32-E72D297353CC}">
              <c16:uniqueId val="{00000001-D1D7-4F94-A21A-F55D64289BAF}"/>
            </c:ext>
          </c:extLst>
        </c:ser>
        <c:ser>
          <c:idx val="1"/>
          <c:order val="2"/>
          <c:tx>
            <c:strRef>
              <c:f>'[delhi  ^0 overall forecast .xlsx]Prediction line'!$C$1</c:f>
              <c:strCache>
                <c:ptCount val="1"/>
                <c:pt idx="0">
                  <c:v>Madhya Pradesh</c:v>
                </c:pt>
              </c:strCache>
            </c:strRef>
          </c:tx>
          <c:spPr>
            <a:ln w="34925" cap="rnd">
              <a:solidFill>
                <a:srgbClr val="7030A0"/>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line'!$C$2:$C$11</c:f>
              <c:numCache>
                <c:formatCode>General</c:formatCode>
                <c:ptCount val="10"/>
                <c:pt idx="0">
                  <c:v>7.3072489999999997</c:v>
                </c:pt>
                <c:pt idx="1">
                  <c:v>7.3129559999999998</c:v>
                </c:pt>
                <c:pt idx="2">
                  <c:v>7.3174489999999999</c:v>
                </c:pt>
                <c:pt idx="3">
                  <c:v>7.3209860000000004</c:v>
                </c:pt>
                <c:pt idx="4">
                  <c:v>7.3237709999999998</c:v>
                </c:pt>
                <c:pt idx="5">
                  <c:v>7.3259629999999998</c:v>
                </c:pt>
                <c:pt idx="6">
                  <c:v>7.3276880000000002</c:v>
                </c:pt>
                <c:pt idx="7">
                  <c:v>7.3290470000000001</c:v>
                </c:pt>
                <c:pt idx="8">
                  <c:v>7.3301160000000003</c:v>
                </c:pt>
                <c:pt idx="9">
                  <c:v>7.3309579999999999</c:v>
                </c:pt>
              </c:numCache>
            </c:numRef>
          </c:val>
          <c:smooth val="0"/>
          <c:extLst>
            <c:ext xmlns:c16="http://schemas.microsoft.com/office/drawing/2014/chart" uri="{C3380CC4-5D6E-409C-BE32-E72D297353CC}">
              <c16:uniqueId val="{00000002-D1D7-4F94-A21A-F55D64289BAF}"/>
            </c:ext>
          </c:extLst>
        </c:ser>
        <c:ser>
          <c:idx val="3"/>
          <c:order val="3"/>
          <c:tx>
            <c:strRef>
              <c:f>'[delhi  ^0 overall forecast .xlsx]Prediction line'!$E$1</c:f>
              <c:strCache>
                <c:ptCount val="1"/>
                <c:pt idx="0">
                  <c:v>Assam</c:v>
                </c:pt>
              </c:strCache>
            </c:strRef>
          </c:tx>
          <c:spPr>
            <a:ln w="34925" cap="rnd">
              <a:solidFill>
                <a:srgbClr val="FFFF00"/>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line'!$E$2:$E$11</c:f>
              <c:numCache>
                <c:formatCode>General</c:formatCode>
                <c:ptCount val="10"/>
                <c:pt idx="0">
                  <c:v>6.4</c:v>
                </c:pt>
                <c:pt idx="1">
                  <c:v>6.4</c:v>
                </c:pt>
                <c:pt idx="2">
                  <c:v>6.4</c:v>
                </c:pt>
                <c:pt idx="3">
                  <c:v>6.4</c:v>
                </c:pt>
                <c:pt idx="4">
                  <c:v>6.4</c:v>
                </c:pt>
                <c:pt idx="5">
                  <c:v>6.4</c:v>
                </c:pt>
                <c:pt idx="6">
                  <c:v>6.4</c:v>
                </c:pt>
                <c:pt idx="7">
                  <c:v>6.4</c:v>
                </c:pt>
                <c:pt idx="8">
                  <c:v>6.4</c:v>
                </c:pt>
                <c:pt idx="9">
                  <c:v>6.4</c:v>
                </c:pt>
              </c:numCache>
            </c:numRef>
          </c:val>
          <c:smooth val="0"/>
          <c:extLst>
            <c:ext xmlns:c16="http://schemas.microsoft.com/office/drawing/2014/chart" uri="{C3380CC4-5D6E-409C-BE32-E72D297353CC}">
              <c16:uniqueId val="{00000003-D1D7-4F94-A21A-F55D64289BAF}"/>
            </c:ext>
          </c:extLst>
        </c:ser>
        <c:ser>
          <c:idx val="4"/>
          <c:order val="4"/>
          <c:tx>
            <c:strRef>
              <c:f>'[delhi  ^0 overall forecast .xlsx]Prediction line'!$F$1</c:f>
              <c:strCache>
                <c:ptCount val="1"/>
                <c:pt idx="0">
                  <c:v>Arunachal Pradesh</c:v>
                </c:pt>
              </c:strCache>
            </c:strRef>
          </c:tx>
          <c:spPr>
            <a:ln w="34925" cap="rnd">
              <a:solidFill>
                <a:schemeClr val="accent5"/>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line'!$F$2:$F$11</c:f>
              <c:numCache>
                <c:formatCode>General</c:formatCode>
                <c:ptCount val="10"/>
                <c:pt idx="0">
                  <c:v>9.8000000000000007</c:v>
                </c:pt>
                <c:pt idx="1">
                  <c:v>9.8000000000000007</c:v>
                </c:pt>
                <c:pt idx="2">
                  <c:v>9.8000000000000007</c:v>
                </c:pt>
                <c:pt idx="3">
                  <c:v>9.8000000000000007</c:v>
                </c:pt>
                <c:pt idx="4">
                  <c:v>9.8000000000000007</c:v>
                </c:pt>
                <c:pt idx="5">
                  <c:v>9.8000000000000007</c:v>
                </c:pt>
                <c:pt idx="6">
                  <c:v>9.8000000000000007</c:v>
                </c:pt>
                <c:pt idx="7">
                  <c:v>9.8000000000000007</c:v>
                </c:pt>
                <c:pt idx="8">
                  <c:v>9.8000000000000007</c:v>
                </c:pt>
                <c:pt idx="9">
                  <c:v>9.8000000000000007</c:v>
                </c:pt>
              </c:numCache>
            </c:numRef>
          </c:val>
          <c:smooth val="0"/>
          <c:extLst>
            <c:ext xmlns:c16="http://schemas.microsoft.com/office/drawing/2014/chart" uri="{C3380CC4-5D6E-409C-BE32-E72D297353CC}">
              <c16:uniqueId val="{00000004-D1D7-4F94-A21A-F55D64289BAF}"/>
            </c:ext>
          </c:extLst>
        </c:ser>
        <c:ser>
          <c:idx val="5"/>
          <c:order val="5"/>
          <c:tx>
            <c:strRef>
              <c:f>'[delhi  ^0 overall forecast .xlsx]Prediction line'!$G$1</c:f>
              <c:strCache>
                <c:ptCount val="1"/>
                <c:pt idx="0">
                  <c:v>Chhattisgarh</c:v>
                </c:pt>
              </c:strCache>
            </c:strRef>
          </c:tx>
          <c:spPr>
            <a:ln w="34925" cap="rnd">
              <a:solidFill>
                <a:schemeClr val="accent6"/>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line'!$G$2:$G$11</c:f>
              <c:numCache>
                <c:formatCode>General</c:formatCode>
                <c:ptCount val="10"/>
                <c:pt idx="0">
                  <c:v>8.3000000000000007</c:v>
                </c:pt>
                <c:pt idx="1">
                  <c:v>8.3000000000000007</c:v>
                </c:pt>
                <c:pt idx="2">
                  <c:v>8.3000000000000007</c:v>
                </c:pt>
                <c:pt idx="3">
                  <c:v>8.3000000000000007</c:v>
                </c:pt>
                <c:pt idx="4">
                  <c:v>8.3000000000000007</c:v>
                </c:pt>
                <c:pt idx="5">
                  <c:v>8.3000000000000007</c:v>
                </c:pt>
                <c:pt idx="6">
                  <c:v>8.3000000000000007</c:v>
                </c:pt>
                <c:pt idx="7">
                  <c:v>8.3000000000000007</c:v>
                </c:pt>
                <c:pt idx="8">
                  <c:v>8.3000000000000007</c:v>
                </c:pt>
                <c:pt idx="9">
                  <c:v>8.3000000000000007</c:v>
                </c:pt>
              </c:numCache>
            </c:numRef>
          </c:val>
          <c:smooth val="0"/>
          <c:extLst>
            <c:ext xmlns:c16="http://schemas.microsoft.com/office/drawing/2014/chart" uri="{C3380CC4-5D6E-409C-BE32-E72D297353CC}">
              <c16:uniqueId val="{00000005-D1D7-4F94-A21A-F55D64289BAF}"/>
            </c:ext>
          </c:extLst>
        </c:ser>
        <c:ser>
          <c:idx val="6"/>
          <c:order val="6"/>
          <c:tx>
            <c:strRef>
              <c:f>'[delhi  ^0 overall forecast .xlsx]Prediction line'!$H$1</c:f>
              <c:strCache>
                <c:ptCount val="1"/>
                <c:pt idx="0">
                  <c:v>Rajasthan</c:v>
                </c:pt>
              </c:strCache>
            </c:strRef>
          </c:tx>
          <c:spPr>
            <a:ln w="34925" cap="rnd">
              <a:solidFill>
                <a:srgbClr val="F4FF6B"/>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line'!$H$2:$H$11</c:f>
              <c:numCache>
                <c:formatCode>General</c:formatCode>
                <c:ptCount val="10"/>
                <c:pt idx="0">
                  <c:v>14.47222</c:v>
                </c:pt>
                <c:pt idx="1">
                  <c:v>15.144439999999999</c:v>
                </c:pt>
                <c:pt idx="2">
                  <c:v>15.81667</c:v>
                </c:pt>
                <c:pt idx="3">
                  <c:v>16.488890000000001</c:v>
                </c:pt>
                <c:pt idx="4">
                  <c:v>17.161110000000001</c:v>
                </c:pt>
                <c:pt idx="5">
                  <c:v>17.83333</c:v>
                </c:pt>
                <c:pt idx="6">
                  <c:v>18.505559999999999</c:v>
                </c:pt>
                <c:pt idx="7">
                  <c:v>19.177779999999998</c:v>
                </c:pt>
                <c:pt idx="8">
                  <c:v>19.850000000000001</c:v>
                </c:pt>
                <c:pt idx="9">
                  <c:v>20.522220000000001</c:v>
                </c:pt>
              </c:numCache>
            </c:numRef>
          </c:val>
          <c:smooth val="0"/>
          <c:extLst>
            <c:ext xmlns:c16="http://schemas.microsoft.com/office/drawing/2014/chart" uri="{C3380CC4-5D6E-409C-BE32-E72D297353CC}">
              <c16:uniqueId val="{00000006-D1D7-4F94-A21A-F55D64289BAF}"/>
            </c:ext>
          </c:extLst>
        </c:ser>
        <c:ser>
          <c:idx val="7"/>
          <c:order val="7"/>
          <c:tx>
            <c:strRef>
              <c:f>'[delhi  ^0 overall forecast .xlsx]Prediction line'!$I$1</c:f>
              <c:strCache>
                <c:ptCount val="1"/>
                <c:pt idx="0">
                  <c:v>Tripura</c:v>
                </c:pt>
              </c:strCache>
            </c:strRef>
          </c:tx>
          <c:spPr>
            <a:ln w="34925" cap="rnd">
              <a:solidFill>
                <a:schemeClr val="accent2">
                  <a:lumMod val="60000"/>
                </a:schemeClr>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line'!$I$2:$I$11</c:f>
              <c:numCache>
                <c:formatCode>General</c:formatCode>
                <c:ptCount val="10"/>
                <c:pt idx="0">
                  <c:v>3.803531</c:v>
                </c:pt>
                <c:pt idx="1">
                  <c:v>4.3388229999999997</c:v>
                </c:pt>
                <c:pt idx="2">
                  <c:v>4.7461080000000004</c:v>
                </c:pt>
                <c:pt idx="3">
                  <c:v>5.0559960000000004</c:v>
                </c:pt>
                <c:pt idx="4">
                  <c:v>5.291779</c:v>
                </c:pt>
                <c:pt idx="5">
                  <c:v>5.4711780000000001</c:v>
                </c:pt>
                <c:pt idx="6">
                  <c:v>5.6076769999999998</c:v>
                </c:pt>
                <c:pt idx="7">
                  <c:v>5.7115340000000003</c:v>
                </c:pt>
                <c:pt idx="8">
                  <c:v>5.7905550000000003</c:v>
                </c:pt>
                <c:pt idx="9">
                  <c:v>5.8506790000000004</c:v>
                </c:pt>
              </c:numCache>
            </c:numRef>
          </c:val>
          <c:smooth val="0"/>
          <c:extLst>
            <c:ext xmlns:c16="http://schemas.microsoft.com/office/drawing/2014/chart" uri="{C3380CC4-5D6E-409C-BE32-E72D297353CC}">
              <c16:uniqueId val="{00000007-D1D7-4F94-A21A-F55D64289BAF}"/>
            </c:ext>
          </c:extLst>
        </c:ser>
        <c:ser>
          <c:idx val="8"/>
          <c:order val="8"/>
          <c:tx>
            <c:strRef>
              <c:f>'[delhi  ^0 overall forecast .xlsx]Prediction line'!$J$1</c:f>
              <c:strCache>
                <c:ptCount val="1"/>
                <c:pt idx="0">
                  <c:v>Chandigarh</c:v>
                </c:pt>
              </c:strCache>
            </c:strRef>
          </c:tx>
          <c:spPr>
            <a:ln w="34925" cap="rnd">
              <a:solidFill>
                <a:srgbClr val="00B050"/>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line'!$J$2:$J$11</c:f>
              <c:numCache>
                <c:formatCode>General</c:formatCode>
                <c:ptCount val="10"/>
                <c:pt idx="0">
                  <c:v>14.50423</c:v>
                </c:pt>
                <c:pt idx="1">
                  <c:v>15.20266</c:v>
                </c:pt>
                <c:pt idx="2">
                  <c:v>15.9011</c:v>
                </c:pt>
                <c:pt idx="3">
                  <c:v>16.599530000000001</c:v>
                </c:pt>
                <c:pt idx="4">
                  <c:v>17.29796</c:v>
                </c:pt>
                <c:pt idx="5">
                  <c:v>17.996400000000001</c:v>
                </c:pt>
                <c:pt idx="6">
                  <c:v>18.69483</c:v>
                </c:pt>
                <c:pt idx="7">
                  <c:v>19.393260000000001</c:v>
                </c:pt>
                <c:pt idx="8">
                  <c:v>20.091699999999999</c:v>
                </c:pt>
                <c:pt idx="9">
                  <c:v>20.790130000000001</c:v>
                </c:pt>
              </c:numCache>
            </c:numRef>
          </c:val>
          <c:smooth val="0"/>
          <c:extLst>
            <c:ext xmlns:c16="http://schemas.microsoft.com/office/drawing/2014/chart" uri="{C3380CC4-5D6E-409C-BE32-E72D297353CC}">
              <c16:uniqueId val="{00000008-D1D7-4F94-A21A-F55D64289BAF}"/>
            </c:ext>
          </c:extLst>
        </c:ser>
        <c:ser>
          <c:idx val="9"/>
          <c:order val="9"/>
          <c:tx>
            <c:strRef>
              <c:f>'[delhi  ^0 overall forecast .xlsx]Prediction line'!$K$1</c:f>
              <c:strCache>
                <c:ptCount val="1"/>
                <c:pt idx="0">
                  <c:v>Haryana</c:v>
                </c:pt>
              </c:strCache>
            </c:strRef>
          </c:tx>
          <c:spPr>
            <a:ln w="34925" cap="rnd">
              <a:solidFill>
                <a:schemeClr val="accent4">
                  <a:lumMod val="60000"/>
                </a:schemeClr>
              </a:solidFill>
              <a:round/>
            </a:ln>
            <a:effectLst>
              <a:outerShdw blurRad="57150" dist="19050" dir="5400000" algn="ctr" rotWithShape="0">
                <a:srgbClr val="000000">
                  <a:alpha val="63000"/>
                </a:srgbClr>
              </a:outerShdw>
            </a:effectLst>
          </c:spPr>
          <c:marker>
            <c:symbol val="none"/>
          </c:marker>
          <c:cat>
            <c:numRef>
              <c:f>'[delhi  ^0 overall forecast .xlsx]Prediction line'!$A$2:$A$11</c:f>
              <c:numCache>
                <c:formatCode>General</c:formatCode>
                <c:ptCount val="10"/>
                <c:pt idx="0">
                  <c:v>2023</c:v>
                </c:pt>
                <c:pt idx="1">
                  <c:v>2024</c:v>
                </c:pt>
                <c:pt idx="2">
                  <c:v>2025</c:v>
                </c:pt>
                <c:pt idx="3">
                  <c:v>2026</c:v>
                </c:pt>
                <c:pt idx="4">
                  <c:v>2027</c:v>
                </c:pt>
                <c:pt idx="5">
                  <c:v>2028</c:v>
                </c:pt>
                <c:pt idx="6">
                  <c:v>2029</c:v>
                </c:pt>
                <c:pt idx="7">
                  <c:v>2030</c:v>
                </c:pt>
                <c:pt idx="8">
                  <c:v>2031</c:v>
                </c:pt>
                <c:pt idx="9">
                  <c:v>2032</c:v>
                </c:pt>
              </c:numCache>
            </c:numRef>
          </c:cat>
          <c:val>
            <c:numRef>
              <c:f>'[delhi  ^0 overall forecast .xlsx]Prediction line'!$K$2:$K$11</c:f>
              <c:numCache>
                <c:formatCode>General</c:formatCode>
                <c:ptCount val="10"/>
                <c:pt idx="0">
                  <c:v>13.311109999999999</c:v>
                </c:pt>
                <c:pt idx="1">
                  <c:v>13.922219999999999</c:v>
                </c:pt>
                <c:pt idx="2">
                  <c:v>14.533329999999999</c:v>
                </c:pt>
                <c:pt idx="3">
                  <c:v>15.144439999999999</c:v>
                </c:pt>
                <c:pt idx="4">
                  <c:v>15.755559999999999</c:v>
                </c:pt>
                <c:pt idx="5">
                  <c:v>16.366669999999999</c:v>
                </c:pt>
                <c:pt idx="6">
                  <c:v>16.977779999999999</c:v>
                </c:pt>
                <c:pt idx="7">
                  <c:v>17.588889999999999</c:v>
                </c:pt>
                <c:pt idx="8">
                  <c:v>18.2</c:v>
                </c:pt>
                <c:pt idx="9">
                  <c:v>18.811109999999999</c:v>
                </c:pt>
              </c:numCache>
            </c:numRef>
          </c:val>
          <c:smooth val="0"/>
          <c:extLst>
            <c:ext xmlns:c16="http://schemas.microsoft.com/office/drawing/2014/chart" uri="{C3380CC4-5D6E-409C-BE32-E72D297353CC}">
              <c16:uniqueId val="{00000009-D1D7-4F94-A21A-F55D64289BAF}"/>
            </c:ext>
          </c:extLst>
        </c:ser>
        <c:dLbls>
          <c:showLegendKey val="0"/>
          <c:showVal val="0"/>
          <c:showCatName val="0"/>
          <c:showSerName val="0"/>
          <c:showPercent val="0"/>
          <c:showBubbleSize val="0"/>
        </c:dLbls>
        <c:smooth val="0"/>
        <c:axId val="799475184"/>
        <c:axId val="799473744"/>
      </c:lineChart>
      <c:catAx>
        <c:axId val="799475184"/>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IN"/>
                  <a:t>Next</a:t>
                </a:r>
                <a:r>
                  <a:rPr lang="en-IN" baseline="0"/>
                  <a:t> 10 years</a:t>
                </a:r>
                <a:endParaRPr lang="en-IN"/>
              </a:p>
            </c:rich>
          </c:tx>
          <c:layout>
            <c:manualLayout>
              <c:xMode val="edge"/>
              <c:yMode val="edge"/>
              <c:x val="0.45940445540277935"/>
              <c:y val="0.7841707297193654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473744"/>
        <c:crosses val="autoZero"/>
        <c:auto val="1"/>
        <c:lblAlgn val="ctr"/>
        <c:lblOffset val="100"/>
        <c:noMultiLvlLbl val="0"/>
      </c:catAx>
      <c:valAx>
        <c:axId val="7994737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IN"/>
                  <a:t>Rape</a:t>
                </a:r>
                <a:r>
                  <a:rPr lang="en-IN" baseline="0"/>
                  <a:t> Crime Rate</a:t>
                </a:r>
                <a:endParaRPr lang="en-IN"/>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475184"/>
        <c:crosses val="autoZero"/>
        <c:crossBetween val="between"/>
      </c:valAx>
      <c:spPr>
        <a:noFill/>
        <a:ln>
          <a:noFill/>
        </a:ln>
        <a:effectLst/>
      </c:spPr>
    </c:plotArea>
    <c:legend>
      <c:legendPos val="b"/>
      <c:layout>
        <c:manualLayout>
          <c:xMode val="edge"/>
          <c:yMode val="edge"/>
          <c:x val="4.2191580866295125E-2"/>
          <c:y val="0.83616435354370788"/>
          <c:w val="0.92586993220741276"/>
          <c:h val="0.1332910109253248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93D05-E4ED-477E-B4B2-B709A8CFBAED}" type="datetimeFigureOut">
              <a:rPr lang="en-IN" smtClean="0"/>
              <a:t>02-05-2025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021947-4F28-4B6A-A456-9469C929A14F}" type="slidenum">
              <a:rPr lang="en-IN" smtClean="0"/>
              <a:t>‹#›</a:t>
            </a:fld>
            <a:endParaRPr lang="en-IN"/>
          </a:p>
        </p:txBody>
      </p:sp>
    </p:spTree>
    <p:extLst>
      <p:ext uri="{BB962C8B-B14F-4D97-AF65-F5344CB8AC3E}">
        <p14:creationId xmlns:p14="http://schemas.microsoft.com/office/powerpoint/2010/main" val="144919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021947-4F28-4B6A-A456-9469C929A14F}" type="slidenum">
              <a:rPr lang="en-IN" smtClean="0"/>
              <a:t>8</a:t>
            </a:fld>
            <a:endParaRPr lang="en-IN"/>
          </a:p>
        </p:txBody>
      </p:sp>
    </p:spTree>
    <p:extLst>
      <p:ext uri="{BB962C8B-B14F-4D97-AF65-F5344CB8AC3E}">
        <p14:creationId xmlns:p14="http://schemas.microsoft.com/office/powerpoint/2010/main" val="2825948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021947-4F28-4B6A-A456-9469C929A14F}" type="slidenum">
              <a:rPr lang="en-IN" smtClean="0"/>
              <a:t>9</a:t>
            </a:fld>
            <a:endParaRPr lang="en-IN"/>
          </a:p>
        </p:txBody>
      </p:sp>
    </p:spTree>
    <p:extLst>
      <p:ext uri="{BB962C8B-B14F-4D97-AF65-F5344CB8AC3E}">
        <p14:creationId xmlns:p14="http://schemas.microsoft.com/office/powerpoint/2010/main" val="331106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86" name="PlaceHolder 1"/>
          <p:cNvSpPr>
            <a:spLocks noGrp="1"/>
          </p:cNvSpPr>
          <p:nvPr>
            <p:ph type="title"/>
          </p:nvPr>
        </p:nvSpPr>
        <p:spPr>
          <a:xfrm>
            <a:off x="1157400" y="494640"/>
            <a:ext cx="51264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8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6" name="Google Shape;9;p2"/>
          <p:cNvGrpSpPr/>
          <p:nvPr/>
        </p:nvGrpSpPr>
        <p:grpSpPr>
          <a:xfrm>
            <a:off x="-3255120" y="-2760840"/>
            <a:ext cx="10039680" cy="6731280"/>
            <a:chOff x="-3255120" y="-2760840"/>
            <a:chExt cx="10039680" cy="6731280"/>
          </a:xfrm>
        </p:grpSpPr>
        <p:grpSp>
          <p:nvGrpSpPr>
            <p:cNvPr id="87" name="Google Shape;10;p2"/>
            <p:cNvGrpSpPr/>
            <p:nvPr/>
          </p:nvGrpSpPr>
          <p:grpSpPr>
            <a:xfrm>
              <a:off x="-3255120" y="-2760840"/>
              <a:ext cx="6563880" cy="6731280"/>
              <a:chOff x="-3255120" y="-2760840"/>
              <a:chExt cx="6563880" cy="6731280"/>
            </a:xfrm>
          </p:grpSpPr>
          <p:sp>
            <p:nvSpPr>
              <p:cNvPr id="2" name="Google Shape;11;p2"/>
              <p:cNvSpPr/>
              <p:nvPr/>
            </p:nvSpPr>
            <p:spPr>
              <a:xfrm rot="10221600">
                <a:off x="-1132920" y="-721440"/>
                <a:ext cx="3045240" cy="2637000"/>
              </a:xfrm>
              <a:custGeom>
                <a:avLst/>
                <a:gdLst>
                  <a:gd name="textAreaLeft" fmla="*/ 0 w 3045240"/>
                  <a:gd name="textAreaRight" fmla="*/ 3045600 w 3045240"/>
                  <a:gd name="textAreaTop" fmla="*/ 0 h 2637000"/>
                  <a:gd name="textAreaBottom" fmla="*/ 2637360 h 2637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3" name="Google Shape;12;p2"/>
              <p:cNvPicPr/>
              <p:nvPr/>
            </p:nvPicPr>
            <p:blipFill>
              <a:blip r:embed="rId3"/>
              <a:srcRect t="17653" b="17662"/>
              <a:stretch/>
            </p:blipFill>
            <p:spPr>
              <a:xfrm rot="13821600">
                <a:off x="-2650680" y="-1438560"/>
                <a:ext cx="5355360" cy="4087080"/>
              </a:xfrm>
              <a:prstGeom prst="rect">
                <a:avLst/>
              </a:prstGeom>
              <a:ln w="0">
                <a:noFill/>
              </a:ln>
            </p:spPr>
          </p:pic>
        </p:grpSp>
        <p:sp>
          <p:nvSpPr>
            <p:cNvPr id="4" name="Google Shape;13;p2"/>
            <p:cNvSpPr/>
            <p:nvPr/>
          </p:nvSpPr>
          <p:spPr>
            <a:xfrm>
              <a:off x="-441720" y="-339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14;p2"/>
            <p:cNvSpPr/>
            <p:nvPr/>
          </p:nvSpPr>
          <p:spPr>
            <a:xfrm rot="2700000">
              <a:off x="765720" y="-237348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15;p2"/>
            <p:cNvSpPr/>
            <p:nvPr/>
          </p:nvSpPr>
          <p:spPr>
            <a:xfrm>
              <a:off x="-353880" y="-534240"/>
              <a:ext cx="7138440" cy="819000"/>
            </a:xfrm>
            <a:custGeom>
              <a:avLst/>
              <a:gdLst>
                <a:gd name="textAreaLeft" fmla="*/ 0 w 7138440"/>
                <a:gd name="textAreaRight" fmla="*/ 7138800 w 7138440"/>
                <a:gd name="textAreaTop" fmla="*/ 0 h 819000"/>
                <a:gd name="textAreaBottom" fmla="*/ 819360 h 819000"/>
              </a:gdLst>
              <a:ahLst/>
              <a:cxnLst/>
              <a:rect l="textAreaLeft" t="textAreaTop" r="textAreaRight" b="textAreaBottom"/>
              <a:pathLst>
                <a:path w="285545" h="32774">
                  <a:moveTo>
                    <a:pt x="0" y="32774"/>
                  </a:moveTo>
                  <a:lnTo>
                    <a:pt x="188861" y="32774"/>
                  </a:lnTo>
                  <a:lnTo>
                    <a:pt x="221636" y="0"/>
                  </a:lnTo>
                  <a:lnTo>
                    <a:pt x="285545" y="0"/>
                  </a:lnTo>
                </a:path>
              </a:pathLst>
            </a:custGeom>
            <a:noFill/>
            <a:ln w="9525">
              <a:solidFill>
                <a:srgbClr val="0C0A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7" name="Google Shape;16;p2"/>
            <p:cNvSpPr/>
            <p:nvPr/>
          </p:nvSpPr>
          <p:spPr>
            <a:xfrm rot="5400000">
              <a:off x="958680" y="-1418760"/>
              <a:ext cx="577080" cy="3045240"/>
            </a:xfrm>
            <a:custGeom>
              <a:avLst/>
              <a:gdLst>
                <a:gd name="textAreaLeft" fmla="*/ 0 w 577080"/>
                <a:gd name="textAreaRight" fmla="*/ 577440 w 577080"/>
                <a:gd name="textAreaTop" fmla="*/ 0 h 3045240"/>
                <a:gd name="textAreaBottom" fmla="*/ 3045600 h 3045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17;p2"/>
            <p:cNvSpPr/>
            <p:nvPr/>
          </p:nvSpPr>
          <p:spPr>
            <a:xfrm rot="5400000">
              <a:off x="502200" y="-954360"/>
              <a:ext cx="686880" cy="2730960"/>
            </a:xfrm>
            <a:custGeom>
              <a:avLst/>
              <a:gdLst>
                <a:gd name="textAreaLeft" fmla="*/ 0 w 686880"/>
                <a:gd name="textAreaRight" fmla="*/ 687240 w 686880"/>
                <a:gd name="textAreaTop" fmla="*/ 0 h 2730960"/>
                <a:gd name="textAreaBottom" fmla="*/ 2731320 h 27309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9" name="Google Shape;18;p2"/>
            <p:cNvGrpSpPr/>
            <p:nvPr/>
          </p:nvGrpSpPr>
          <p:grpSpPr>
            <a:xfrm>
              <a:off x="4294080" y="218160"/>
              <a:ext cx="133560" cy="133560"/>
              <a:chOff x="4294080" y="218160"/>
              <a:chExt cx="133560" cy="133560"/>
            </a:xfrm>
          </p:grpSpPr>
          <p:sp>
            <p:nvSpPr>
              <p:cNvPr id="10" name="Google Shape;19;p2"/>
              <p:cNvSpPr/>
              <p:nvPr/>
            </p:nvSpPr>
            <p:spPr>
              <a:xfrm flipH="1">
                <a:off x="4293720" y="21816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20;p2"/>
              <p:cNvSpPr/>
              <p:nvPr/>
            </p:nvSpPr>
            <p:spPr>
              <a:xfrm flipH="1">
                <a:off x="4321440" y="24876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 name="Google Shape;21;p2"/>
            <p:cNvGrpSpPr/>
            <p:nvPr/>
          </p:nvGrpSpPr>
          <p:grpSpPr>
            <a:xfrm>
              <a:off x="1220760" y="521640"/>
              <a:ext cx="133560" cy="133560"/>
              <a:chOff x="1220760" y="521640"/>
              <a:chExt cx="133560" cy="133560"/>
            </a:xfrm>
          </p:grpSpPr>
          <p:sp>
            <p:nvSpPr>
              <p:cNvPr id="13" name="Google Shape;22;p2"/>
              <p:cNvSpPr/>
              <p:nvPr/>
            </p:nvSpPr>
            <p:spPr>
              <a:xfrm flipH="1">
                <a:off x="1220400" y="521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23;p2"/>
              <p:cNvSpPr/>
              <p:nvPr/>
            </p:nvSpPr>
            <p:spPr>
              <a:xfrm flipH="1">
                <a:off x="1248120" y="55188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5" name="Google Shape;24;p2"/>
            <p:cNvGrpSpPr/>
            <p:nvPr/>
          </p:nvGrpSpPr>
          <p:grpSpPr>
            <a:xfrm>
              <a:off x="934200" y="784440"/>
              <a:ext cx="133560" cy="133560"/>
              <a:chOff x="934200" y="784440"/>
              <a:chExt cx="133560" cy="133560"/>
            </a:xfrm>
          </p:grpSpPr>
          <p:sp>
            <p:nvSpPr>
              <p:cNvPr id="16" name="Google Shape;25;p2"/>
              <p:cNvSpPr/>
              <p:nvPr/>
            </p:nvSpPr>
            <p:spPr>
              <a:xfrm flipH="1">
                <a:off x="93384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26;p2"/>
              <p:cNvSpPr/>
              <p:nvPr/>
            </p:nvSpPr>
            <p:spPr>
              <a:xfrm flipH="1">
                <a:off x="96120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8" name="Google Shape;27;p2"/>
            <p:cNvGrpSpPr/>
            <p:nvPr/>
          </p:nvGrpSpPr>
          <p:grpSpPr>
            <a:xfrm>
              <a:off x="124920" y="784440"/>
              <a:ext cx="133560" cy="133560"/>
              <a:chOff x="124920" y="784440"/>
              <a:chExt cx="133560" cy="133560"/>
            </a:xfrm>
          </p:grpSpPr>
          <p:sp>
            <p:nvSpPr>
              <p:cNvPr id="19" name="Google Shape;28;p2"/>
              <p:cNvSpPr/>
              <p:nvPr/>
            </p:nvSpPr>
            <p:spPr>
              <a:xfrm flipH="1">
                <a:off x="12456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29;p2"/>
              <p:cNvSpPr/>
              <p:nvPr/>
            </p:nvSpPr>
            <p:spPr>
              <a:xfrm flipH="1">
                <a:off x="15228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 name="Google Shape;30;p2"/>
            <p:cNvGrpSpPr/>
            <p:nvPr/>
          </p:nvGrpSpPr>
          <p:grpSpPr>
            <a:xfrm>
              <a:off x="124920" y="467640"/>
              <a:ext cx="133560" cy="133560"/>
              <a:chOff x="124920" y="467640"/>
              <a:chExt cx="133560" cy="133560"/>
            </a:xfrm>
          </p:grpSpPr>
          <p:sp>
            <p:nvSpPr>
              <p:cNvPr id="22" name="Google Shape;31;p2"/>
              <p:cNvSpPr/>
              <p:nvPr/>
            </p:nvSpPr>
            <p:spPr>
              <a:xfrm flipH="1">
                <a:off x="124560" y="467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2;p2"/>
              <p:cNvSpPr/>
              <p:nvPr/>
            </p:nvSpPr>
            <p:spPr>
              <a:xfrm flipH="1">
                <a:off x="152280" y="4982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24" name="Google Shape;33;p2"/>
          <p:cNvGrpSpPr/>
          <p:nvPr/>
        </p:nvGrpSpPr>
        <p:grpSpPr>
          <a:xfrm>
            <a:off x="6385680" y="3039840"/>
            <a:ext cx="3920040" cy="3213360"/>
            <a:chOff x="6385680" y="3039840"/>
            <a:chExt cx="3920040" cy="3213360"/>
          </a:xfrm>
        </p:grpSpPr>
        <p:pic>
          <p:nvPicPr>
            <p:cNvPr id="25" name="Google Shape;34;p2"/>
            <p:cNvPicPr/>
            <p:nvPr/>
          </p:nvPicPr>
          <p:blipFill>
            <a:blip r:embed="rId4"/>
            <a:srcRect l="16959" t="24713" r="7122" b="26173"/>
            <a:stretch/>
          </p:blipFill>
          <p:spPr>
            <a:xfrm>
              <a:off x="6385680" y="3261240"/>
              <a:ext cx="3920040" cy="2991960"/>
            </a:xfrm>
            <a:prstGeom prst="rect">
              <a:avLst/>
            </a:prstGeom>
            <a:ln w="0">
              <a:noFill/>
            </a:ln>
          </p:spPr>
        </p:pic>
        <p:sp>
          <p:nvSpPr>
            <p:cNvPr id="26" name="Google Shape;35;p2"/>
            <p:cNvSpPr/>
            <p:nvPr/>
          </p:nvSpPr>
          <p:spPr>
            <a:xfrm rot="10800000">
              <a:off x="7612200" y="3138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 name="Google Shape;36;p2"/>
            <p:cNvSpPr/>
            <p:nvPr/>
          </p:nvSpPr>
          <p:spPr>
            <a:xfrm rot="10800000">
              <a:off x="7771320" y="31388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8" name="Google Shape;37;p2"/>
            <p:cNvGrpSpPr/>
            <p:nvPr/>
          </p:nvGrpSpPr>
          <p:grpSpPr>
            <a:xfrm>
              <a:off x="7356600" y="3916440"/>
              <a:ext cx="581760" cy="582120"/>
              <a:chOff x="7356600" y="3916440"/>
              <a:chExt cx="581760" cy="582120"/>
            </a:xfrm>
          </p:grpSpPr>
          <p:sp>
            <p:nvSpPr>
              <p:cNvPr id="29" name="Google Shape;38;p2"/>
              <p:cNvSpPr/>
              <p:nvPr/>
            </p:nvSpPr>
            <p:spPr>
              <a:xfrm>
                <a:off x="7356600" y="43754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 name="Google Shape;39;p2"/>
              <p:cNvSpPr/>
              <p:nvPr/>
            </p:nvSpPr>
            <p:spPr>
              <a:xfrm>
                <a:off x="7432920" y="42987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 name="Google Shape;40;p2"/>
              <p:cNvSpPr/>
              <p:nvPr/>
            </p:nvSpPr>
            <p:spPr>
              <a:xfrm>
                <a:off x="7509240" y="422244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 name="Google Shape;41;p2"/>
              <p:cNvSpPr/>
              <p:nvPr/>
            </p:nvSpPr>
            <p:spPr>
              <a:xfrm>
                <a:off x="7585560" y="41461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42;p2"/>
              <p:cNvSpPr/>
              <p:nvPr/>
            </p:nvSpPr>
            <p:spPr>
              <a:xfrm>
                <a:off x="7662600" y="40698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43;p2"/>
              <p:cNvSpPr/>
              <p:nvPr/>
            </p:nvSpPr>
            <p:spPr>
              <a:xfrm>
                <a:off x="7738560" y="39931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 name="Google Shape;44;p2"/>
              <p:cNvSpPr/>
              <p:nvPr/>
            </p:nvSpPr>
            <p:spPr>
              <a:xfrm>
                <a:off x="7815240" y="39164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6" name="Google Shape;45;p2"/>
            <p:cNvSpPr/>
            <p:nvPr/>
          </p:nvSpPr>
          <p:spPr>
            <a:xfrm>
              <a:off x="8506800" y="303984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37" name="Google Shape;46;p2"/>
            <p:cNvGrpSpPr/>
            <p:nvPr/>
          </p:nvGrpSpPr>
          <p:grpSpPr>
            <a:xfrm>
              <a:off x="8413920" y="3689280"/>
              <a:ext cx="699840" cy="1650600"/>
              <a:chOff x="8413920" y="3689280"/>
              <a:chExt cx="699840" cy="1650600"/>
            </a:xfrm>
          </p:grpSpPr>
          <p:sp>
            <p:nvSpPr>
              <p:cNvPr id="38" name="Google Shape;47;p2"/>
              <p:cNvSpPr/>
              <p:nvPr/>
            </p:nvSpPr>
            <p:spPr>
              <a:xfrm>
                <a:off x="8413920" y="368928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 name="Google Shape;48;p2"/>
              <p:cNvSpPr/>
              <p:nvPr/>
            </p:nvSpPr>
            <p:spPr>
              <a:xfrm>
                <a:off x="8774640" y="411336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 name="Google Shape;49;p2"/>
              <p:cNvSpPr/>
              <p:nvPr/>
            </p:nvSpPr>
            <p:spPr>
              <a:xfrm>
                <a:off x="8867160" y="402048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1" name="Google Shape;50;p2"/>
            <p:cNvGrpSpPr/>
            <p:nvPr/>
          </p:nvGrpSpPr>
          <p:grpSpPr>
            <a:xfrm>
              <a:off x="8021520" y="4498560"/>
              <a:ext cx="904320" cy="725760"/>
              <a:chOff x="8021520" y="4498560"/>
              <a:chExt cx="904320" cy="725760"/>
            </a:xfrm>
          </p:grpSpPr>
          <p:sp>
            <p:nvSpPr>
              <p:cNvPr id="42" name="Google Shape;51;p2"/>
              <p:cNvSpPr/>
              <p:nvPr/>
            </p:nvSpPr>
            <p:spPr>
              <a:xfrm>
                <a:off x="8253000" y="464184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52;p2"/>
              <p:cNvSpPr/>
              <p:nvPr/>
            </p:nvSpPr>
            <p:spPr>
              <a:xfrm>
                <a:off x="8240400" y="4498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53;p2"/>
              <p:cNvSpPr/>
              <p:nvPr/>
            </p:nvSpPr>
            <p:spPr>
              <a:xfrm>
                <a:off x="8021520" y="46418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45" name="PlaceHolder 1"/>
          <p:cNvSpPr>
            <a:spLocks noGrp="1"/>
          </p:cNvSpPr>
          <p:nvPr>
            <p:ph type="title"/>
          </p:nvPr>
        </p:nvSpPr>
        <p:spPr>
          <a:xfrm>
            <a:off x="1096920" y="816480"/>
            <a:ext cx="6974280" cy="2326320"/>
          </a:xfrm>
          <a:prstGeom prst="rect">
            <a:avLst/>
          </a:prstGeom>
          <a:noFill/>
          <a:ln w="0">
            <a:noFill/>
          </a:ln>
        </p:spPr>
        <p:txBody>
          <a:bodyPr lIns="91440" tIns="91440" rIns="91440" bIns="91440" anchor="b">
            <a:noAutofit/>
          </a:bodyPr>
          <a:lstStyle/>
          <a:p>
            <a:pPr indent="0">
              <a:buNone/>
            </a:pPr>
            <a:r>
              <a:rPr lang="fr-FR" sz="4500" b="0" strike="noStrike" spc="-1">
                <a:solidFill>
                  <a:schemeClr val="dk1"/>
                </a:solidFill>
                <a:latin typeface="Arial"/>
              </a:rPr>
              <a:t>Click to edit the title text format</a:t>
            </a:r>
          </a:p>
        </p:txBody>
      </p:sp>
      <p:grpSp>
        <p:nvGrpSpPr>
          <p:cNvPr id="46" name="Google Shape;56;p2"/>
          <p:cNvGrpSpPr/>
          <p:nvPr/>
        </p:nvGrpSpPr>
        <p:grpSpPr>
          <a:xfrm>
            <a:off x="-309600" y="3618000"/>
            <a:ext cx="1447920" cy="2238120"/>
            <a:chOff x="-309600" y="3618000"/>
            <a:chExt cx="1447920" cy="2238120"/>
          </a:xfrm>
        </p:grpSpPr>
        <p:grpSp>
          <p:nvGrpSpPr>
            <p:cNvPr id="47" name="Google Shape;57;p2"/>
            <p:cNvGrpSpPr/>
            <p:nvPr/>
          </p:nvGrpSpPr>
          <p:grpSpPr>
            <a:xfrm>
              <a:off x="-276480" y="3870720"/>
              <a:ext cx="981360" cy="1985400"/>
              <a:chOff x="-276480" y="3870720"/>
              <a:chExt cx="981360" cy="1985400"/>
            </a:xfrm>
          </p:grpSpPr>
          <p:sp>
            <p:nvSpPr>
              <p:cNvPr id="48" name="Google Shape;58;p2"/>
              <p:cNvSpPr/>
              <p:nvPr/>
            </p:nvSpPr>
            <p:spPr>
              <a:xfrm rot="10800000">
                <a:off x="-276120" y="387072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 name="Google Shape;59;p2"/>
              <p:cNvSpPr/>
              <p:nvPr/>
            </p:nvSpPr>
            <p:spPr>
              <a:xfrm rot="10800000">
                <a:off x="-138960" y="387108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0" name="Google Shape;60;p2"/>
            <p:cNvGrpSpPr/>
            <p:nvPr/>
          </p:nvGrpSpPr>
          <p:grpSpPr>
            <a:xfrm>
              <a:off x="363240" y="4906800"/>
              <a:ext cx="699120" cy="478080"/>
              <a:chOff x="363240" y="4906800"/>
              <a:chExt cx="699120" cy="478080"/>
            </a:xfrm>
          </p:grpSpPr>
          <p:grpSp>
            <p:nvGrpSpPr>
              <p:cNvPr id="51" name="Google Shape;61;p2"/>
              <p:cNvGrpSpPr/>
              <p:nvPr/>
            </p:nvGrpSpPr>
            <p:grpSpPr>
              <a:xfrm>
                <a:off x="363240" y="4906800"/>
                <a:ext cx="478080" cy="478080"/>
                <a:chOff x="363240" y="4906800"/>
                <a:chExt cx="478080" cy="478080"/>
              </a:xfrm>
            </p:grpSpPr>
            <p:sp>
              <p:nvSpPr>
                <p:cNvPr id="52" name="Google Shape;62;p2"/>
                <p:cNvSpPr/>
                <p:nvPr/>
              </p:nvSpPr>
              <p:spPr>
                <a:xfrm rot="2700000">
                  <a:off x="429480" y="498024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53" name="Google Shape;63;p2"/>
                <p:cNvGrpSpPr/>
                <p:nvPr/>
              </p:nvGrpSpPr>
              <p:grpSpPr>
                <a:xfrm>
                  <a:off x="408240" y="5007600"/>
                  <a:ext cx="387360" cy="223200"/>
                  <a:chOff x="408240" y="5007600"/>
                  <a:chExt cx="387360" cy="223200"/>
                </a:xfrm>
              </p:grpSpPr>
              <p:sp>
                <p:nvSpPr>
                  <p:cNvPr id="54" name="Google Shape;64;p2"/>
                  <p:cNvSpPr/>
                  <p:nvPr/>
                </p:nvSpPr>
                <p:spPr>
                  <a:xfrm rot="2700000">
                    <a:off x="44100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 name="Google Shape;65;p2"/>
                  <p:cNvSpPr/>
                  <p:nvPr/>
                </p:nvSpPr>
                <p:spPr>
                  <a:xfrm rot="2700000">
                    <a:off x="48204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66;p2"/>
                  <p:cNvSpPr/>
                  <p:nvPr/>
                </p:nvSpPr>
                <p:spPr>
                  <a:xfrm rot="2700000">
                    <a:off x="52308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67;p2"/>
                  <p:cNvSpPr/>
                  <p:nvPr/>
                </p:nvSpPr>
                <p:spPr>
                  <a:xfrm rot="2700000">
                    <a:off x="56412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68;p2"/>
                  <p:cNvSpPr/>
                  <p:nvPr/>
                </p:nvSpPr>
                <p:spPr>
                  <a:xfrm rot="2700000">
                    <a:off x="60516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59" name="Google Shape;69;p2"/>
              <p:cNvSpPr/>
              <p:nvPr/>
            </p:nvSpPr>
            <p:spPr>
              <a:xfrm rot="18900000">
                <a:off x="694440" y="4986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0" name="Google Shape;70;p2"/>
            <p:cNvGrpSpPr/>
            <p:nvPr/>
          </p:nvGrpSpPr>
          <p:grpSpPr>
            <a:xfrm>
              <a:off x="-309600" y="3618000"/>
              <a:ext cx="1047240" cy="1350720"/>
              <a:chOff x="-309600" y="3618000"/>
              <a:chExt cx="1047240" cy="1350720"/>
            </a:xfrm>
          </p:grpSpPr>
          <p:sp>
            <p:nvSpPr>
              <p:cNvPr id="61" name="Google Shape;71;p2"/>
              <p:cNvSpPr/>
              <p:nvPr/>
            </p:nvSpPr>
            <p:spPr>
              <a:xfrm rot="13500000">
                <a:off x="37080" y="42714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 name="Google Shape;72;p2"/>
              <p:cNvSpPr/>
              <p:nvPr/>
            </p:nvSpPr>
            <p:spPr>
              <a:xfrm rot="13500000">
                <a:off x="-38880" y="40870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 name="Google Shape;73;p2"/>
              <p:cNvSpPr/>
              <p:nvPr/>
            </p:nvSpPr>
            <p:spPr>
              <a:xfrm rot="13500000">
                <a:off x="-115200" y="3923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 name="Google Shape;74;p2"/>
              <p:cNvSpPr/>
              <p:nvPr/>
            </p:nvSpPr>
            <p:spPr>
              <a:xfrm rot="13500000">
                <a:off x="-191160" y="3738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5" name="Google Shape;75;p2"/>
            <p:cNvGrpSpPr/>
            <p:nvPr/>
          </p:nvGrpSpPr>
          <p:grpSpPr>
            <a:xfrm>
              <a:off x="439200" y="4567320"/>
              <a:ext cx="699120" cy="478080"/>
              <a:chOff x="439200" y="4567320"/>
              <a:chExt cx="699120" cy="478080"/>
            </a:xfrm>
          </p:grpSpPr>
          <p:grpSp>
            <p:nvGrpSpPr>
              <p:cNvPr id="66" name="Google Shape;76;p2"/>
              <p:cNvGrpSpPr/>
              <p:nvPr/>
            </p:nvGrpSpPr>
            <p:grpSpPr>
              <a:xfrm>
                <a:off x="439200" y="4567320"/>
                <a:ext cx="478080" cy="478080"/>
                <a:chOff x="439200" y="4567320"/>
                <a:chExt cx="478080" cy="478080"/>
              </a:xfrm>
            </p:grpSpPr>
            <p:sp>
              <p:nvSpPr>
                <p:cNvPr id="67" name="Google Shape;77;p2"/>
                <p:cNvSpPr/>
                <p:nvPr/>
              </p:nvSpPr>
              <p:spPr>
                <a:xfrm rot="2700000">
                  <a:off x="505440" y="46407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68" name="Google Shape;78;p2"/>
                <p:cNvGrpSpPr/>
                <p:nvPr/>
              </p:nvGrpSpPr>
              <p:grpSpPr>
                <a:xfrm>
                  <a:off x="483840" y="4668120"/>
                  <a:ext cx="387360" cy="223200"/>
                  <a:chOff x="483840" y="4668120"/>
                  <a:chExt cx="387360" cy="223200"/>
                </a:xfrm>
              </p:grpSpPr>
              <p:sp>
                <p:nvSpPr>
                  <p:cNvPr id="69" name="Google Shape;79;p2"/>
                  <p:cNvSpPr/>
                  <p:nvPr/>
                </p:nvSpPr>
                <p:spPr>
                  <a:xfrm rot="2700000">
                    <a:off x="51660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 name="Google Shape;80;p2"/>
                  <p:cNvSpPr/>
                  <p:nvPr/>
                </p:nvSpPr>
                <p:spPr>
                  <a:xfrm rot="2700000">
                    <a:off x="55764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 name="Google Shape;81;p2"/>
                  <p:cNvSpPr/>
                  <p:nvPr/>
                </p:nvSpPr>
                <p:spPr>
                  <a:xfrm rot="2700000">
                    <a:off x="59904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 name="Google Shape;82;p2"/>
                  <p:cNvSpPr/>
                  <p:nvPr/>
                </p:nvSpPr>
                <p:spPr>
                  <a:xfrm rot="2700000">
                    <a:off x="63972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 name="Google Shape;83;p2"/>
                  <p:cNvSpPr/>
                  <p:nvPr/>
                </p:nvSpPr>
                <p:spPr>
                  <a:xfrm rot="2700000">
                    <a:off x="68076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74" name="Google Shape;84;p2"/>
              <p:cNvSpPr/>
              <p:nvPr/>
            </p:nvSpPr>
            <p:spPr>
              <a:xfrm rot="18900000">
                <a:off x="770400" y="464652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5" name="Google Shape;85;p2"/>
            <p:cNvGrpSpPr/>
            <p:nvPr/>
          </p:nvGrpSpPr>
          <p:grpSpPr>
            <a:xfrm>
              <a:off x="-64800" y="4623840"/>
              <a:ext cx="698760" cy="478080"/>
              <a:chOff x="-64800" y="4623840"/>
              <a:chExt cx="698760" cy="478080"/>
            </a:xfrm>
          </p:grpSpPr>
          <p:grpSp>
            <p:nvGrpSpPr>
              <p:cNvPr id="76" name="Google Shape;86;p2"/>
              <p:cNvGrpSpPr/>
              <p:nvPr/>
            </p:nvGrpSpPr>
            <p:grpSpPr>
              <a:xfrm>
                <a:off x="-64800" y="4623840"/>
                <a:ext cx="478080" cy="478080"/>
                <a:chOff x="-64800" y="4623840"/>
                <a:chExt cx="478080" cy="478080"/>
              </a:xfrm>
            </p:grpSpPr>
            <p:sp>
              <p:nvSpPr>
                <p:cNvPr id="77" name="Google Shape;87;p2"/>
                <p:cNvSpPr/>
                <p:nvPr/>
              </p:nvSpPr>
              <p:spPr>
                <a:xfrm rot="2700000">
                  <a:off x="1440" y="46972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78" name="Google Shape;88;p2"/>
                <p:cNvGrpSpPr/>
                <p:nvPr/>
              </p:nvGrpSpPr>
              <p:grpSpPr>
                <a:xfrm>
                  <a:off x="-20160" y="4724640"/>
                  <a:ext cx="387360" cy="223200"/>
                  <a:chOff x="-20160" y="4724640"/>
                  <a:chExt cx="387360" cy="223200"/>
                </a:xfrm>
              </p:grpSpPr>
              <p:sp>
                <p:nvSpPr>
                  <p:cNvPr id="79" name="Google Shape;89;p2"/>
                  <p:cNvSpPr/>
                  <p:nvPr/>
                </p:nvSpPr>
                <p:spPr>
                  <a:xfrm rot="2700000">
                    <a:off x="1224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 name="Google Shape;90;p2"/>
                  <p:cNvSpPr/>
                  <p:nvPr/>
                </p:nvSpPr>
                <p:spPr>
                  <a:xfrm rot="2700000">
                    <a:off x="5328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 name="Google Shape;91;p2"/>
                  <p:cNvSpPr/>
                  <p:nvPr/>
                </p:nvSpPr>
                <p:spPr>
                  <a:xfrm rot="2700000">
                    <a:off x="9432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 name="Google Shape;92;p2"/>
                  <p:cNvSpPr/>
                  <p:nvPr/>
                </p:nvSpPr>
                <p:spPr>
                  <a:xfrm rot="2700000">
                    <a:off x="13536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 name="Google Shape;93;p2"/>
                  <p:cNvSpPr/>
                  <p:nvPr/>
                </p:nvSpPr>
                <p:spPr>
                  <a:xfrm rot="2700000">
                    <a:off x="17640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84" name="Google Shape;94;p2"/>
              <p:cNvSpPr/>
              <p:nvPr/>
            </p:nvSpPr>
            <p:spPr>
              <a:xfrm rot="18900000">
                <a:off x="266040" y="470304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8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0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403" name="Google Shape;763;p19"/>
          <p:cNvGrpSpPr/>
          <p:nvPr/>
        </p:nvGrpSpPr>
        <p:grpSpPr>
          <a:xfrm>
            <a:off x="-96120" y="4888440"/>
            <a:ext cx="1590120" cy="87840"/>
            <a:chOff x="-96120" y="4888440"/>
            <a:chExt cx="1590120" cy="87840"/>
          </a:xfrm>
        </p:grpSpPr>
        <p:sp>
          <p:nvSpPr>
            <p:cNvPr id="404" name="Google Shape;764;p19"/>
            <p:cNvSpPr/>
            <p:nvPr/>
          </p:nvSpPr>
          <p:spPr>
            <a:xfrm rot="5400000">
              <a:off x="692640" y="40993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5" name="Google Shape;765;p19"/>
            <p:cNvSpPr/>
            <p:nvPr/>
          </p:nvSpPr>
          <p:spPr>
            <a:xfrm rot="5400000">
              <a:off x="692640" y="41749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06" name="Google Shape;766;p19"/>
          <p:cNvGrpSpPr/>
          <p:nvPr/>
        </p:nvGrpSpPr>
        <p:grpSpPr>
          <a:xfrm>
            <a:off x="6883560" y="1385640"/>
            <a:ext cx="4028040" cy="5283360"/>
            <a:chOff x="6883560" y="1385640"/>
            <a:chExt cx="4028040" cy="5283360"/>
          </a:xfrm>
        </p:grpSpPr>
        <p:sp>
          <p:nvSpPr>
            <p:cNvPr id="407" name="Google Shape;767;p19"/>
            <p:cNvSpPr/>
            <p:nvPr/>
          </p:nvSpPr>
          <p:spPr>
            <a:xfrm>
              <a:off x="6883560" y="140760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8" name="Google Shape;768;p19"/>
            <p:cNvSpPr/>
            <p:nvPr/>
          </p:nvSpPr>
          <p:spPr>
            <a:xfrm>
              <a:off x="7842240" y="138564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9" name="Google Shape;769;p19"/>
            <p:cNvSpPr/>
            <p:nvPr/>
          </p:nvSpPr>
          <p:spPr>
            <a:xfrm>
              <a:off x="7734240" y="2571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0" name="Google Shape;770;p19"/>
            <p:cNvSpPr/>
            <p:nvPr/>
          </p:nvSpPr>
          <p:spPr>
            <a:xfrm>
              <a:off x="7758720" y="155016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11" name="Google Shape;771;p19"/>
          <p:cNvGrpSpPr/>
          <p:nvPr/>
        </p:nvGrpSpPr>
        <p:grpSpPr>
          <a:xfrm>
            <a:off x="4597920" y="-1699200"/>
            <a:ext cx="5579640" cy="3202920"/>
            <a:chOff x="4597920" y="-1699200"/>
            <a:chExt cx="5579640" cy="3202920"/>
          </a:xfrm>
        </p:grpSpPr>
        <p:grpSp>
          <p:nvGrpSpPr>
            <p:cNvPr id="412" name="Google Shape;772;p19"/>
            <p:cNvGrpSpPr/>
            <p:nvPr/>
          </p:nvGrpSpPr>
          <p:grpSpPr>
            <a:xfrm>
              <a:off x="4696200" y="-306720"/>
              <a:ext cx="916200" cy="699840"/>
              <a:chOff x="4696200" y="-306720"/>
              <a:chExt cx="916200" cy="699840"/>
            </a:xfrm>
          </p:grpSpPr>
          <p:sp>
            <p:nvSpPr>
              <p:cNvPr id="413" name="Google Shape;773;p19"/>
              <p:cNvSpPr/>
              <p:nvPr/>
            </p:nvSpPr>
            <p:spPr>
              <a:xfrm>
                <a:off x="4899600" y="-2556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4" name="Google Shape;774;p19"/>
              <p:cNvSpPr/>
              <p:nvPr/>
            </p:nvSpPr>
            <p:spPr>
              <a:xfrm>
                <a:off x="4696200" y="-2671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5" name="Google Shape;775;p19"/>
              <p:cNvSpPr/>
              <p:nvPr/>
            </p:nvSpPr>
            <p:spPr>
              <a:xfrm>
                <a:off x="5128920" y="-3067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16" name="Google Shape;776;p19"/>
            <p:cNvPicPr/>
            <p:nvPr/>
          </p:nvPicPr>
          <p:blipFill>
            <a:blip r:embed="rId3"/>
            <a:srcRect l="16959" t="24713" r="7122" b="26173"/>
            <a:stretch/>
          </p:blipFill>
          <p:spPr>
            <a:xfrm>
              <a:off x="5980680" y="-1699200"/>
              <a:ext cx="4196880" cy="3202920"/>
            </a:xfrm>
            <a:prstGeom prst="rect">
              <a:avLst/>
            </a:prstGeom>
            <a:ln w="0">
              <a:noFill/>
            </a:ln>
          </p:spPr>
        </p:pic>
        <p:sp>
          <p:nvSpPr>
            <p:cNvPr id="417" name="Google Shape;777;p19"/>
            <p:cNvSpPr/>
            <p:nvPr/>
          </p:nvSpPr>
          <p:spPr>
            <a:xfrm rot="16200000">
              <a:off x="5359320" y="-12110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8" name="Google Shape;778;p19"/>
            <p:cNvSpPr/>
            <p:nvPr/>
          </p:nvSpPr>
          <p:spPr>
            <a:xfrm rot="16200000">
              <a:off x="5358600" y="-10515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419" name="Google Shape;779;p19"/>
            <p:cNvGrpSpPr/>
            <p:nvPr/>
          </p:nvGrpSpPr>
          <p:grpSpPr>
            <a:xfrm>
              <a:off x="8399520" y="57960"/>
              <a:ext cx="1493280" cy="87840"/>
              <a:chOff x="8399520" y="57960"/>
              <a:chExt cx="1493280" cy="87840"/>
            </a:xfrm>
          </p:grpSpPr>
          <p:sp>
            <p:nvSpPr>
              <p:cNvPr id="420" name="Google Shape;780;p19"/>
              <p:cNvSpPr/>
              <p:nvPr/>
            </p:nvSpPr>
            <p:spPr>
              <a:xfrm rot="16200000">
                <a:off x="9140040" y="-6066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1" name="Google Shape;781;p19"/>
              <p:cNvSpPr/>
              <p:nvPr/>
            </p:nvSpPr>
            <p:spPr>
              <a:xfrm rot="16200000">
                <a:off x="9140040" y="-6822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22" name="Google Shape;782;p19"/>
            <p:cNvGrpSpPr/>
            <p:nvPr/>
          </p:nvGrpSpPr>
          <p:grpSpPr>
            <a:xfrm>
              <a:off x="4695480" y="-185040"/>
              <a:ext cx="254520" cy="254880"/>
              <a:chOff x="4695480" y="-185040"/>
              <a:chExt cx="254520" cy="254880"/>
            </a:xfrm>
          </p:grpSpPr>
          <p:sp>
            <p:nvSpPr>
              <p:cNvPr id="423" name="Google Shape;783;p19"/>
              <p:cNvSpPr/>
              <p:nvPr/>
            </p:nvSpPr>
            <p:spPr>
              <a:xfrm>
                <a:off x="4695480" y="-18504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4" name="Google Shape;784;p19"/>
              <p:cNvSpPr/>
              <p:nvPr/>
            </p:nvSpPr>
            <p:spPr>
              <a:xfrm>
                <a:off x="4722840" y="-1576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5" name="Google Shape;785;p19"/>
              <p:cNvSpPr/>
              <p:nvPr/>
            </p:nvSpPr>
            <p:spPr>
              <a:xfrm>
                <a:off x="4750560" y="-129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6" name="Google Shape;786;p19"/>
              <p:cNvSpPr/>
              <p:nvPr/>
            </p:nvSpPr>
            <p:spPr>
              <a:xfrm>
                <a:off x="4777920" y="-102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7" name="Google Shape;787;p19"/>
              <p:cNvSpPr/>
              <p:nvPr/>
            </p:nvSpPr>
            <p:spPr>
              <a:xfrm>
                <a:off x="4805280" y="-74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8" name="Google Shape;788;p19"/>
              <p:cNvSpPr/>
              <p:nvPr/>
            </p:nvSpPr>
            <p:spPr>
              <a:xfrm>
                <a:off x="4833000" y="-47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9" name="Google Shape;789;p19"/>
              <p:cNvSpPr/>
              <p:nvPr/>
            </p:nvSpPr>
            <p:spPr>
              <a:xfrm>
                <a:off x="4860360" y="-19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30" name="Google Shape;790;p19"/>
            <p:cNvGrpSpPr/>
            <p:nvPr/>
          </p:nvGrpSpPr>
          <p:grpSpPr>
            <a:xfrm>
              <a:off x="4597920" y="-25560"/>
              <a:ext cx="254880" cy="254520"/>
              <a:chOff x="4597920" y="-25560"/>
              <a:chExt cx="254880" cy="254520"/>
            </a:xfrm>
          </p:grpSpPr>
          <p:sp>
            <p:nvSpPr>
              <p:cNvPr id="431" name="Google Shape;791;p19"/>
              <p:cNvSpPr/>
              <p:nvPr/>
            </p:nvSpPr>
            <p:spPr>
              <a:xfrm>
                <a:off x="4597920" y="-255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2" name="Google Shape;792;p19"/>
              <p:cNvSpPr/>
              <p:nvPr/>
            </p:nvSpPr>
            <p:spPr>
              <a:xfrm>
                <a:off x="4625280" y="1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3" name="Google Shape;793;p19"/>
              <p:cNvSpPr/>
              <p:nvPr/>
            </p:nvSpPr>
            <p:spPr>
              <a:xfrm>
                <a:off x="4653000" y="29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4" name="Google Shape;794;p19"/>
              <p:cNvSpPr/>
              <p:nvPr/>
            </p:nvSpPr>
            <p:spPr>
              <a:xfrm>
                <a:off x="4680360" y="56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5" name="Google Shape;795;p19"/>
              <p:cNvSpPr/>
              <p:nvPr/>
            </p:nvSpPr>
            <p:spPr>
              <a:xfrm>
                <a:off x="4708080" y="84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6" name="Google Shape;796;p19"/>
              <p:cNvSpPr/>
              <p:nvPr/>
            </p:nvSpPr>
            <p:spPr>
              <a:xfrm>
                <a:off x="4735800" y="111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7" name="Google Shape;797;p19"/>
              <p:cNvSpPr/>
              <p:nvPr/>
            </p:nvSpPr>
            <p:spPr>
              <a:xfrm>
                <a:off x="4763160" y="13932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43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ncrb.gov.in/crime-in-india-table-content.html" TargetMode="External"/><Relationship Id="rId2" Type="http://schemas.openxmlformats.org/officeDocument/2006/relationships/hyperlink" Target="https://dataunodc.un.org/dp-crime-violent-offence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6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5" name="PlaceHolder 2"/>
          <p:cNvSpPr>
            <a:spLocks noGrp="1"/>
          </p:cNvSpPr>
          <p:nvPr>
            <p:ph type="title"/>
          </p:nvPr>
        </p:nvSpPr>
        <p:spPr>
          <a:xfrm>
            <a:off x="962839" y="2018744"/>
            <a:ext cx="6991559" cy="1169552"/>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kumimoji="0" lang="en-IN" sz="2400" b="1" i="0" u="none" strike="noStrike" kern="1200" cap="none" spc="0" normalizeH="0" baseline="0" noProof="0" dirty="0">
                <a:ln>
                  <a:noFill/>
                </a:ln>
                <a:effectLst/>
                <a:uLnTx/>
                <a:uFillTx/>
                <a:latin typeface="Algerian" panose="04020705040A02060702" pitchFamily="82" charset="0"/>
                <a:ea typeface="Times New Roman" panose="02020603050405020304" pitchFamily="18" charset="0"/>
                <a:cs typeface="Times New Roman" panose="02020603050405020304" pitchFamily="18" charset="0"/>
              </a:rPr>
              <a:t>Rape Crime Statistics: A Comparative study Among three nations</a:t>
            </a:r>
            <a:br>
              <a:rPr lang="en-IN" sz="1600" b="1" dirty="0">
                <a:solidFill>
                  <a:schemeClr val="bg1">
                    <a:lumMod val="25000"/>
                  </a:schemeClr>
                </a:solidFill>
                <a:highlight>
                  <a:srgbClr val="C0C0C0"/>
                </a:highlight>
                <a:latin typeface="Algerian" panose="04020705040A02060702" pitchFamily="82" charset="0"/>
                <a:ea typeface="Times New Roman" panose="02020603050405020304" pitchFamily="18" charset="0"/>
                <a:cs typeface="Times New Roman" panose="02020603050405020304" pitchFamily="18" charset="0"/>
              </a:rPr>
            </a:br>
            <a:br>
              <a:rPr kumimoji="0" lang="en-US" sz="1400" b="1"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br>
            <a:br>
              <a:rPr kumimoji="0" lang="en-IN" sz="1300" b="0" i="0" u="none" strike="noStrike" kern="1200" cap="none" spc="0" normalizeH="0" baseline="0" noProof="0" dirty="0">
                <a:ln>
                  <a:noFill/>
                </a:ln>
                <a:effectLst/>
                <a:uLnTx/>
                <a:uFillTx/>
                <a:latin typeface="Calibri Light" panose="020F0302020204030204"/>
                <a:ea typeface="+mj-ea"/>
                <a:cs typeface="+mj-cs"/>
              </a:rPr>
            </a:br>
            <a:endParaRPr lang="fr-FR" sz="4500" b="0" strike="noStrike" spc="-1" dirty="0">
              <a:latin typeface="Arial"/>
            </a:endParaRPr>
          </a:p>
        </p:txBody>
      </p:sp>
      <p:grpSp>
        <p:nvGrpSpPr>
          <p:cNvPr id="1336" name="Google Shape;1432;p35"/>
          <p:cNvGrpSpPr/>
          <p:nvPr/>
        </p:nvGrpSpPr>
        <p:grpSpPr>
          <a:xfrm>
            <a:off x="3338828" y="4931910"/>
            <a:ext cx="3936600" cy="133560"/>
            <a:chOff x="1096560" y="3242880"/>
            <a:chExt cx="3936600" cy="133560"/>
          </a:xfrm>
        </p:grpSpPr>
        <p:cxnSp>
          <p:nvCxnSpPr>
            <p:cNvPr id="1337" name="Google Shape;1433;p35"/>
            <p:cNvCxnSpPr/>
            <p:nvPr/>
          </p:nvCxnSpPr>
          <p:spPr>
            <a:xfrm>
              <a:off x="1096560" y="3309840"/>
              <a:ext cx="3841200" cy="360"/>
            </a:xfrm>
            <a:prstGeom prst="straightConnector1">
              <a:avLst/>
            </a:prstGeom>
            <a:ln w="9525">
              <a:solidFill>
                <a:srgbClr val="0C0A9E"/>
              </a:solidFill>
              <a:round/>
            </a:ln>
          </p:spPr>
        </p:cxnSp>
        <p:grpSp>
          <p:nvGrpSpPr>
            <p:cNvPr id="1338" name="Google Shape;1434;p35"/>
            <p:cNvGrpSpPr/>
            <p:nvPr/>
          </p:nvGrpSpPr>
          <p:grpSpPr>
            <a:xfrm>
              <a:off x="4899600" y="3242880"/>
              <a:ext cx="133560" cy="133560"/>
              <a:chOff x="4899600" y="3242880"/>
              <a:chExt cx="133560" cy="133560"/>
            </a:xfrm>
          </p:grpSpPr>
          <p:sp>
            <p:nvSpPr>
              <p:cNvPr id="1339" name="Google Shape;1435;p35"/>
              <p:cNvSpPr/>
              <p:nvPr/>
            </p:nvSpPr>
            <p:spPr>
              <a:xfrm>
                <a:off x="4929480" y="32731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40" name="Google Shape;1436;p35"/>
              <p:cNvSpPr/>
              <p:nvPr/>
            </p:nvSpPr>
            <p:spPr>
              <a:xfrm>
                <a:off x="4899600" y="324288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1341" name="Google Shape;1437;p35"/>
          <p:cNvGrpSpPr/>
          <p:nvPr/>
        </p:nvGrpSpPr>
        <p:grpSpPr>
          <a:xfrm>
            <a:off x="8017920" y="-313560"/>
            <a:ext cx="133560" cy="1890360"/>
            <a:chOff x="8017920" y="-313560"/>
            <a:chExt cx="133560" cy="1890360"/>
          </a:xfrm>
        </p:grpSpPr>
        <p:sp>
          <p:nvSpPr>
            <p:cNvPr id="1342" name="Google Shape;1438;p35"/>
            <p:cNvSpPr/>
            <p:nvPr/>
          </p:nvSpPr>
          <p:spPr>
            <a:xfrm rot="5400000">
              <a:off x="8017920" y="144324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43" name="Google Shape;1439;p35"/>
            <p:cNvCxnSpPr/>
            <p:nvPr/>
          </p:nvCxnSpPr>
          <p:spPr>
            <a:xfrm>
              <a:off x="8084160" y="-313560"/>
              <a:ext cx="360" cy="1794960"/>
            </a:xfrm>
            <a:prstGeom prst="straightConnector1">
              <a:avLst/>
            </a:prstGeom>
            <a:ln w="9525">
              <a:solidFill>
                <a:srgbClr val="0C0A9E"/>
              </a:solidFill>
              <a:round/>
            </a:ln>
          </p:spPr>
        </p:cxnSp>
        <p:sp>
          <p:nvSpPr>
            <p:cNvPr id="1344" name="Google Shape;1440;p35"/>
            <p:cNvSpPr/>
            <p:nvPr/>
          </p:nvSpPr>
          <p:spPr>
            <a:xfrm rot="5400000">
              <a:off x="8047800" y="1473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1345" name="Google Shape;1441;p35"/>
          <p:cNvGrpSpPr/>
          <p:nvPr/>
        </p:nvGrpSpPr>
        <p:grpSpPr>
          <a:xfrm>
            <a:off x="6309360" y="957600"/>
            <a:ext cx="3504960" cy="5118840"/>
            <a:chOff x="6309360" y="957600"/>
            <a:chExt cx="3504960" cy="5118840"/>
          </a:xfrm>
        </p:grpSpPr>
        <p:sp>
          <p:nvSpPr>
            <p:cNvPr id="1346" name="Google Shape;1442;p35"/>
            <p:cNvSpPr/>
            <p:nvPr/>
          </p:nvSpPr>
          <p:spPr>
            <a:xfrm>
              <a:off x="6309360" y="9576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347" name="Google Shape;1443;p35"/>
            <p:cNvGrpSpPr/>
            <p:nvPr/>
          </p:nvGrpSpPr>
          <p:grpSpPr>
            <a:xfrm>
              <a:off x="7728480" y="3644640"/>
              <a:ext cx="133560" cy="133560"/>
              <a:chOff x="7728480" y="3644640"/>
              <a:chExt cx="133560" cy="133560"/>
            </a:xfrm>
          </p:grpSpPr>
          <p:sp>
            <p:nvSpPr>
              <p:cNvPr id="1348" name="Google Shape;1444;p35"/>
              <p:cNvSpPr/>
              <p:nvPr/>
            </p:nvSpPr>
            <p:spPr>
              <a:xfrm>
                <a:off x="7728480" y="36446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9" name="Google Shape;1445;p35"/>
              <p:cNvSpPr/>
              <p:nvPr/>
            </p:nvSpPr>
            <p:spPr>
              <a:xfrm>
                <a:off x="7747200" y="366336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50" name="Google Shape;1446;p35"/>
            <p:cNvGrpSpPr/>
            <p:nvPr/>
          </p:nvGrpSpPr>
          <p:grpSpPr>
            <a:xfrm>
              <a:off x="7344360" y="3270960"/>
              <a:ext cx="133560" cy="133560"/>
              <a:chOff x="7344360" y="3270960"/>
              <a:chExt cx="133560" cy="133560"/>
            </a:xfrm>
          </p:grpSpPr>
          <p:sp>
            <p:nvSpPr>
              <p:cNvPr id="1351" name="Google Shape;1447;p35"/>
              <p:cNvSpPr/>
              <p:nvPr/>
            </p:nvSpPr>
            <p:spPr>
              <a:xfrm>
                <a:off x="7344360" y="327096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2" name="Google Shape;1448;p35"/>
              <p:cNvSpPr/>
              <p:nvPr/>
            </p:nvSpPr>
            <p:spPr>
              <a:xfrm>
                <a:off x="7363440" y="32896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53" name="Google Shape;1449;p35"/>
            <p:cNvGrpSpPr/>
            <p:nvPr/>
          </p:nvGrpSpPr>
          <p:grpSpPr>
            <a:xfrm>
              <a:off x="8337960" y="2584440"/>
              <a:ext cx="133560" cy="133560"/>
              <a:chOff x="8337960" y="2584440"/>
              <a:chExt cx="133560" cy="133560"/>
            </a:xfrm>
          </p:grpSpPr>
          <p:sp>
            <p:nvSpPr>
              <p:cNvPr id="1354" name="Google Shape;1450;p35"/>
              <p:cNvSpPr/>
              <p:nvPr/>
            </p:nvSpPr>
            <p:spPr>
              <a:xfrm>
                <a:off x="8337960" y="25844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5" name="Google Shape;1451;p35"/>
              <p:cNvSpPr/>
              <p:nvPr/>
            </p:nvSpPr>
            <p:spPr>
              <a:xfrm>
                <a:off x="8356680" y="26035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56" name="Google Shape;1452;p35"/>
            <p:cNvSpPr/>
            <p:nvPr/>
          </p:nvSpPr>
          <p:spPr>
            <a:xfrm rot="5400000">
              <a:off x="7687440" y="114336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 name="Title 4">
            <a:extLst>
              <a:ext uri="{FF2B5EF4-FFF2-40B4-BE49-F238E27FC236}">
                <a16:creationId xmlns:a16="http://schemas.microsoft.com/office/drawing/2014/main" id="{C70A01B6-F376-CE41-9EBF-151C8C96ECD7}"/>
              </a:ext>
            </a:extLst>
          </p:cNvPr>
          <p:cNvSpPr>
            <a:spLocks noGrp="1"/>
          </p:cNvSpPr>
          <p:nvPr>
            <p:ph type="title"/>
          </p:nvPr>
        </p:nvSpPr>
        <p:spPr>
          <a:xfrm>
            <a:off x="9814140" y="1802250"/>
            <a:ext cx="45719" cy="978840"/>
          </a:xfrm>
        </p:spPr>
        <p:txBody>
          <a:bodyPr/>
          <a:lstStyle/>
          <a:p>
            <a:endParaRPr lang="en-IN" dirty="0"/>
          </a:p>
        </p:txBody>
      </p:sp>
      <p:sp>
        <p:nvSpPr>
          <p:cNvPr id="4" name="TextBox 3">
            <a:extLst>
              <a:ext uri="{FF2B5EF4-FFF2-40B4-BE49-F238E27FC236}">
                <a16:creationId xmlns:a16="http://schemas.microsoft.com/office/drawing/2014/main" id="{9789D628-00FF-A24A-A380-C55CA2132D5E}"/>
              </a:ext>
            </a:extLst>
          </p:cNvPr>
          <p:cNvSpPr txBox="1"/>
          <p:nvPr/>
        </p:nvSpPr>
        <p:spPr>
          <a:xfrm>
            <a:off x="1047680" y="3385440"/>
            <a:ext cx="6906718" cy="1169551"/>
          </a:xfrm>
          <a:prstGeom prst="rect">
            <a:avLst/>
          </a:prstGeom>
          <a:noFill/>
        </p:spPr>
        <p:txBody>
          <a:bodyPr wrap="square">
            <a:spAutoFit/>
          </a:bodyPr>
          <a:lstStyle/>
          <a:p>
            <a:pPr algn="ctr"/>
            <a:r>
              <a:rPr kumimoji="0" lang="en-IN" sz="1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MANJIMA RIT</a:t>
            </a:r>
            <a:br>
              <a:rPr kumimoji="0" lang="en-IN" sz="1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br>
            <a:r>
              <a:rPr kumimoji="0" lang="en-IN" sz="1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Enrolment No – 2212209001006</a:t>
            </a:r>
            <a:br>
              <a:rPr kumimoji="0" lang="en-IN" sz="1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br>
            <a:r>
              <a:rPr kumimoji="0" lang="en-IN" sz="1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Registration No – </a:t>
            </a:r>
            <a:r>
              <a:rPr kumimoji="0" lang="en-IN" sz="1400" b="0" i="0" u="none" strike="noStrike" kern="1200" cap="none" spc="0" normalizeH="0" baseline="0" noProof="0" dirty="0">
                <a:ln>
                  <a:noFill/>
                </a:ln>
                <a:effectLst/>
                <a:uLnTx/>
                <a:uFillTx/>
                <a:latin typeface="Times New Roman" panose="02020603050405020304" pitchFamily="18" charset="0"/>
                <a:ea typeface="Times New Roman" panose="02020603050405020304" pitchFamily="18" charset="0"/>
                <a:cs typeface="Times New Roman" panose="02020603050405020304" pitchFamily="18" charset="0"/>
              </a:rPr>
              <a:t>220010044170</a:t>
            </a:r>
          </a:p>
          <a:p>
            <a:pPr algn="ctr"/>
            <a:r>
              <a:rPr lang="en-IN" sz="1400" dirty="0">
                <a:latin typeface="Times New Roman" panose="02020603050405020304" pitchFamily="18" charset="0"/>
                <a:cs typeface="Times New Roman" panose="02020603050405020304" pitchFamily="18" charset="0"/>
              </a:rPr>
              <a:t>UG SEMESTER – VI, DEPARTMENT OF STATISTICS, </a:t>
            </a:r>
          </a:p>
          <a:p>
            <a:pPr algn="ctr"/>
            <a:r>
              <a:rPr lang="en-IN" sz="1400" dirty="0">
                <a:latin typeface="Times New Roman" panose="02020603050405020304" pitchFamily="18" charset="0"/>
                <a:cs typeface="Times New Roman" panose="02020603050405020304" pitchFamily="18" charset="0"/>
              </a:rPr>
              <a:t>SISTER NIVEDITA UNIVERSITY</a:t>
            </a:r>
            <a:endParaRPr lang="en-IN"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E384-4CBF-0AC7-C1F0-7BC833E3E4A4}"/>
              </a:ext>
            </a:extLst>
          </p:cNvPr>
          <p:cNvSpPr>
            <a:spLocks noGrp="1"/>
          </p:cNvSpPr>
          <p:nvPr>
            <p:ph type="title"/>
          </p:nvPr>
        </p:nvSpPr>
        <p:spPr>
          <a:xfrm>
            <a:off x="9735735" y="1746319"/>
            <a:ext cx="45719" cy="462420"/>
          </a:xfrm>
        </p:spPr>
        <p:txBody>
          <a:bodyPr/>
          <a:lstStyle/>
          <a:p>
            <a:endParaRPr lang="en-IN" dirty="0"/>
          </a:p>
        </p:txBody>
      </p:sp>
      <p:sp>
        <p:nvSpPr>
          <p:cNvPr id="3" name="Subtitle 2">
            <a:extLst>
              <a:ext uri="{FF2B5EF4-FFF2-40B4-BE49-F238E27FC236}">
                <a16:creationId xmlns:a16="http://schemas.microsoft.com/office/drawing/2014/main" id="{C8579E65-91BF-5867-50A6-C7194DBAE84C}"/>
              </a:ext>
            </a:extLst>
          </p:cNvPr>
          <p:cNvSpPr>
            <a:spLocks noGrp="1"/>
          </p:cNvSpPr>
          <p:nvPr>
            <p:ph type="subTitle"/>
          </p:nvPr>
        </p:nvSpPr>
        <p:spPr>
          <a:xfrm>
            <a:off x="9758595" y="3290340"/>
            <a:ext cx="45719" cy="896099"/>
          </a:xfrm>
        </p:spPr>
        <p:txBody>
          <a:bodyPr/>
          <a:lstStyle/>
          <a:p>
            <a:endParaRPr lang="en-IN" dirty="0"/>
          </a:p>
        </p:txBody>
      </p:sp>
      <p:sp>
        <p:nvSpPr>
          <p:cNvPr id="5" name="TextBox 4">
            <a:extLst>
              <a:ext uri="{FF2B5EF4-FFF2-40B4-BE49-F238E27FC236}">
                <a16:creationId xmlns:a16="http://schemas.microsoft.com/office/drawing/2014/main" id="{FCB758A4-9011-BBF2-8B86-7A96157AF715}"/>
              </a:ext>
            </a:extLst>
          </p:cNvPr>
          <p:cNvSpPr txBox="1"/>
          <p:nvPr/>
        </p:nvSpPr>
        <p:spPr>
          <a:xfrm>
            <a:off x="299055" y="495878"/>
            <a:ext cx="6783048" cy="400110"/>
          </a:xfrm>
          <a:prstGeom prst="rect">
            <a:avLst/>
          </a:prstGeom>
          <a:noFill/>
        </p:spPr>
        <p:txBody>
          <a:bodyPr wrap="square">
            <a:spAutoFit/>
          </a:bodyPr>
          <a:lstStyle/>
          <a:p>
            <a:r>
              <a:rPr lang="en" sz="2000" b="1" spc="-1" dirty="0">
                <a:solidFill>
                  <a:srgbClr val="1D1D1D"/>
                </a:solidFill>
                <a:latin typeface="IBM Plex Mono"/>
                <a:ea typeface="+mj-ea"/>
                <a:cs typeface="+mj-cs"/>
              </a:rPr>
              <a:t>CONTENTS</a:t>
            </a:r>
            <a:endParaRPr lang="en-IN" sz="1600" dirty="0"/>
          </a:p>
        </p:txBody>
      </p:sp>
      <p:sp>
        <p:nvSpPr>
          <p:cNvPr id="6" name="Rectangle 5">
            <a:extLst>
              <a:ext uri="{FF2B5EF4-FFF2-40B4-BE49-F238E27FC236}">
                <a16:creationId xmlns:a16="http://schemas.microsoft.com/office/drawing/2014/main" id="{0802E853-6BF7-C455-7048-94EBE7ACCE94}"/>
              </a:ext>
            </a:extLst>
          </p:cNvPr>
          <p:cNvSpPr/>
          <p:nvPr/>
        </p:nvSpPr>
        <p:spPr>
          <a:xfrm>
            <a:off x="299055" y="1154242"/>
            <a:ext cx="4834328" cy="257830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a:solidFill>
                  <a:schemeClr val="tx1"/>
                </a:solidFill>
              </a:rPr>
              <a:t>ABSTRACT</a:t>
            </a:r>
          </a:p>
          <a:p>
            <a:pPr marL="285750" indent="-285750">
              <a:buFont typeface="Arial" panose="020B0604020202020204" pitchFamily="34" charset="0"/>
              <a:buChar char="•"/>
            </a:pPr>
            <a:r>
              <a:rPr lang="en-IN" dirty="0">
                <a:solidFill>
                  <a:schemeClr val="tx1"/>
                </a:solidFill>
              </a:rPr>
              <a:t>INTRODUCTION</a:t>
            </a:r>
          </a:p>
          <a:p>
            <a:pPr marL="285750" indent="-285750">
              <a:buFont typeface="Arial" panose="020B0604020202020204" pitchFamily="34" charset="0"/>
              <a:buChar char="•"/>
            </a:pPr>
            <a:r>
              <a:rPr lang="en-IN" dirty="0">
                <a:solidFill>
                  <a:schemeClr val="tx1"/>
                </a:solidFill>
              </a:rPr>
              <a:t>OBJCTIVES</a:t>
            </a:r>
          </a:p>
          <a:p>
            <a:pPr marL="285750" indent="-285750">
              <a:buFont typeface="Arial" panose="020B0604020202020204" pitchFamily="34" charset="0"/>
              <a:buChar char="•"/>
            </a:pPr>
            <a:r>
              <a:rPr lang="en-IN" dirty="0">
                <a:solidFill>
                  <a:schemeClr val="tx1"/>
                </a:solidFill>
              </a:rPr>
              <a:t>METHODOLOGY</a:t>
            </a:r>
          </a:p>
          <a:p>
            <a:pPr marL="285750" indent="-285750">
              <a:buFont typeface="Arial" panose="020B0604020202020204" pitchFamily="34" charset="0"/>
              <a:buChar char="•"/>
            </a:pPr>
            <a:r>
              <a:rPr lang="en-IN" dirty="0">
                <a:solidFill>
                  <a:schemeClr val="tx1"/>
                </a:solidFill>
              </a:rPr>
              <a:t>STUDY AREA</a:t>
            </a:r>
          </a:p>
          <a:p>
            <a:pPr marL="285750" indent="-285750">
              <a:buFont typeface="Arial" panose="020B0604020202020204" pitchFamily="34" charset="0"/>
              <a:buChar char="•"/>
            </a:pPr>
            <a:r>
              <a:rPr lang="en-IN" dirty="0">
                <a:solidFill>
                  <a:schemeClr val="tx1"/>
                </a:solidFill>
              </a:rPr>
              <a:t>CONCLUSION</a:t>
            </a:r>
          </a:p>
          <a:p>
            <a:pPr marL="285750" indent="-285750">
              <a:buFont typeface="Arial" panose="020B0604020202020204" pitchFamily="34" charset="0"/>
              <a:buChar char="•"/>
            </a:pPr>
            <a:r>
              <a:rPr lang="en-IN" dirty="0">
                <a:solidFill>
                  <a:schemeClr val="tx1"/>
                </a:solidFill>
              </a:rPr>
              <a:t>LIMITATIONS</a:t>
            </a:r>
          </a:p>
          <a:p>
            <a:pPr marL="285750" indent="-285750">
              <a:buFont typeface="Arial" panose="020B0604020202020204" pitchFamily="34" charset="0"/>
              <a:buChar char="•"/>
            </a:pPr>
            <a:r>
              <a:rPr lang="en-IN" dirty="0">
                <a:solidFill>
                  <a:schemeClr val="tx1"/>
                </a:solidFill>
              </a:rPr>
              <a:t>REFERENCES</a:t>
            </a:r>
          </a:p>
        </p:txBody>
      </p:sp>
    </p:spTree>
    <p:extLst>
      <p:ext uri="{BB962C8B-B14F-4D97-AF65-F5344CB8AC3E}">
        <p14:creationId xmlns:p14="http://schemas.microsoft.com/office/powerpoint/2010/main" val="3370200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 name="PlaceHolder 1"/>
          <p:cNvSpPr>
            <a:spLocks noGrp="1"/>
          </p:cNvSpPr>
          <p:nvPr>
            <p:ph type="title"/>
          </p:nvPr>
        </p:nvSpPr>
        <p:spPr>
          <a:xfrm>
            <a:off x="123840" y="501828"/>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400" b="1" spc="-1" dirty="0">
                <a:latin typeface="IBM Plex Mono"/>
              </a:rPr>
              <a:t>ABSTRACT</a:t>
            </a:r>
            <a:endParaRPr lang="fr-FR" sz="2400" b="0" strike="noStrike" spc="-1" dirty="0">
              <a:latin typeface="Arial"/>
            </a:endParaRPr>
          </a:p>
        </p:txBody>
      </p:sp>
      <p:sp>
        <p:nvSpPr>
          <p:cNvPr id="1358" name="PlaceHolder 2"/>
          <p:cNvSpPr>
            <a:spLocks noGrp="1"/>
          </p:cNvSpPr>
          <p:nvPr>
            <p:ph type="subTitle"/>
          </p:nvPr>
        </p:nvSpPr>
        <p:spPr>
          <a:xfrm>
            <a:off x="10128143" y="1755476"/>
            <a:ext cx="112948" cy="1464004"/>
          </a:xfrm>
          <a:prstGeom prst="rect">
            <a:avLst/>
          </a:prstGeom>
          <a:noFill/>
          <a:ln w="0">
            <a:noFill/>
          </a:ln>
        </p:spPr>
        <p:txBody>
          <a:bodyPr lIns="91440" tIns="91440" rIns="91440" bIns="91440" anchor="t">
            <a:normAutofit/>
          </a:bodyPr>
          <a:lstStyle/>
          <a:p>
            <a:pPr indent="0">
              <a:lnSpc>
                <a:spcPct val="100000"/>
              </a:lnSpc>
              <a:buNone/>
              <a:tabLst>
                <a:tab pos="0" algn="l"/>
              </a:tabLst>
            </a:pPr>
            <a:endParaRPr lang="en-US" sz="1400" b="0" strike="noStrike" spc="-1" dirty="0">
              <a:solidFill>
                <a:srgbClr val="000000"/>
              </a:solidFill>
              <a:latin typeface="OpenSymbol"/>
            </a:endParaRPr>
          </a:p>
        </p:txBody>
      </p:sp>
      <p:sp>
        <p:nvSpPr>
          <p:cNvPr id="1359" name="PlaceHolder 3"/>
          <p:cNvSpPr>
            <a:spLocks noGrp="1"/>
          </p:cNvSpPr>
          <p:nvPr>
            <p:ph type="subTitle"/>
          </p:nvPr>
        </p:nvSpPr>
        <p:spPr>
          <a:xfrm>
            <a:off x="9725186" y="3091680"/>
            <a:ext cx="1547127" cy="2181240"/>
          </a:xfrm>
          <a:prstGeom prst="rect">
            <a:avLst/>
          </a:prstGeom>
          <a:noFill/>
          <a:ln w="0">
            <a:noFill/>
          </a:ln>
        </p:spPr>
        <p:txBody>
          <a:bodyPr lIns="91440" tIns="91440" rIns="91440" bIns="91440" anchor="t">
            <a:normAutofit/>
          </a:bodyPr>
          <a:lstStyle/>
          <a:p>
            <a:pPr indent="0">
              <a:lnSpc>
                <a:spcPct val="100000"/>
              </a:lnSpc>
              <a:buNone/>
              <a:tabLst>
                <a:tab pos="0" algn="l"/>
              </a:tabLst>
            </a:pPr>
            <a:endParaRPr lang="en-US" sz="1400" b="0" strike="noStrike" spc="-1" dirty="0">
              <a:solidFill>
                <a:srgbClr val="000000"/>
              </a:solidFill>
              <a:latin typeface="OpenSymbol"/>
            </a:endParaRPr>
          </a:p>
        </p:txBody>
      </p:sp>
      <p:grpSp>
        <p:nvGrpSpPr>
          <p:cNvPr id="1360" name="Google Shape;1533;p39"/>
          <p:cNvGrpSpPr/>
          <p:nvPr/>
        </p:nvGrpSpPr>
        <p:grpSpPr>
          <a:xfrm>
            <a:off x="0" y="12228"/>
            <a:ext cx="4558680" cy="1140480"/>
            <a:chOff x="-123840" y="4132440"/>
            <a:chExt cx="4558680" cy="1140480"/>
          </a:xfrm>
        </p:grpSpPr>
        <p:grpSp>
          <p:nvGrpSpPr>
            <p:cNvPr id="1361" name="Google Shape;1534;p39"/>
            <p:cNvGrpSpPr/>
            <p:nvPr/>
          </p:nvGrpSpPr>
          <p:grpSpPr>
            <a:xfrm>
              <a:off x="360" y="4132440"/>
              <a:ext cx="2307960" cy="1140480"/>
              <a:chOff x="360" y="4132440"/>
              <a:chExt cx="2307960" cy="1140480"/>
            </a:xfrm>
          </p:grpSpPr>
          <p:sp>
            <p:nvSpPr>
              <p:cNvPr id="1362"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3"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64" name="Google Shape;1537;p39"/>
            <p:cNvGrpSpPr/>
            <p:nvPr/>
          </p:nvGrpSpPr>
          <p:grpSpPr>
            <a:xfrm>
              <a:off x="-123840" y="4386240"/>
              <a:ext cx="4558680" cy="133920"/>
              <a:chOff x="-123840" y="4386240"/>
              <a:chExt cx="4558680" cy="133920"/>
            </a:xfrm>
          </p:grpSpPr>
          <p:sp>
            <p:nvSpPr>
              <p:cNvPr id="1365"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66" name="Google Shape;1539;p39"/>
              <p:cNvCxnSpPr/>
              <p:nvPr/>
            </p:nvCxnSpPr>
            <p:spPr>
              <a:xfrm>
                <a:off x="-123840" y="4453200"/>
                <a:ext cx="4462920" cy="360"/>
              </a:xfrm>
              <a:prstGeom prst="straightConnector1">
                <a:avLst/>
              </a:prstGeom>
              <a:ln w="9525">
                <a:solidFill>
                  <a:srgbClr val="0C0A9E"/>
                </a:solidFill>
                <a:round/>
              </a:ln>
            </p:spPr>
          </p:cxnSp>
          <p:sp>
            <p:nvSpPr>
              <p:cNvPr id="1367"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
        <p:nvSpPr>
          <p:cNvPr id="3" name="TextBox 2">
            <a:extLst>
              <a:ext uri="{FF2B5EF4-FFF2-40B4-BE49-F238E27FC236}">
                <a16:creationId xmlns:a16="http://schemas.microsoft.com/office/drawing/2014/main" id="{98763A62-F526-CFFE-54EA-506F67F2CFD0}"/>
              </a:ext>
            </a:extLst>
          </p:cNvPr>
          <p:cNvSpPr txBox="1"/>
          <p:nvPr/>
        </p:nvSpPr>
        <p:spPr>
          <a:xfrm>
            <a:off x="-139486" y="1254588"/>
            <a:ext cx="7968765" cy="2554545"/>
          </a:xfrm>
          <a:prstGeom prst="rect">
            <a:avLst/>
          </a:prstGeom>
          <a:noFill/>
        </p:spPr>
        <p:txBody>
          <a:bodyPr wrap="square">
            <a:spAutoFit/>
          </a:bodyPr>
          <a:lstStyle/>
          <a:p>
            <a:pPr marL="400050" indent="-171450">
              <a:lnSpc>
                <a:spcPct val="100000"/>
              </a:lnSpc>
              <a:buFont typeface="Arial" panose="020B0604020202020204" pitchFamily="34" charset="0"/>
              <a:buChar char="•"/>
              <a:tabLst>
                <a:tab pos="0" algn="l"/>
              </a:tabLst>
            </a:pPr>
            <a:r>
              <a:rPr lang="en-US" sz="1600" b="1" strike="noStrike" spc="-1" dirty="0"/>
              <a:t>Aims:</a:t>
            </a:r>
            <a:r>
              <a:rPr lang="en-US" sz="1600" b="0" strike="noStrike" spc="-1" dirty="0"/>
              <a:t> This project aims to fit time series model and forecast the rape crime rates against women of three diverse countries namely India, Germany and Kenya</a:t>
            </a:r>
            <a:r>
              <a:rPr lang="en-US" sz="1600" spc="-1" dirty="0"/>
              <a:t> and w</a:t>
            </a:r>
            <a:r>
              <a:rPr lang="en-US" sz="1600" b="0" strike="noStrike" spc="-1" dirty="0"/>
              <a:t>ithin, India </a:t>
            </a:r>
            <a:r>
              <a:rPr lang="en-US" sz="1600" spc="-1" dirty="0"/>
              <a:t>its top 10 states and union territories which leads the rape crime rate.</a:t>
            </a:r>
            <a:endParaRPr lang="en-US" sz="1600" b="0" strike="noStrike" spc="-1" dirty="0"/>
          </a:p>
          <a:p>
            <a:pPr marL="400050" indent="-171450">
              <a:lnSpc>
                <a:spcPct val="100000"/>
              </a:lnSpc>
              <a:buFont typeface="Arial" panose="020B0604020202020204" pitchFamily="34" charset="0"/>
              <a:buChar char="•"/>
              <a:tabLst>
                <a:tab pos="0" algn="l"/>
              </a:tabLst>
            </a:pPr>
            <a:r>
              <a:rPr lang="en-US" sz="1600" b="0" strike="noStrike" spc="-1" dirty="0"/>
              <a:t>The project begins with collecting of historical reported rape crime rates from national crime websites and international reports.</a:t>
            </a:r>
          </a:p>
          <a:p>
            <a:pPr marL="400050" indent="-171450">
              <a:lnSpc>
                <a:spcPct val="100000"/>
              </a:lnSpc>
              <a:buFont typeface="Arial" panose="020B0604020202020204" pitchFamily="34" charset="0"/>
              <a:buChar char="•"/>
              <a:tabLst>
                <a:tab pos="0" algn="l"/>
              </a:tabLst>
            </a:pPr>
            <a:r>
              <a:rPr lang="en-US" sz="1600" b="1" strike="noStrike" spc="-1" dirty="0"/>
              <a:t>Fundamental analysis techniques: </a:t>
            </a:r>
            <a:r>
              <a:rPr lang="en-US" sz="1600" b="0" strike="noStrike" spc="-1" dirty="0"/>
              <a:t>Quality of the data has been checked, presence of missing-values and outliers are taken into concern. Graphs and heatmaps has been used for clear and easy data analysis.</a:t>
            </a:r>
          </a:p>
          <a:p>
            <a:pPr marL="400050" indent="-171450">
              <a:lnSpc>
                <a:spcPct val="100000"/>
              </a:lnSpc>
              <a:buFont typeface="Arial" panose="020B0604020202020204" pitchFamily="34" charset="0"/>
              <a:buChar char="•"/>
              <a:tabLst>
                <a:tab pos="0" algn="l"/>
              </a:tabLst>
            </a:pPr>
            <a:r>
              <a:rPr lang="en-US" sz="1600" b="1" strike="noStrike" spc="-1" dirty="0"/>
              <a:t>Forecasting analysis: </a:t>
            </a:r>
            <a:r>
              <a:rPr lang="en-US" sz="1600" b="0" strike="noStrike" spc="-1" dirty="0"/>
              <a:t>For time series analysis Arima model and R-programming are used.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945295-4440-0863-85A9-FA4BC451E9B2}"/>
              </a:ext>
            </a:extLst>
          </p:cNvPr>
          <p:cNvSpPr txBox="1"/>
          <p:nvPr/>
        </p:nvSpPr>
        <p:spPr>
          <a:xfrm>
            <a:off x="124200" y="504934"/>
            <a:ext cx="5501898" cy="461665"/>
          </a:xfrm>
          <a:prstGeom prst="rect">
            <a:avLst/>
          </a:prstGeom>
          <a:noFill/>
        </p:spPr>
        <p:txBody>
          <a:bodyPr wrap="square">
            <a:spAutoFit/>
          </a:bodyPr>
          <a:lstStyle/>
          <a:p>
            <a:r>
              <a:rPr lang="en-IN" sz="2400" b="1" dirty="0">
                <a:latin typeface="IBM Plex Mono" panose="020B0509050203000203" pitchFamily="49" charset="0"/>
              </a:rPr>
              <a:t>INTRODUCTION</a:t>
            </a:r>
          </a:p>
        </p:txBody>
      </p:sp>
      <p:grpSp>
        <p:nvGrpSpPr>
          <p:cNvPr id="5" name="Google Shape;1533;p39">
            <a:extLst>
              <a:ext uri="{FF2B5EF4-FFF2-40B4-BE49-F238E27FC236}">
                <a16:creationId xmlns:a16="http://schemas.microsoft.com/office/drawing/2014/main" id="{43FEF0B3-3CAB-A5F4-8572-B8A24A77FA83}"/>
              </a:ext>
            </a:extLst>
          </p:cNvPr>
          <p:cNvGrpSpPr/>
          <p:nvPr/>
        </p:nvGrpSpPr>
        <p:grpSpPr>
          <a:xfrm>
            <a:off x="0" y="14254"/>
            <a:ext cx="4558680" cy="1140480"/>
            <a:chOff x="-123840" y="4132440"/>
            <a:chExt cx="4558680" cy="1140480"/>
          </a:xfrm>
        </p:grpSpPr>
        <p:grpSp>
          <p:nvGrpSpPr>
            <p:cNvPr id="6" name="Google Shape;1534;p39">
              <a:extLst>
                <a:ext uri="{FF2B5EF4-FFF2-40B4-BE49-F238E27FC236}">
                  <a16:creationId xmlns:a16="http://schemas.microsoft.com/office/drawing/2014/main" id="{5B05D596-396B-45FE-BC7A-0CA08694D438}"/>
                </a:ext>
              </a:extLst>
            </p:cNvPr>
            <p:cNvGrpSpPr/>
            <p:nvPr/>
          </p:nvGrpSpPr>
          <p:grpSpPr>
            <a:xfrm>
              <a:off x="360" y="4132440"/>
              <a:ext cx="2307960" cy="1140480"/>
              <a:chOff x="360" y="4132440"/>
              <a:chExt cx="2307960" cy="1140480"/>
            </a:xfrm>
          </p:grpSpPr>
          <p:sp>
            <p:nvSpPr>
              <p:cNvPr id="11" name="Google Shape;1535;p39">
                <a:extLst>
                  <a:ext uri="{FF2B5EF4-FFF2-40B4-BE49-F238E27FC236}">
                    <a16:creationId xmlns:a16="http://schemas.microsoft.com/office/drawing/2014/main" id="{B06080BF-C99A-98D9-D4B7-7F3CE4328FF3}"/>
                  </a:ext>
                </a:extLst>
              </p:cNvPr>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1536;p39">
                <a:extLst>
                  <a:ext uri="{FF2B5EF4-FFF2-40B4-BE49-F238E27FC236}">
                    <a16:creationId xmlns:a16="http://schemas.microsoft.com/office/drawing/2014/main" id="{A37ED7D2-D4E2-B12A-BE05-36C114E189CB}"/>
                  </a:ext>
                </a:extLst>
              </p:cNvPr>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 name="Google Shape;1537;p39">
              <a:extLst>
                <a:ext uri="{FF2B5EF4-FFF2-40B4-BE49-F238E27FC236}">
                  <a16:creationId xmlns:a16="http://schemas.microsoft.com/office/drawing/2014/main" id="{F119CF3C-90B2-CF7F-5CD3-DC2EE944BDB8}"/>
                </a:ext>
              </a:extLst>
            </p:cNvPr>
            <p:cNvGrpSpPr/>
            <p:nvPr/>
          </p:nvGrpSpPr>
          <p:grpSpPr>
            <a:xfrm>
              <a:off x="-123840" y="4386240"/>
              <a:ext cx="4558680" cy="133920"/>
              <a:chOff x="-123840" y="4386240"/>
              <a:chExt cx="4558680" cy="133920"/>
            </a:xfrm>
          </p:grpSpPr>
          <p:sp>
            <p:nvSpPr>
              <p:cNvPr id="8" name="Google Shape;1538;p39">
                <a:extLst>
                  <a:ext uri="{FF2B5EF4-FFF2-40B4-BE49-F238E27FC236}">
                    <a16:creationId xmlns:a16="http://schemas.microsoft.com/office/drawing/2014/main" id="{9F99BC0F-1443-189B-E74B-7D2E9422A0F3}"/>
                  </a:ext>
                </a:extLst>
              </p:cNvPr>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9" name="Google Shape;1539;p39">
                <a:extLst>
                  <a:ext uri="{FF2B5EF4-FFF2-40B4-BE49-F238E27FC236}">
                    <a16:creationId xmlns:a16="http://schemas.microsoft.com/office/drawing/2014/main" id="{C751DEF7-C4EE-253A-43DA-9FE3340D345F}"/>
                  </a:ext>
                </a:extLst>
              </p:cNvPr>
              <p:cNvCxnSpPr/>
              <p:nvPr/>
            </p:nvCxnSpPr>
            <p:spPr>
              <a:xfrm>
                <a:off x="-123840" y="4453200"/>
                <a:ext cx="4462920" cy="360"/>
              </a:xfrm>
              <a:prstGeom prst="straightConnector1">
                <a:avLst/>
              </a:prstGeom>
              <a:ln w="9525">
                <a:solidFill>
                  <a:srgbClr val="0C0A9E"/>
                </a:solidFill>
                <a:round/>
              </a:ln>
            </p:spPr>
          </p:cxnSp>
          <p:sp>
            <p:nvSpPr>
              <p:cNvPr id="10" name="Google Shape;1540;p39">
                <a:extLst>
                  <a:ext uri="{FF2B5EF4-FFF2-40B4-BE49-F238E27FC236}">
                    <a16:creationId xmlns:a16="http://schemas.microsoft.com/office/drawing/2014/main" id="{2F3960E0-2C22-F762-BAB6-839FC63221B4}"/>
                  </a:ext>
                </a:extLst>
              </p:cNvPr>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
        <p:nvSpPr>
          <p:cNvPr id="4" name="TextBox 3">
            <a:extLst>
              <a:ext uri="{FF2B5EF4-FFF2-40B4-BE49-F238E27FC236}">
                <a16:creationId xmlns:a16="http://schemas.microsoft.com/office/drawing/2014/main" id="{7DE406AB-D464-AFC4-C0E5-9BB3DC8B03A5}"/>
              </a:ext>
            </a:extLst>
          </p:cNvPr>
          <p:cNvSpPr txBox="1"/>
          <p:nvPr/>
        </p:nvSpPr>
        <p:spPr>
          <a:xfrm>
            <a:off x="123840" y="995614"/>
            <a:ext cx="7258816" cy="332398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effectLst/>
                <a:uLnTx/>
                <a:uFillTx/>
                <a:ea typeface="+mn-ea"/>
                <a:cs typeface="+mn-cs"/>
              </a:rPr>
              <a:t>General Legal De</a:t>
            </a:r>
            <a:r>
              <a:rPr lang="en-US" sz="1400" b="1" dirty="0"/>
              <a:t>fination of </a:t>
            </a:r>
            <a:r>
              <a:rPr kumimoji="0" lang="en-US" sz="1400" b="1" i="0" u="none" strike="noStrike" kern="1200" cap="none" spc="0" normalizeH="0" baseline="0" noProof="0" dirty="0">
                <a:ln>
                  <a:noFill/>
                </a:ln>
                <a:effectLst/>
                <a:uLnTx/>
                <a:uFillTx/>
                <a:ea typeface="+mn-ea"/>
                <a:cs typeface="+mn-cs"/>
              </a:rPr>
              <a:t>Rape: </a:t>
            </a:r>
            <a:r>
              <a:rPr kumimoji="0" lang="en-US" sz="1400" b="0" i="0" u="none" strike="noStrike" kern="1200" cap="none" spc="0" normalizeH="0" baseline="0" noProof="0" dirty="0">
                <a:ln>
                  <a:noFill/>
                </a:ln>
                <a:effectLst/>
                <a:uLnTx/>
                <a:uFillTx/>
                <a:ea typeface="+mn-ea"/>
                <a:cs typeface="+mn-cs"/>
              </a:rPr>
              <a:t>Rape is the act of engaging in sexual intercourse or other forms of sexual penetration with another person without their consent, typically through force, threats, manipulation or when the person is incapable of giving consent due to age, mental incapacity, or intoxication.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effectLst/>
              <a:uLnTx/>
              <a:uFillTx/>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effectLst/>
                <a:uLnTx/>
                <a:uFillTx/>
                <a:ea typeface="+mn-ea"/>
                <a:cs typeface="+mn-cs"/>
              </a:rPr>
              <a:t>This project focuses on analyzing historical rape crime rate data for past 19 years (2004 to 2022) for three countries Germany (a European country) which is considered to be a developed country in economic field. Secondly, Kenya (an African country) which is considered to be a lower- or middle-income country in economic field. Thirdly, India (an Asian country) which is considered to be a developing or lower- or middle-income country in economic field and most importantly it’s our nationality.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effectLst/>
              <a:uLnTx/>
              <a:uFillTx/>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effectLst/>
                <a:uLnTx/>
                <a:uFillTx/>
                <a:ea typeface="+mn-ea"/>
                <a:cs typeface="+mn-cs"/>
              </a:rPr>
              <a:t>Further the project explores on the Indian states and union territories which leads the top 10’s list in rape crime rate all over India then analyse and predict their forecasted values for next 10 years (2023-2032).</a:t>
            </a:r>
          </a:p>
        </p:txBody>
      </p:sp>
    </p:spTree>
    <p:extLst>
      <p:ext uri="{BB962C8B-B14F-4D97-AF65-F5344CB8AC3E}">
        <p14:creationId xmlns:p14="http://schemas.microsoft.com/office/powerpoint/2010/main" val="4119193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CDA959-A571-911F-906A-79EF3F8A6675}"/>
              </a:ext>
            </a:extLst>
          </p:cNvPr>
          <p:cNvSpPr txBox="1"/>
          <p:nvPr/>
        </p:nvSpPr>
        <p:spPr>
          <a:xfrm>
            <a:off x="56744" y="440692"/>
            <a:ext cx="5501898" cy="461665"/>
          </a:xfrm>
          <a:prstGeom prst="rect">
            <a:avLst/>
          </a:prstGeom>
          <a:noFill/>
        </p:spPr>
        <p:txBody>
          <a:bodyPr wrap="square">
            <a:spAutoFit/>
          </a:bodyPr>
          <a:lstStyle/>
          <a:p>
            <a:r>
              <a:rPr lang="en-IN" sz="2400" b="1" dirty="0">
                <a:latin typeface="IBM Plex Mono" panose="020B0509050203000203" pitchFamily="49" charset="0"/>
                <a:ea typeface="Calibri" panose="020F0502020204030204" pitchFamily="34" charset="0"/>
                <a:cs typeface="Calibri" panose="020F0502020204030204" pitchFamily="34" charset="0"/>
              </a:rPr>
              <a:t>OBJECTIVE</a:t>
            </a:r>
          </a:p>
        </p:txBody>
      </p:sp>
      <p:sp>
        <p:nvSpPr>
          <p:cNvPr id="5" name="Rectangle 4">
            <a:extLst>
              <a:ext uri="{FF2B5EF4-FFF2-40B4-BE49-F238E27FC236}">
                <a16:creationId xmlns:a16="http://schemas.microsoft.com/office/drawing/2014/main" id="{19308DA5-8DF1-7709-4113-93AE616A0256}"/>
              </a:ext>
            </a:extLst>
          </p:cNvPr>
          <p:cNvSpPr/>
          <p:nvPr/>
        </p:nvSpPr>
        <p:spPr>
          <a:xfrm>
            <a:off x="4572000" y="2826861"/>
            <a:ext cx="4327335" cy="159876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accent3"/>
                </a:solidFill>
                <a:latin typeface="Calibri" panose="020F0502020204030204" pitchFamily="34" charset="0"/>
                <a:ea typeface="Calibri" panose="020F0502020204030204" pitchFamily="34" charset="0"/>
                <a:cs typeface="Calibri" panose="020F0502020204030204" pitchFamily="34" charset="0"/>
              </a:rPr>
              <a:t>To Analyze Historical Trends of Rape Cases: Seeking to examine the global trend year-wise of total cases for 3 countries (India, Germany and Kenya). Identifying patterns, fluctuations and significant spikes or drops in reported cases for these countries. Within India, the objective is to examine the year-wise data on reported rape cases of the TOP 10 Indian states and union territories. </a:t>
            </a:r>
          </a:p>
        </p:txBody>
      </p:sp>
      <p:sp>
        <p:nvSpPr>
          <p:cNvPr id="6" name="Rectangle 5">
            <a:extLst>
              <a:ext uri="{FF2B5EF4-FFF2-40B4-BE49-F238E27FC236}">
                <a16:creationId xmlns:a16="http://schemas.microsoft.com/office/drawing/2014/main" id="{1CEC1095-4E1B-4546-C982-4AB11497C7A6}"/>
              </a:ext>
            </a:extLst>
          </p:cNvPr>
          <p:cNvSpPr/>
          <p:nvPr/>
        </p:nvSpPr>
        <p:spPr>
          <a:xfrm>
            <a:off x="321245" y="3192627"/>
            <a:ext cx="4327335" cy="1460112"/>
          </a:xfrm>
          <a:prstGeom prst="rect">
            <a:avLst/>
          </a:prstGeom>
          <a:solidFill>
            <a:schemeClr val="bg1">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Calibri" panose="020F0502020204030204" pitchFamily="34" charset="0"/>
              </a:rPr>
              <a:t>To Identify State-wise Hotspots of Gender-based Violence: The project helps to highlight the regions with consistently high or increasing numbers of rape cases and compares the state performances based on normalized crime rates (cases per lakh population) which helps to understand socio-demographic factors contributing to regional disparities.</a:t>
            </a:r>
            <a:endParaRPr kumimoji="0" lang="en-IN" sz="1200" b="0" i="0" u="none" strike="noStrike" kern="1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79BB3A20-29AC-44CA-0722-ABF07619121B}"/>
              </a:ext>
            </a:extLst>
          </p:cNvPr>
          <p:cNvSpPr/>
          <p:nvPr/>
        </p:nvSpPr>
        <p:spPr>
          <a:xfrm>
            <a:off x="244665" y="1732515"/>
            <a:ext cx="4114440" cy="1255836"/>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Calibri" panose="020F0502020204030204" pitchFamily="34" charset="0"/>
              </a:rPr>
              <a:t>Data Visualisation causes for public awareness: Through interactive visualizations and accessible analysis, the project can educate the public about the ongoing and projected state of women's safety on a world-wide basis.</a:t>
            </a:r>
            <a:endParaRPr kumimoji="0" lang="en-IN" sz="1200" b="0" i="0" u="none" strike="noStrike" kern="1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 name="Google Shape;1533;p39">
            <a:extLst>
              <a:ext uri="{FF2B5EF4-FFF2-40B4-BE49-F238E27FC236}">
                <a16:creationId xmlns:a16="http://schemas.microsoft.com/office/drawing/2014/main" id="{F2C39ED1-D691-D2DD-B8C5-198C463CC4CF}"/>
              </a:ext>
            </a:extLst>
          </p:cNvPr>
          <p:cNvGrpSpPr/>
          <p:nvPr/>
        </p:nvGrpSpPr>
        <p:grpSpPr>
          <a:xfrm>
            <a:off x="0" y="2256"/>
            <a:ext cx="4558680" cy="1140480"/>
            <a:chOff x="-123840" y="4132440"/>
            <a:chExt cx="4558680" cy="1140480"/>
          </a:xfrm>
        </p:grpSpPr>
        <p:grpSp>
          <p:nvGrpSpPr>
            <p:cNvPr id="8" name="Google Shape;1534;p39">
              <a:extLst>
                <a:ext uri="{FF2B5EF4-FFF2-40B4-BE49-F238E27FC236}">
                  <a16:creationId xmlns:a16="http://schemas.microsoft.com/office/drawing/2014/main" id="{F398D5EF-4496-F4C9-4444-20BBCF212C13}"/>
                </a:ext>
              </a:extLst>
            </p:cNvPr>
            <p:cNvGrpSpPr/>
            <p:nvPr/>
          </p:nvGrpSpPr>
          <p:grpSpPr>
            <a:xfrm>
              <a:off x="360" y="4132440"/>
              <a:ext cx="2307960" cy="1140480"/>
              <a:chOff x="360" y="4132440"/>
              <a:chExt cx="2307960" cy="1140480"/>
            </a:xfrm>
          </p:grpSpPr>
          <p:sp>
            <p:nvSpPr>
              <p:cNvPr id="13" name="Google Shape;1535;p39">
                <a:extLst>
                  <a:ext uri="{FF2B5EF4-FFF2-40B4-BE49-F238E27FC236}">
                    <a16:creationId xmlns:a16="http://schemas.microsoft.com/office/drawing/2014/main" id="{88306B8A-A7AC-FA60-B0E8-CA09538D343D}"/>
                  </a:ext>
                </a:extLst>
              </p:cNvPr>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1536;p39">
                <a:extLst>
                  <a:ext uri="{FF2B5EF4-FFF2-40B4-BE49-F238E27FC236}">
                    <a16:creationId xmlns:a16="http://schemas.microsoft.com/office/drawing/2014/main" id="{8C881A9F-DB2F-8290-AAE7-8FF3CAACE648}"/>
                  </a:ext>
                </a:extLst>
              </p:cNvPr>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9" name="Google Shape;1537;p39">
              <a:extLst>
                <a:ext uri="{FF2B5EF4-FFF2-40B4-BE49-F238E27FC236}">
                  <a16:creationId xmlns:a16="http://schemas.microsoft.com/office/drawing/2014/main" id="{A8D96D82-DDAF-E7CB-3BB0-E5D8F0FB9408}"/>
                </a:ext>
              </a:extLst>
            </p:cNvPr>
            <p:cNvGrpSpPr/>
            <p:nvPr/>
          </p:nvGrpSpPr>
          <p:grpSpPr>
            <a:xfrm>
              <a:off x="-123840" y="4386240"/>
              <a:ext cx="4558680" cy="133920"/>
              <a:chOff x="-123840" y="4386240"/>
              <a:chExt cx="4558680" cy="133920"/>
            </a:xfrm>
          </p:grpSpPr>
          <p:sp>
            <p:nvSpPr>
              <p:cNvPr id="10" name="Google Shape;1538;p39">
                <a:extLst>
                  <a:ext uri="{FF2B5EF4-FFF2-40B4-BE49-F238E27FC236}">
                    <a16:creationId xmlns:a16="http://schemas.microsoft.com/office/drawing/2014/main" id="{5FD5A7BF-F506-64AE-0292-1B1472849C2B}"/>
                  </a:ext>
                </a:extLst>
              </p:cNvPr>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1" name="Google Shape;1539;p39">
                <a:extLst>
                  <a:ext uri="{FF2B5EF4-FFF2-40B4-BE49-F238E27FC236}">
                    <a16:creationId xmlns:a16="http://schemas.microsoft.com/office/drawing/2014/main" id="{70B4C84E-6851-F5AD-DD34-257835409AEA}"/>
                  </a:ext>
                </a:extLst>
              </p:cNvPr>
              <p:cNvCxnSpPr/>
              <p:nvPr/>
            </p:nvCxnSpPr>
            <p:spPr>
              <a:xfrm>
                <a:off x="-123840" y="4453200"/>
                <a:ext cx="4462920" cy="360"/>
              </a:xfrm>
              <a:prstGeom prst="straightConnector1">
                <a:avLst/>
              </a:prstGeom>
              <a:ln w="9525">
                <a:solidFill>
                  <a:srgbClr val="0C0A9E"/>
                </a:solidFill>
                <a:round/>
              </a:ln>
            </p:spPr>
          </p:cxnSp>
          <p:sp>
            <p:nvSpPr>
              <p:cNvPr id="12" name="Google Shape;1540;p39">
                <a:extLst>
                  <a:ext uri="{FF2B5EF4-FFF2-40B4-BE49-F238E27FC236}">
                    <a16:creationId xmlns:a16="http://schemas.microsoft.com/office/drawing/2014/main" id="{F3FAFC09-8ED2-B94D-DC45-A1D5BE9CECD9}"/>
                  </a:ext>
                </a:extLst>
              </p:cNvPr>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
        <p:nvSpPr>
          <p:cNvPr id="17" name="Rectangle 16">
            <a:extLst>
              <a:ext uri="{FF2B5EF4-FFF2-40B4-BE49-F238E27FC236}">
                <a16:creationId xmlns:a16="http://schemas.microsoft.com/office/drawing/2014/main" id="{C83AE2D4-9CC2-483E-5D11-2271246A127E}"/>
              </a:ext>
            </a:extLst>
          </p:cNvPr>
          <p:cNvSpPr/>
          <p:nvPr/>
        </p:nvSpPr>
        <p:spPr>
          <a:xfrm>
            <a:off x="4271041" y="1127109"/>
            <a:ext cx="4327336" cy="1460112"/>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Calibri" panose="020F0502020204030204" pitchFamily="34" charset="0"/>
              </a:rPr>
              <a:t>To Forecast Rape Cases for the Next 10 Years (2023–2032): With the use of ARIMA models, we will </a:t>
            </a:r>
            <a:r>
              <a:rPr lang="en-IN" sz="1200" kern="0" dirty="0">
                <a:solidFill>
                  <a:srgbClr val="FFFFFF"/>
                </a:solidFill>
                <a:latin typeface="Calibri" panose="020F0502020204030204" pitchFamily="34" charset="0"/>
                <a:ea typeface="Times New Roman" panose="02020603050405020304" pitchFamily="18" charset="0"/>
                <a:cs typeface="Calibri" panose="020F0502020204030204" pitchFamily="34" charset="0"/>
              </a:rPr>
              <a:t>fit </a:t>
            </a:r>
            <a:r>
              <a:rPr kumimoji="0" lang="en-IN" sz="1200" b="0" i="0" u="none" strike="noStrike" kern="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Calibri" panose="020F0502020204030204" pitchFamily="34" charset="0"/>
              </a:rPr>
              <a:t>models to the respected nations and states. </a:t>
            </a:r>
            <a:r>
              <a:rPr lang="en-IN" sz="1200" kern="0" dirty="0">
                <a:solidFill>
                  <a:srgbClr val="FFFFFF"/>
                </a:solidFill>
                <a:latin typeface="Calibri" panose="020F0502020204030204" pitchFamily="34" charset="0"/>
                <a:ea typeface="Times New Roman" panose="02020603050405020304" pitchFamily="18" charset="0"/>
                <a:cs typeface="Calibri" panose="020F0502020204030204" pitchFamily="34" charset="0"/>
              </a:rPr>
              <a:t>Then </a:t>
            </a:r>
            <a:r>
              <a:rPr kumimoji="0" lang="en-IN" sz="1200" b="0" i="0" u="none" strike="noStrike" kern="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Calibri" panose="020F0502020204030204" pitchFamily="34" charset="0"/>
              </a:rPr>
              <a:t>forecast the number of rape cases in each of the (TOP 10) states as the prediction of long-term trends helps to assess whether the situation is likely to improve or worsen without significant intervention.</a:t>
            </a:r>
          </a:p>
        </p:txBody>
      </p:sp>
    </p:spTree>
    <p:extLst>
      <p:ext uri="{BB962C8B-B14F-4D97-AF65-F5344CB8AC3E}">
        <p14:creationId xmlns:p14="http://schemas.microsoft.com/office/powerpoint/2010/main" val="695662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F9138E-A90C-6451-15C2-D07928696122}"/>
              </a:ext>
            </a:extLst>
          </p:cNvPr>
          <p:cNvSpPr txBox="1"/>
          <p:nvPr/>
        </p:nvSpPr>
        <p:spPr>
          <a:xfrm>
            <a:off x="466569" y="1374095"/>
            <a:ext cx="5505136" cy="3206006"/>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Datasets</a:t>
            </a:r>
          </a:p>
          <a:p>
            <a:pPr marR="0" lvl="0" algn="l" defTabSz="914400" rtl="0" eaLnBrk="1" fontAlgn="auto" latinLnBrk="0" hangingPunct="1">
              <a:lnSpc>
                <a:spcPct val="90000"/>
              </a:lnSpc>
              <a:spcBef>
                <a:spcPts val="1000"/>
              </a:spcBef>
              <a:spcAft>
                <a:spcPts val="0"/>
              </a:spcAft>
              <a:buClrTx/>
              <a:buSzTx/>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hlinkClick r:id="rId2" action="ppaction://hlinksldjump"/>
              </a:rPr>
              <a:t>Dataset</a:t>
            </a: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for India, Germany and Kenya.</a:t>
            </a:r>
          </a:p>
          <a:p>
            <a:pPr marR="0" lvl="0" algn="l" defTabSz="914400" rtl="0" eaLnBrk="1" fontAlgn="auto" latinLnBrk="0" hangingPunct="1">
              <a:lnSpc>
                <a:spcPct val="90000"/>
              </a:lnSpc>
              <a:spcBef>
                <a:spcPts val="1000"/>
              </a:spcBef>
              <a:spcAft>
                <a:spcPts val="0"/>
              </a:spcAft>
              <a:buClrTx/>
              <a:buSzTx/>
              <a:tabLst/>
              <a:defRPr/>
            </a:pPr>
            <a:r>
              <a:rPr lang="en-IN" sz="1600" b="1" dirty="0">
                <a:latin typeface="Calibri" panose="020F0502020204030204" pitchFamily="34" charset="0"/>
                <a:ea typeface="Calibri" panose="020F0502020204030204" pitchFamily="34" charset="0"/>
                <a:cs typeface="Times New Roman" panose="02020603050405020304" pitchFamily="18" charset="0"/>
                <a:hlinkClick r:id="rId3" action="ppaction://hlinksldjump"/>
              </a:rPr>
              <a:t>Dataset</a:t>
            </a:r>
            <a:r>
              <a:rPr lang="en-IN" sz="1600" b="1" dirty="0">
                <a:latin typeface="Calibri" panose="020F0502020204030204" pitchFamily="34" charset="0"/>
                <a:ea typeface="Calibri" panose="020F0502020204030204" pitchFamily="34" charset="0"/>
                <a:cs typeface="Times New Roman" panose="02020603050405020304" pitchFamily="18" charset="0"/>
              </a:rPr>
              <a:t> for top 10 Indian states and union territories.</a:t>
            </a:r>
            <a:endPar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Data Analysis through Graphical Representations.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Quality checking of the data.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Time Series Forecasting Using Arima models.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Comparison of the three countries based on their predicted values.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Comparison and Prediction of the rank of Top 10 states in India.</a:t>
            </a:r>
          </a:p>
        </p:txBody>
      </p:sp>
      <p:sp>
        <p:nvSpPr>
          <p:cNvPr id="5" name="TextBox 4">
            <a:extLst>
              <a:ext uri="{FF2B5EF4-FFF2-40B4-BE49-F238E27FC236}">
                <a16:creationId xmlns:a16="http://schemas.microsoft.com/office/drawing/2014/main" id="{78680D57-23E9-1F0C-17A6-732868C478DC}"/>
              </a:ext>
            </a:extLst>
          </p:cNvPr>
          <p:cNvSpPr txBox="1"/>
          <p:nvPr/>
        </p:nvSpPr>
        <p:spPr>
          <a:xfrm>
            <a:off x="118985" y="448824"/>
            <a:ext cx="5505136" cy="461665"/>
          </a:xfrm>
          <a:prstGeom prst="rect">
            <a:avLst/>
          </a:prstGeom>
          <a:noFill/>
        </p:spPr>
        <p:txBody>
          <a:bodyPr wrap="square">
            <a:spAutoFit/>
          </a:bodyPr>
          <a:lstStyle/>
          <a:p>
            <a:r>
              <a:rPr kumimoji="0" lang="en-IN" sz="2400" b="1" i="0" u="none" strike="noStrike" kern="1200" cap="none" spc="0" normalizeH="0" baseline="0" noProof="0" dirty="0">
                <a:ln>
                  <a:noFill/>
                </a:ln>
                <a:effectLst/>
                <a:uLnTx/>
                <a:uFillTx/>
                <a:latin typeface="IBM Plex Mono" panose="020B0509050203000203" pitchFamily="49" charset="0"/>
                <a:ea typeface="+mj-ea"/>
                <a:cs typeface="+mj-cs"/>
              </a:rPr>
              <a:t>METHODOLOGY</a:t>
            </a:r>
            <a:endParaRPr lang="en-IN" sz="900" b="1" dirty="0">
              <a:latin typeface="IBM Plex Mono" panose="020B0509050203000203" pitchFamily="49" charset="0"/>
            </a:endParaRPr>
          </a:p>
        </p:txBody>
      </p:sp>
      <p:sp>
        <p:nvSpPr>
          <p:cNvPr id="6" name="Arrow: Curved Right 5">
            <a:extLst>
              <a:ext uri="{FF2B5EF4-FFF2-40B4-BE49-F238E27FC236}">
                <a16:creationId xmlns:a16="http://schemas.microsoft.com/office/drawing/2014/main" id="{59A03248-F57A-0357-FD4C-B003638D7128}"/>
              </a:ext>
            </a:extLst>
          </p:cNvPr>
          <p:cNvSpPr/>
          <p:nvPr/>
        </p:nvSpPr>
        <p:spPr>
          <a:xfrm>
            <a:off x="118985" y="1499017"/>
            <a:ext cx="347584" cy="38224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2" name="Google Shape;1533;p39">
            <a:extLst>
              <a:ext uri="{FF2B5EF4-FFF2-40B4-BE49-F238E27FC236}">
                <a16:creationId xmlns:a16="http://schemas.microsoft.com/office/drawing/2014/main" id="{220BFD58-A0CD-BABB-58E9-963E0E718650}"/>
              </a:ext>
            </a:extLst>
          </p:cNvPr>
          <p:cNvGrpSpPr/>
          <p:nvPr/>
        </p:nvGrpSpPr>
        <p:grpSpPr>
          <a:xfrm>
            <a:off x="0" y="2256"/>
            <a:ext cx="4558680" cy="1140480"/>
            <a:chOff x="-123840" y="4132440"/>
            <a:chExt cx="4558680" cy="1140480"/>
          </a:xfrm>
        </p:grpSpPr>
        <p:grpSp>
          <p:nvGrpSpPr>
            <p:cNvPr id="4" name="Google Shape;1534;p39">
              <a:extLst>
                <a:ext uri="{FF2B5EF4-FFF2-40B4-BE49-F238E27FC236}">
                  <a16:creationId xmlns:a16="http://schemas.microsoft.com/office/drawing/2014/main" id="{9A26F8CF-0F6C-12AB-DCC7-2404607B2A90}"/>
                </a:ext>
              </a:extLst>
            </p:cNvPr>
            <p:cNvGrpSpPr/>
            <p:nvPr/>
          </p:nvGrpSpPr>
          <p:grpSpPr>
            <a:xfrm>
              <a:off x="360" y="4132440"/>
              <a:ext cx="2307960" cy="1140480"/>
              <a:chOff x="360" y="4132440"/>
              <a:chExt cx="2307960" cy="1140480"/>
            </a:xfrm>
          </p:grpSpPr>
          <p:sp>
            <p:nvSpPr>
              <p:cNvPr id="11" name="Google Shape;1535;p39">
                <a:extLst>
                  <a:ext uri="{FF2B5EF4-FFF2-40B4-BE49-F238E27FC236}">
                    <a16:creationId xmlns:a16="http://schemas.microsoft.com/office/drawing/2014/main" id="{5B720808-D854-01AE-2387-C7E9E0951F68}"/>
                  </a:ext>
                </a:extLst>
              </p:cNvPr>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1536;p39">
                <a:extLst>
                  <a:ext uri="{FF2B5EF4-FFF2-40B4-BE49-F238E27FC236}">
                    <a16:creationId xmlns:a16="http://schemas.microsoft.com/office/drawing/2014/main" id="{2A5B8DCD-7289-60EA-2811-660BFA2CD0C0}"/>
                  </a:ext>
                </a:extLst>
              </p:cNvPr>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 name="Google Shape;1537;p39">
              <a:extLst>
                <a:ext uri="{FF2B5EF4-FFF2-40B4-BE49-F238E27FC236}">
                  <a16:creationId xmlns:a16="http://schemas.microsoft.com/office/drawing/2014/main" id="{A0CEB5EA-AD1E-65C1-DBA8-241E8508FDAB}"/>
                </a:ext>
              </a:extLst>
            </p:cNvPr>
            <p:cNvGrpSpPr/>
            <p:nvPr/>
          </p:nvGrpSpPr>
          <p:grpSpPr>
            <a:xfrm>
              <a:off x="-123840" y="4386240"/>
              <a:ext cx="4558680" cy="133920"/>
              <a:chOff x="-123840" y="4386240"/>
              <a:chExt cx="4558680" cy="133920"/>
            </a:xfrm>
          </p:grpSpPr>
          <p:sp>
            <p:nvSpPr>
              <p:cNvPr id="8" name="Google Shape;1538;p39">
                <a:extLst>
                  <a:ext uri="{FF2B5EF4-FFF2-40B4-BE49-F238E27FC236}">
                    <a16:creationId xmlns:a16="http://schemas.microsoft.com/office/drawing/2014/main" id="{F1627386-F145-1438-0382-62709E3B972D}"/>
                  </a:ext>
                </a:extLst>
              </p:cNvPr>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9" name="Google Shape;1539;p39">
                <a:extLst>
                  <a:ext uri="{FF2B5EF4-FFF2-40B4-BE49-F238E27FC236}">
                    <a16:creationId xmlns:a16="http://schemas.microsoft.com/office/drawing/2014/main" id="{85D861B8-437D-4730-FD16-1FF1EBB56CC7}"/>
                  </a:ext>
                </a:extLst>
              </p:cNvPr>
              <p:cNvCxnSpPr/>
              <p:nvPr/>
            </p:nvCxnSpPr>
            <p:spPr>
              <a:xfrm>
                <a:off x="-123840" y="4453200"/>
                <a:ext cx="4462920" cy="360"/>
              </a:xfrm>
              <a:prstGeom prst="straightConnector1">
                <a:avLst/>
              </a:prstGeom>
              <a:ln w="9525">
                <a:solidFill>
                  <a:srgbClr val="0C0A9E"/>
                </a:solidFill>
                <a:round/>
              </a:ln>
            </p:spPr>
          </p:cxnSp>
          <p:sp>
            <p:nvSpPr>
              <p:cNvPr id="10" name="Google Shape;1540;p39">
                <a:extLst>
                  <a:ext uri="{FF2B5EF4-FFF2-40B4-BE49-F238E27FC236}">
                    <a16:creationId xmlns:a16="http://schemas.microsoft.com/office/drawing/2014/main" id="{E291E423-DAE2-6068-7EB5-8A0C02FFCD9F}"/>
                  </a:ext>
                </a:extLst>
              </p:cNvPr>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Tree>
    <p:extLst>
      <p:ext uri="{BB962C8B-B14F-4D97-AF65-F5344CB8AC3E}">
        <p14:creationId xmlns:p14="http://schemas.microsoft.com/office/powerpoint/2010/main" val="1117212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D26AE0-53B6-B27A-0749-E01EDD67A7BA}"/>
              </a:ext>
            </a:extLst>
          </p:cNvPr>
          <p:cNvSpPr txBox="1"/>
          <p:nvPr/>
        </p:nvSpPr>
        <p:spPr>
          <a:xfrm>
            <a:off x="0" y="88904"/>
            <a:ext cx="9144000" cy="707886"/>
          </a:xfrm>
          <a:prstGeom prst="rect">
            <a:avLst/>
          </a:prstGeom>
          <a:noFill/>
        </p:spPr>
        <p:txBody>
          <a:bodyPr wrap="square">
            <a:spAutoFit/>
          </a:bodyPr>
          <a:lstStyle/>
          <a:p>
            <a:pPr algn="ctr"/>
            <a:r>
              <a:rPr lang="en-IN" b="1" dirty="0">
                <a:latin typeface="IBM Plex Mono" panose="020B0509050203000203" pitchFamily="49" charset="0"/>
                <a:ea typeface="+mj-ea"/>
                <a:cs typeface="+mj-cs"/>
              </a:rPr>
              <a:t>HEAT MAP OF INDIA</a:t>
            </a:r>
          </a:p>
          <a:p>
            <a:pPr algn="ctr"/>
            <a:r>
              <a:rPr lang="en-IN" sz="1400" kern="100" dirty="0">
                <a:effectLst/>
                <a:ea typeface="Calibri" panose="020F0502020204030204" pitchFamily="34" charset="0"/>
                <a:cs typeface="Calibri" panose="020F0502020204030204" pitchFamily="34" charset="0"/>
              </a:rPr>
              <a:t>Heatmap for India showing the states and union territories with highest and lowest rape crime rate,2004-2022.</a:t>
            </a:r>
            <a:endParaRPr lang="en-IN" sz="1400" kern="100" dirty="0">
              <a:effectLst/>
              <a:ea typeface="Calibri" panose="020F0502020204030204" pitchFamily="34" charset="0"/>
              <a:cs typeface="Times New Roman" panose="02020603050405020304" pitchFamily="18" charset="0"/>
            </a:endParaRPr>
          </a:p>
          <a:p>
            <a:pPr algn="ctr"/>
            <a:endParaRPr lang="en-IN" sz="800" b="1" dirty="0">
              <a:latin typeface="IBM Plex Mono" panose="020B0509050203000203" pitchFamily="49" charset="0"/>
            </a:endParaRPr>
          </a:p>
        </p:txBody>
      </p:sp>
      <p:pic>
        <p:nvPicPr>
          <p:cNvPr id="5" name="Picture 4">
            <a:extLst>
              <a:ext uri="{FF2B5EF4-FFF2-40B4-BE49-F238E27FC236}">
                <a16:creationId xmlns:a16="http://schemas.microsoft.com/office/drawing/2014/main" id="{E7D307B9-EF75-5239-3A43-6F49F1B37D53}"/>
              </a:ext>
            </a:extLst>
          </p:cNvPr>
          <p:cNvPicPr>
            <a:picLocks noChangeAspect="1"/>
          </p:cNvPicPr>
          <p:nvPr/>
        </p:nvPicPr>
        <p:blipFill rotWithShape="1">
          <a:blip r:embed="rId2">
            <a:extLst>
              <a:ext uri="{28A0092B-C50C-407E-A947-70E740481C1C}">
                <a14:useLocalDpi xmlns:a14="http://schemas.microsoft.com/office/drawing/2010/main" val="0"/>
              </a:ext>
            </a:extLst>
          </a:blip>
          <a:srcRect r="1424"/>
          <a:stretch/>
        </p:blipFill>
        <p:spPr bwMode="auto">
          <a:xfrm>
            <a:off x="2263516" y="796790"/>
            <a:ext cx="4751882" cy="416109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8566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DE52B9-76D1-0E03-7C81-4915D51DB674}"/>
              </a:ext>
            </a:extLst>
          </p:cNvPr>
          <p:cNvPicPr>
            <a:picLocks noChangeAspect="1"/>
          </p:cNvPicPr>
          <p:nvPr/>
        </p:nvPicPr>
        <p:blipFill>
          <a:blip r:embed="rId3"/>
          <a:stretch>
            <a:fillRect/>
          </a:stretch>
        </p:blipFill>
        <p:spPr>
          <a:xfrm>
            <a:off x="152466" y="777707"/>
            <a:ext cx="4237087" cy="1798476"/>
          </a:xfrm>
          <a:prstGeom prst="rect">
            <a:avLst/>
          </a:prstGeom>
        </p:spPr>
      </p:pic>
      <p:pic>
        <p:nvPicPr>
          <p:cNvPr id="4" name="Picture 3">
            <a:extLst>
              <a:ext uri="{FF2B5EF4-FFF2-40B4-BE49-F238E27FC236}">
                <a16:creationId xmlns:a16="http://schemas.microsoft.com/office/drawing/2014/main" id="{E577C8FB-77F3-0DBA-BDF8-74D6EDCFAEA0}"/>
              </a:ext>
            </a:extLst>
          </p:cNvPr>
          <p:cNvPicPr>
            <a:picLocks noChangeAspect="1"/>
          </p:cNvPicPr>
          <p:nvPr/>
        </p:nvPicPr>
        <p:blipFill>
          <a:blip r:embed="rId4"/>
          <a:srcRect t="11990"/>
          <a:stretch/>
        </p:blipFill>
        <p:spPr>
          <a:xfrm>
            <a:off x="198738" y="3339441"/>
            <a:ext cx="4176426" cy="1662816"/>
          </a:xfrm>
          <a:prstGeom prst="rect">
            <a:avLst/>
          </a:prstGeom>
        </p:spPr>
      </p:pic>
      <p:sp>
        <p:nvSpPr>
          <p:cNvPr id="5" name="Rectangle 4">
            <a:extLst>
              <a:ext uri="{FF2B5EF4-FFF2-40B4-BE49-F238E27FC236}">
                <a16:creationId xmlns:a16="http://schemas.microsoft.com/office/drawing/2014/main" id="{FF0FB460-E979-D26E-8C96-A20A22414DF2}"/>
              </a:ext>
            </a:extLst>
          </p:cNvPr>
          <p:cNvSpPr/>
          <p:nvPr/>
        </p:nvSpPr>
        <p:spPr>
          <a:xfrm>
            <a:off x="336353" y="2631538"/>
            <a:ext cx="3869311" cy="53138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en-IN" sz="1200" b="0" i="0" u="none" strike="noStrike" kern="1200" cap="none" spc="0" normalizeH="0" baseline="0" noProof="0" dirty="0">
                <a:ln>
                  <a:noFill/>
                </a:ln>
                <a:solidFill>
                  <a:schemeClr val="bg1"/>
                </a:solidFill>
                <a:effectLst/>
                <a:uLnTx/>
                <a:uFillTx/>
                <a:latin typeface="Arial"/>
                <a:ea typeface="+mn-ea"/>
                <a:cs typeface="+mn-cs"/>
              </a:rPr>
              <a:t>Rape cases in India started to increase from the year 2012 with highest reported cases in the year 2016 (i.e.,6.3).</a:t>
            </a:r>
          </a:p>
        </p:txBody>
      </p:sp>
      <p:sp>
        <p:nvSpPr>
          <p:cNvPr id="6" name="Rectangle 5">
            <a:extLst>
              <a:ext uri="{FF2B5EF4-FFF2-40B4-BE49-F238E27FC236}">
                <a16:creationId xmlns:a16="http://schemas.microsoft.com/office/drawing/2014/main" id="{D319F663-2244-F824-0EA2-A8AA7508F9BC}"/>
              </a:ext>
            </a:extLst>
          </p:cNvPr>
          <p:cNvSpPr/>
          <p:nvPr/>
        </p:nvSpPr>
        <p:spPr>
          <a:xfrm>
            <a:off x="4474095" y="2631538"/>
            <a:ext cx="4039260" cy="771408"/>
          </a:xfrm>
          <a:prstGeom prst="rect">
            <a:avLst/>
          </a:prstGeom>
          <a:solidFill>
            <a:srgbClr val="A35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200" noProof="0" dirty="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rPr>
              <a:t>For Kenya in the previous years cases seem to be increased but gradually decreased over the years with short-term fluctuations. Highest rape cases in Kenya was seen in the year 2004 (i.e., 4.14).</a:t>
            </a:r>
          </a:p>
          <a:p>
            <a:pPr marL="2057400" lvl="4" indent="-228600" algn="ctr">
              <a:buFontTx/>
              <a:buAutoNum type="alphaLcParenR"/>
              <a:defRPr/>
            </a:pPr>
            <a:endParaRPr kumimoji="0" lang="en-IN" sz="12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a:p>
            <a:pPr marR="0" lvl="0" algn="ctr" defTabSz="914400" rtl="0" eaLnBrk="1" fontAlgn="auto" latinLnBrk="0" hangingPunct="1">
              <a:lnSpc>
                <a:spcPct val="100000"/>
              </a:lnSpc>
              <a:spcBef>
                <a:spcPts val="0"/>
              </a:spcBef>
              <a:spcAft>
                <a:spcPts val="0"/>
              </a:spcAft>
              <a:buClrTx/>
              <a:buSzTx/>
              <a:tabLst/>
              <a:defRPr/>
            </a:pPr>
            <a:endParaRPr kumimoji="0" lang="en-IN" sz="12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A5E0D4A1-7954-EB19-89F7-87A3C5AD3CE9}"/>
              </a:ext>
            </a:extLst>
          </p:cNvPr>
          <p:cNvPicPr>
            <a:picLocks noChangeAspect="1"/>
          </p:cNvPicPr>
          <p:nvPr/>
        </p:nvPicPr>
        <p:blipFill>
          <a:blip r:embed="rId5"/>
          <a:stretch>
            <a:fillRect/>
          </a:stretch>
        </p:blipFill>
        <p:spPr>
          <a:xfrm>
            <a:off x="4474095" y="774755"/>
            <a:ext cx="4235069" cy="1796995"/>
          </a:xfrm>
          <a:prstGeom prst="rect">
            <a:avLst/>
          </a:prstGeom>
        </p:spPr>
      </p:pic>
      <p:sp>
        <p:nvSpPr>
          <p:cNvPr id="8" name="Rectangle 7">
            <a:extLst>
              <a:ext uri="{FF2B5EF4-FFF2-40B4-BE49-F238E27FC236}">
                <a16:creationId xmlns:a16="http://schemas.microsoft.com/office/drawing/2014/main" id="{BBA7EA6C-DDE7-0498-9599-2E4D30B90843}"/>
              </a:ext>
            </a:extLst>
          </p:cNvPr>
          <p:cNvSpPr/>
          <p:nvPr/>
        </p:nvSpPr>
        <p:spPr>
          <a:xfrm>
            <a:off x="4474094" y="4307797"/>
            <a:ext cx="4039259" cy="55659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kumimoji="0" lang="en-IN" sz="1200" b="0"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In Germany, rape cases has an overall increased number. Highest reported rape cases were seen in the year 2021 (i.e., 12.48)</a:t>
            </a:r>
          </a:p>
        </p:txBody>
      </p:sp>
      <p:sp>
        <p:nvSpPr>
          <p:cNvPr id="9" name="TextBox 8">
            <a:extLst>
              <a:ext uri="{FF2B5EF4-FFF2-40B4-BE49-F238E27FC236}">
                <a16:creationId xmlns:a16="http://schemas.microsoft.com/office/drawing/2014/main" id="{F55676D0-2D05-CB47-ABF1-F6C1C1F17E6E}"/>
              </a:ext>
            </a:extLst>
          </p:cNvPr>
          <p:cNvSpPr txBox="1"/>
          <p:nvPr/>
        </p:nvSpPr>
        <p:spPr>
          <a:xfrm>
            <a:off x="1980786" y="497756"/>
            <a:ext cx="1017767" cy="276999"/>
          </a:xfrm>
          <a:prstGeom prst="rect">
            <a:avLst/>
          </a:prstGeom>
          <a:noFill/>
        </p:spPr>
        <p:txBody>
          <a:bodyPr wrap="square" rtlCol="0">
            <a:spAutoFit/>
          </a:bodyPr>
          <a:lstStyle/>
          <a:p>
            <a:r>
              <a:rPr lang="en-IN" sz="1200" dirty="0"/>
              <a:t>Fig-1</a:t>
            </a:r>
          </a:p>
        </p:txBody>
      </p:sp>
      <p:sp>
        <p:nvSpPr>
          <p:cNvPr id="11" name="TextBox 10">
            <a:extLst>
              <a:ext uri="{FF2B5EF4-FFF2-40B4-BE49-F238E27FC236}">
                <a16:creationId xmlns:a16="http://schemas.microsoft.com/office/drawing/2014/main" id="{1CA93285-098C-AAD7-6B13-991AEAB59242}"/>
              </a:ext>
            </a:extLst>
          </p:cNvPr>
          <p:cNvSpPr txBox="1"/>
          <p:nvPr/>
        </p:nvSpPr>
        <p:spPr>
          <a:xfrm>
            <a:off x="1819432" y="19422"/>
            <a:ext cx="5505136"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GRAPHICAL ANALYSIS</a:t>
            </a:r>
          </a:p>
          <a:p>
            <a:pPr algn="ct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graphical representation of </a:t>
            </a:r>
            <a:r>
              <a:rPr lang="en-IN" sz="1400" b="1" dirty="0">
                <a:latin typeface="Calibri" panose="020F0502020204030204" pitchFamily="34" charset="0"/>
                <a:ea typeface="Calibri" panose="020F0502020204030204" pitchFamily="34" charset="0"/>
                <a:cs typeface="Calibri" panose="020F0502020204030204" pitchFamily="34" charset="0"/>
              </a:rPr>
              <a:t>India, Germany and Kenya</a:t>
            </a:r>
          </a:p>
        </p:txBody>
      </p:sp>
      <p:sp>
        <p:nvSpPr>
          <p:cNvPr id="12" name="TextBox 11">
            <a:extLst>
              <a:ext uri="{FF2B5EF4-FFF2-40B4-BE49-F238E27FC236}">
                <a16:creationId xmlns:a16="http://schemas.microsoft.com/office/drawing/2014/main" id="{0A81B215-1919-4D42-4A46-03132A02F3D9}"/>
              </a:ext>
            </a:extLst>
          </p:cNvPr>
          <p:cNvSpPr txBox="1"/>
          <p:nvPr/>
        </p:nvSpPr>
        <p:spPr>
          <a:xfrm>
            <a:off x="1947507" y="3033614"/>
            <a:ext cx="707666" cy="369332"/>
          </a:xfrm>
          <a:prstGeom prst="rect">
            <a:avLst/>
          </a:prstGeom>
          <a:noFill/>
        </p:spPr>
        <p:txBody>
          <a:bodyPr wrap="square" rtlCol="0">
            <a:spAutoFit/>
          </a:bodyPr>
          <a:lstStyle/>
          <a:p>
            <a:r>
              <a:rPr lang="en-IN" sz="1100" dirty="0"/>
              <a:t>Fig-2</a:t>
            </a:r>
            <a:r>
              <a:rPr lang="en-IN" dirty="0"/>
              <a:t> </a:t>
            </a:r>
          </a:p>
        </p:txBody>
      </p:sp>
      <p:sp>
        <p:nvSpPr>
          <p:cNvPr id="13" name="TextBox 12">
            <a:extLst>
              <a:ext uri="{FF2B5EF4-FFF2-40B4-BE49-F238E27FC236}">
                <a16:creationId xmlns:a16="http://schemas.microsoft.com/office/drawing/2014/main" id="{F182D4DD-3C6F-4498-6BE9-2523DD0F2900}"/>
              </a:ext>
            </a:extLst>
          </p:cNvPr>
          <p:cNvSpPr txBox="1"/>
          <p:nvPr/>
        </p:nvSpPr>
        <p:spPr>
          <a:xfrm>
            <a:off x="6523815" y="500518"/>
            <a:ext cx="962107" cy="276999"/>
          </a:xfrm>
          <a:prstGeom prst="rect">
            <a:avLst/>
          </a:prstGeom>
          <a:noFill/>
        </p:spPr>
        <p:txBody>
          <a:bodyPr wrap="square" rtlCol="0">
            <a:spAutoFit/>
          </a:bodyPr>
          <a:lstStyle/>
          <a:p>
            <a:r>
              <a:rPr lang="en-IN" sz="1200" dirty="0"/>
              <a:t>Fig-3</a:t>
            </a:r>
          </a:p>
        </p:txBody>
      </p:sp>
    </p:spTree>
    <p:extLst>
      <p:ext uri="{BB962C8B-B14F-4D97-AF65-F5344CB8AC3E}">
        <p14:creationId xmlns:p14="http://schemas.microsoft.com/office/powerpoint/2010/main" val="2266500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BE879F-548F-F490-C50A-61491EBBD076}"/>
              </a:ext>
            </a:extLst>
          </p:cNvPr>
          <p:cNvPicPr>
            <a:picLocks noChangeAspect="1"/>
          </p:cNvPicPr>
          <p:nvPr/>
        </p:nvPicPr>
        <p:blipFill>
          <a:blip r:embed="rId3"/>
          <a:srcRect t="14575"/>
          <a:stretch/>
        </p:blipFill>
        <p:spPr>
          <a:xfrm>
            <a:off x="158855" y="752400"/>
            <a:ext cx="4309778" cy="1643080"/>
          </a:xfrm>
          <a:prstGeom prst="rect">
            <a:avLst/>
          </a:prstGeom>
        </p:spPr>
      </p:pic>
      <p:pic>
        <p:nvPicPr>
          <p:cNvPr id="3" name="Picture 2">
            <a:extLst>
              <a:ext uri="{FF2B5EF4-FFF2-40B4-BE49-F238E27FC236}">
                <a16:creationId xmlns:a16="http://schemas.microsoft.com/office/drawing/2014/main" id="{EAF13FF6-18CE-19DB-FA06-9B2C7201BA3C}"/>
              </a:ext>
            </a:extLst>
          </p:cNvPr>
          <p:cNvPicPr>
            <a:picLocks noChangeAspect="1"/>
          </p:cNvPicPr>
          <p:nvPr/>
        </p:nvPicPr>
        <p:blipFill>
          <a:blip r:embed="rId4"/>
          <a:stretch>
            <a:fillRect/>
          </a:stretch>
        </p:blipFill>
        <p:spPr>
          <a:xfrm>
            <a:off x="4572000" y="752399"/>
            <a:ext cx="4383404" cy="1707289"/>
          </a:xfrm>
          <a:prstGeom prst="rect">
            <a:avLst/>
          </a:prstGeom>
        </p:spPr>
      </p:pic>
      <p:pic>
        <p:nvPicPr>
          <p:cNvPr id="4" name="Picture 3">
            <a:extLst>
              <a:ext uri="{FF2B5EF4-FFF2-40B4-BE49-F238E27FC236}">
                <a16:creationId xmlns:a16="http://schemas.microsoft.com/office/drawing/2014/main" id="{C94680AA-76D8-3C9E-2790-FC96BA573DB3}"/>
              </a:ext>
            </a:extLst>
          </p:cNvPr>
          <p:cNvPicPr>
            <a:picLocks noChangeAspect="1"/>
          </p:cNvPicPr>
          <p:nvPr/>
        </p:nvPicPr>
        <p:blipFill>
          <a:blip r:embed="rId5"/>
          <a:srcRect t="2780"/>
          <a:stretch/>
        </p:blipFill>
        <p:spPr>
          <a:xfrm>
            <a:off x="158855" y="3473632"/>
            <a:ext cx="4308402" cy="1643080"/>
          </a:xfrm>
          <a:prstGeom prst="rect">
            <a:avLst/>
          </a:prstGeom>
        </p:spPr>
      </p:pic>
      <p:sp>
        <p:nvSpPr>
          <p:cNvPr id="5" name="Rectangle 4">
            <a:extLst>
              <a:ext uri="{FF2B5EF4-FFF2-40B4-BE49-F238E27FC236}">
                <a16:creationId xmlns:a16="http://schemas.microsoft.com/office/drawing/2014/main" id="{83928108-DF2B-AD6B-0C60-556F9C888DFF}"/>
              </a:ext>
            </a:extLst>
          </p:cNvPr>
          <p:cNvSpPr/>
          <p:nvPr/>
        </p:nvSpPr>
        <p:spPr>
          <a:xfrm>
            <a:off x="158855" y="2422940"/>
            <a:ext cx="4308402" cy="84457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rPr>
              <a:t>In Delhi, the cases started growing immensely from 2012 with highest reported cases in the year 2015. (i.e., 23.7) and for Mizoram in the year 2012 (i.e., 20.81)</a:t>
            </a:r>
          </a:p>
          <a:p>
            <a:r>
              <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rPr>
              <a:t>Since the beginning Mizoram has a high reported rape cases but seems decreased in the later years.</a:t>
            </a:r>
          </a:p>
        </p:txBody>
      </p:sp>
      <p:sp>
        <p:nvSpPr>
          <p:cNvPr id="6" name="Rectangle 5">
            <a:extLst>
              <a:ext uri="{FF2B5EF4-FFF2-40B4-BE49-F238E27FC236}">
                <a16:creationId xmlns:a16="http://schemas.microsoft.com/office/drawing/2014/main" id="{C362843A-F037-359B-8CCA-005FAAD3F62D}"/>
              </a:ext>
            </a:extLst>
          </p:cNvPr>
          <p:cNvSpPr/>
          <p:nvPr/>
        </p:nvSpPr>
        <p:spPr>
          <a:xfrm>
            <a:off x="4572000" y="2535989"/>
            <a:ext cx="4179268" cy="73152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rPr>
              <a:t>Both Madhya Pradesh and Assam had lower rape cases in the initial years and started to increase since 2012. </a:t>
            </a:r>
          </a:p>
          <a:p>
            <a:r>
              <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rPr>
              <a:t>Madhya Pradesh saw its highest number of cases in they year 2017(i.e., 14.7) and for Assam in 2014 (i.e., 12.8)</a:t>
            </a:r>
          </a:p>
        </p:txBody>
      </p:sp>
      <p:sp>
        <p:nvSpPr>
          <p:cNvPr id="7" name="Rectangle 6">
            <a:extLst>
              <a:ext uri="{FF2B5EF4-FFF2-40B4-BE49-F238E27FC236}">
                <a16:creationId xmlns:a16="http://schemas.microsoft.com/office/drawing/2014/main" id="{6379E2E9-3A92-C916-75C3-09770836C6B8}"/>
              </a:ext>
            </a:extLst>
          </p:cNvPr>
          <p:cNvSpPr/>
          <p:nvPr/>
        </p:nvSpPr>
        <p:spPr>
          <a:xfrm>
            <a:off x="4572000" y="4010847"/>
            <a:ext cx="4122063" cy="1011976"/>
          </a:xfrm>
          <a:prstGeom prst="rect">
            <a:avLst/>
          </a:prstGeom>
          <a:solidFill>
            <a:srgbClr val="AC450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solidFill>
                  <a:schemeClr val="bg1"/>
                </a:solidFill>
                <a:latin typeface="Calibri" panose="020F0502020204030204" pitchFamily="34" charset="0"/>
                <a:ea typeface="Calibri" panose="020F0502020204030204" pitchFamily="34" charset="0"/>
                <a:cs typeface="Calibri" panose="020F0502020204030204" pitchFamily="34" charset="0"/>
              </a:rPr>
              <a:t>Both Arunachal Pradesh and Chhattisgarh has short-term fluctuations in their number of reported rape cases. Rape cases started to rise from 2012.</a:t>
            </a:r>
          </a:p>
          <a:p>
            <a:r>
              <a:rPr lang="en-IN" sz="1200" dirty="0">
                <a:solidFill>
                  <a:schemeClr val="bg1"/>
                </a:solidFill>
                <a:latin typeface="Calibri" panose="020F0502020204030204" pitchFamily="34" charset="0"/>
                <a:ea typeface="Calibri" panose="020F0502020204030204" pitchFamily="34" charset="0"/>
                <a:cs typeface="Calibri" panose="020F0502020204030204" pitchFamily="34" charset="0"/>
              </a:rPr>
              <a:t>Arunachal Pradesh has highest reported cases in the year 2016 (i.e., 14.7) and Chhattisgarh in the year 2018 (i.e., 14.7).</a:t>
            </a:r>
          </a:p>
        </p:txBody>
      </p:sp>
      <p:sp>
        <p:nvSpPr>
          <p:cNvPr id="8" name="TextBox 7">
            <a:extLst>
              <a:ext uri="{FF2B5EF4-FFF2-40B4-BE49-F238E27FC236}">
                <a16:creationId xmlns:a16="http://schemas.microsoft.com/office/drawing/2014/main" id="{F4CBDFC5-04C5-F0CE-5C7F-5373E07AAE67}"/>
              </a:ext>
            </a:extLst>
          </p:cNvPr>
          <p:cNvSpPr txBox="1"/>
          <p:nvPr/>
        </p:nvSpPr>
        <p:spPr>
          <a:xfrm>
            <a:off x="6689378" y="512946"/>
            <a:ext cx="1518695" cy="276999"/>
          </a:xfrm>
          <a:prstGeom prst="rect">
            <a:avLst/>
          </a:prstGeom>
          <a:noFill/>
        </p:spPr>
        <p:txBody>
          <a:bodyPr wrap="square" rtlCol="0">
            <a:spAutoFit/>
          </a:bodyPr>
          <a:lstStyle/>
          <a:p>
            <a:r>
              <a:rPr lang="en-IN" sz="1200" dirty="0">
                <a:latin typeface="Calibri" panose="020F0502020204030204" pitchFamily="34" charset="0"/>
                <a:ea typeface="Calibri" panose="020F0502020204030204" pitchFamily="34" charset="0"/>
                <a:cs typeface="Calibri" panose="020F0502020204030204" pitchFamily="34" charset="0"/>
              </a:rPr>
              <a:t>Fig-5</a:t>
            </a:r>
          </a:p>
        </p:txBody>
      </p:sp>
      <p:sp>
        <p:nvSpPr>
          <p:cNvPr id="12" name="TextBox 11">
            <a:extLst>
              <a:ext uri="{FF2B5EF4-FFF2-40B4-BE49-F238E27FC236}">
                <a16:creationId xmlns:a16="http://schemas.microsoft.com/office/drawing/2014/main" id="{7DF26CDA-60C1-7AAB-DE1E-990D9A91B557}"/>
              </a:ext>
            </a:extLst>
          </p:cNvPr>
          <p:cNvSpPr txBox="1"/>
          <p:nvPr/>
        </p:nvSpPr>
        <p:spPr>
          <a:xfrm>
            <a:off x="158855" y="26788"/>
            <a:ext cx="846048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effectLst/>
                <a:uLnTx/>
                <a:uFillTx/>
                <a:latin typeface="IBM Plex Mono" panose="020B0509050203000203" pitchFamily="49" charset="0"/>
              </a:rPr>
              <a:t>GRAPHICAL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graphical representation of top 10 states in India (Delhi, Mizoram, Madhya Pradesh, Arunachal Pradesh and Chhattisgarh</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42903392-D2BA-5197-82F1-FE5239BB5428}"/>
              </a:ext>
            </a:extLst>
          </p:cNvPr>
          <p:cNvSpPr txBox="1"/>
          <p:nvPr/>
        </p:nvSpPr>
        <p:spPr>
          <a:xfrm>
            <a:off x="1838368" y="522220"/>
            <a:ext cx="1518695" cy="276999"/>
          </a:xfrm>
          <a:prstGeom prst="rect">
            <a:avLst/>
          </a:prstGeom>
          <a:noFill/>
        </p:spPr>
        <p:txBody>
          <a:bodyPr wrap="square" rtlCol="0">
            <a:spAutoFit/>
          </a:bodyPr>
          <a:lstStyle/>
          <a:p>
            <a:r>
              <a:rPr lang="en-IN" sz="1200" dirty="0">
                <a:latin typeface="Calibri" panose="020F0502020204030204" pitchFamily="34" charset="0"/>
                <a:ea typeface="Calibri" panose="020F0502020204030204" pitchFamily="34" charset="0"/>
                <a:cs typeface="Calibri" panose="020F0502020204030204" pitchFamily="34" charset="0"/>
              </a:rPr>
              <a:t>Fig-4</a:t>
            </a:r>
          </a:p>
        </p:txBody>
      </p:sp>
      <p:sp>
        <p:nvSpPr>
          <p:cNvPr id="14" name="TextBox 13">
            <a:extLst>
              <a:ext uri="{FF2B5EF4-FFF2-40B4-BE49-F238E27FC236}">
                <a16:creationId xmlns:a16="http://schemas.microsoft.com/office/drawing/2014/main" id="{7790BF4D-D1E7-3C7A-D62E-C9B17B266D4E}"/>
              </a:ext>
            </a:extLst>
          </p:cNvPr>
          <p:cNvSpPr txBox="1"/>
          <p:nvPr/>
        </p:nvSpPr>
        <p:spPr>
          <a:xfrm>
            <a:off x="1979875" y="3224903"/>
            <a:ext cx="1518695" cy="276999"/>
          </a:xfrm>
          <a:prstGeom prst="rect">
            <a:avLst/>
          </a:prstGeom>
          <a:noFill/>
        </p:spPr>
        <p:txBody>
          <a:bodyPr wrap="square" rtlCol="0">
            <a:spAutoFit/>
          </a:bodyPr>
          <a:lstStyle/>
          <a:p>
            <a:r>
              <a:rPr lang="en-IN" sz="1200" dirty="0">
                <a:latin typeface="Calibri" panose="020F0502020204030204" pitchFamily="34" charset="0"/>
                <a:ea typeface="Calibri" panose="020F0502020204030204" pitchFamily="34" charset="0"/>
                <a:cs typeface="Calibri" panose="020F0502020204030204" pitchFamily="34" charset="0"/>
              </a:rPr>
              <a:t>Fig-6</a:t>
            </a:r>
          </a:p>
        </p:txBody>
      </p:sp>
    </p:spTree>
    <p:extLst>
      <p:ext uri="{BB962C8B-B14F-4D97-AF65-F5344CB8AC3E}">
        <p14:creationId xmlns:p14="http://schemas.microsoft.com/office/powerpoint/2010/main" val="319449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709CA3-CD3B-8666-93FA-3F459C060805}"/>
              </a:ext>
            </a:extLst>
          </p:cNvPr>
          <p:cNvPicPr>
            <a:picLocks noChangeAspect="1"/>
          </p:cNvPicPr>
          <p:nvPr/>
        </p:nvPicPr>
        <p:blipFill>
          <a:blip r:embed="rId2"/>
          <a:srcRect b="2807"/>
          <a:stretch/>
        </p:blipFill>
        <p:spPr>
          <a:xfrm>
            <a:off x="161976" y="845690"/>
            <a:ext cx="4707173" cy="1969072"/>
          </a:xfrm>
          <a:prstGeom prst="rect">
            <a:avLst/>
          </a:prstGeom>
        </p:spPr>
      </p:pic>
      <p:pic>
        <p:nvPicPr>
          <p:cNvPr id="3" name="Picture 2">
            <a:extLst>
              <a:ext uri="{FF2B5EF4-FFF2-40B4-BE49-F238E27FC236}">
                <a16:creationId xmlns:a16="http://schemas.microsoft.com/office/drawing/2014/main" id="{8DAB2E93-E8D0-8027-EBAF-A3A4FA585F6D}"/>
              </a:ext>
            </a:extLst>
          </p:cNvPr>
          <p:cNvPicPr>
            <a:picLocks noChangeAspect="1"/>
          </p:cNvPicPr>
          <p:nvPr/>
        </p:nvPicPr>
        <p:blipFill>
          <a:blip r:embed="rId3"/>
          <a:stretch>
            <a:fillRect/>
          </a:stretch>
        </p:blipFill>
        <p:spPr>
          <a:xfrm>
            <a:off x="4055166" y="2885234"/>
            <a:ext cx="4976146" cy="2172477"/>
          </a:xfrm>
          <a:prstGeom prst="rect">
            <a:avLst/>
          </a:prstGeom>
        </p:spPr>
      </p:pic>
      <p:sp>
        <p:nvSpPr>
          <p:cNvPr id="4" name="Rectangle 3">
            <a:extLst>
              <a:ext uri="{FF2B5EF4-FFF2-40B4-BE49-F238E27FC236}">
                <a16:creationId xmlns:a16="http://schemas.microsoft.com/office/drawing/2014/main" id="{B1A8D18E-A1FB-F865-D007-BAB73ED4BEA9}"/>
              </a:ext>
            </a:extLst>
          </p:cNvPr>
          <p:cNvSpPr/>
          <p:nvPr/>
        </p:nvSpPr>
        <p:spPr>
          <a:xfrm>
            <a:off x="241150" y="3522905"/>
            <a:ext cx="3745064" cy="1371384"/>
          </a:xfrm>
          <a:prstGeom prst="rect">
            <a:avLst/>
          </a:prstGeom>
          <a:solidFill>
            <a:srgbClr val="6FEFD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In 2005 Chandigarh, had a rise in the number of cases. Later highest reported cases were seen in the year 2018 (i.e., 16.1).</a:t>
            </a:r>
          </a:p>
          <a:p>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Haryana has short-term fluctuations in it’s reported cases with highest number of cases in the year 2022 (i.e., 12.7).</a:t>
            </a:r>
          </a:p>
        </p:txBody>
      </p:sp>
      <p:sp>
        <p:nvSpPr>
          <p:cNvPr id="5" name="Rectangle 4">
            <a:extLst>
              <a:ext uri="{FF2B5EF4-FFF2-40B4-BE49-F238E27FC236}">
                <a16:creationId xmlns:a16="http://schemas.microsoft.com/office/drawing/2014/main" id="{4CD6D247-9C77-E5D0-8680-275562B5218D}"/>
              </a:ext>
            </a:extLst>
          </p:cNvPr>
          <p:cNvSpPr/>
          <p:nvPr/>
        </p:nvSpPr>
        <p:spPr>
          <a:xfrm>
            <a:off x="4984230" y="1011835"/>
            <a:ext cx="3997794" cy="1364106"/>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dirty="0"/>
              <a:t>In the initial years, Rajasthan has low rape cases whereas Tripura has high cases and short-term fluctuations in the data. </a:t>
            </a:r>
          </a:p>
          <a:p>
            <a:r>
              <a:rPr lang="en-IN" sz="1400" dirty="0"/>
              <a:t>Highest cases for Rajasthan was reported in 2021 (i.e., 16.4) and for Tripura it was 2013 (i.e., 12.84).</a:t>
            </a:r>
          </a:p>
        </p:txBody>
      </p:sp>
      <p:sp>
        <p:nvSpPr>
          <p:cNvPr id="7" name="TextBox 6">
            <a:extLst>
              <a:ext uri="{FF2B5EF4-FFF2-40B4-BE49-F238E27FC236}">
                <a16:creationId xmlns:a16="http://schemas.microsoft.com/office/drawing/2014/main" id="{FB941124-3631-BD9D-D53C-A0CA8817A1DF}"/>
              </a:ext>
            </a:extLst>
          </p:cNvPr>
          <p:cNvSpPr txBox="1"/>
          <p:nvPr/>
        </p:nvSpPr>
        <p:spPr>
          <a:xfrm>
            <a:off x="0" y="25624"/>
            <a:ext cx="9248931"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effectLst/>
                <a:uLnTx/>
                <a:uFillTx/>
                <a:latin typeface="IBM Plex Mono" panose="020B0509050203000203" pitchFamily="49" charset="0"/>
              </a:rPr>
              <a:t>GRAPHICAL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graphical representation of top 10 states in India (Rajasthan, Tripura, Chandigarh</a:t>
            </a:r>
            <a:r>
              <a:rPr lang="en-IN" sz="1200" b="1" dirty="0">
                <a:latin typeface="Calibri" panose="020F0502020204030204" pitchFamily="34" charset="0"/>
                <a:ea typeface="Calibri" panose="020F0502020204030204" pitchFamily="34" charset="0"/>
                <a:cs typeface="Calibri" panose="020F0502020204030204" pitchFamily="34" charset="0"/>
              </a:rPr>
              <a:t> and Haryana</a:t>
            </a:r>
            <a:r>
              <a:rPr kumimoji="0" lang="en-IN" sz="12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t>
            </a:r>
          </a:p>
        </p:txBody>
      </p:sp>
      <p:sp>
        <p:nvSpPr>
          <p:cNvPr id="8" name="TextBox 7">
            <a:extLst>
              <a:ext uri="{FF2B5EF4-FFF2-40B4-BE49-F238E27FC236}">
                <a16:creationId xmlns:a16="http://schemas.microsoft.com/office/drawing/2014/main" id="{5E30520A-C4BB-F2D1-4444-F7CD2B143A94}"/>
              </a:ext>
            </a:extLst>
          </p:cNvPr>
          <p:cNvSpPr txBox="1"/>
          <p:nvPr/>
        </p:nvSpPr>
        <p:spPr>
          <a:xfrm>
            <a:off x="2067338" y="568691"/>
            <a:ext cx="985962" cy="276999"/>
          </a:xfrm>
          <a:prstGeom prst="rect">
            <a:avLst/>
          </a:prstGeom>
          <a:noFill/>
        </p:spPr>
        <p:txBody>
          <a:bodyPr wrap="square" rtlCol="0">
            <a:spAutoFit/>
          </a:bodyPr>
          <a:lstStyle/>
          <a:p>
            <a:r>
              <a:rPr lang="en-IN" sz="1200" dirty="0">
                <a:latin typeface="Calibri" panose="020F0502020204030204" pitchFamily="34" charset="0"/>
                <a:ea typeface="Calibri" panose="020F0502020204030204" pitchFamily="34" charset="0"/>
                <a:cs typeface="Calibri" panose="020F0502020204030204" pitchFamily="34" charset="0"/>
              </a:rPr>
              <a:t>Fig- 7</a:t>
            </a:r>
          </a:p>
        </p:txBody>
      </p:sp>
      <p:sp>
        <p:nvSpPr>
          <p:cNvPr id="9" name="TextBox 8">
            <a:extLst>
              <a:ext uri="{FF2B5EF4-FFF2-40B4-BE49-F238E27FC236}">
                <a16:creationId xmlns:a16="http://schemas.microsoft.com/office/drawing/2014/main" id="{F5310FEF-3A22-DA8D-B44E-81BA94F42058}"/>
              </a:ext>
            </a:extLst>
          </p:cNvPr>
          <p:cNvSpPr txBox="1"/>
          <p:nvPr/>
        </p:nvSpPr>
        <p:spPr>
          <a:xfrm>
            <a:off x="6543239" y="2605300"/>
            <a:ext cx="1081378" cy="276999"/>
          </a:xfrm>
          <a:prstGeom prst="rect">
            <a:avLst/>
          </a:prstGeom>
          <a:noFill/>
        </p:spPr>
        <p:txBody>
          <a:bodyPr wrap="square" rtlCol="0">
            <a:spAutoFit/>
          </a:bodyPr>
          <a:lstStyle/>
          <a:p>
            <a:r>
              <a:rPr lang="en-IN" sz="1200" dirty="0">
                <a:latin typeface="Calibri" panose="020F0502020204030204" pitchFamily="34" charset="0"/>
                <a:ea typeface="Calibri" panose="020F0502020204030204" pitchFamily="34" charset="0"/>
                <a:cs typeface="Calibri" panose="020F0502020204030204" pitchFamily="34" charset="0"/>
              </a:rPr>
              <a:t>Fig- 8</a:t>
            </a:r>
          </a:p>
        </p:txBody>
      </p:sp>
    </p:spTree>
    <p:extLst>
      <p:ext uri="{BB962C8B-B14F-4D97-AF65-F5344CB8AC3E}">
        <p14:creationId xmlns:p14="http://schemas.microsoft.com/office/powerpoint/2010/main" val="482352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B6249E-D777-B47B-F39A-031F36942DCE}"/>
              </a:ext>
            </a:extLst>
          </p:cNvPr>
          <p:cNvSpPr txBox="1"/>
          <p:nvPr/>
        </p:nvSpPr>
        <p:spPr>
          <a:xfrm>
            <a:off x="1819432" y="82448"/>
            <a:ext cx="5505136"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QUALITY OF THE DATA</a:t>
            </a:r>
            <a:br>
              <a:rPr kumimoji="0" lang="en-IN" sz="2800" b="0" i="0" u="none" strike="noStrike" kern="1200" cap="none" spc="0" normalizeH="0" baseline="0" noProof="0" dirty="0">
                <a:ln>
                  <a:noFill/>
                </a:ln>
                <a:effectLst/>
                <a:uLnTx/>
                <a:uFillTx/>
                <a:latin typeface="Calibri Light" panose="020F0302020204030204"/>
                <a:ea typeface="+mj-ea"/>
                <a:cs typeface="+mj-cs"/>
              </a:rPr>
            </a:b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Outliers checking through boxplot for Germany</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28F345A-5AE5-BC66-D985-6AAAEDFA6187}"/>
              </a:ext>
            </a:extLst>
          </p:cNvPr>
          <p:cNvPicPr>
            <a:picLocks noChangeAspect="1"/>
          </p:cNvPicPr>
          <p:nvPr/>
        </p:nvPicPr>
        <p:blipFill>
          <a:blip r:embed="rId2"/>
          <a:stretch>
            <a:fillRect/>
          </a:stretch>
        </p:blipFill>
        <p:spPr>
          <a:xfrm>
            <a:off x="862616" y="1053713"/>
            <a:ext cx="3212035" cy="2311171"/>
          </a:xfrm>
          <a:prstGeom prst="rect">
            <a:avLst/>
          </a:prstGeom>
        </p:spPr>
      </p:pic>
      <p:pic>
        <p:nvPicPr>
          <p:cNvPr id="5" name="Picture 4">
            <a:extLst>
              <a:ext uri="{FF2B5EF4-FFF2-40B4-BE49-F238E27FC236}">
                <a16:creationId xmlns:a16="http://schemas.microsoft.com/office/drawing/2014/main" id="{56BCCB59-8F65-3DD3-BF13-703EB6594486}"/>
              </a:ext>
            </a:extLst>
          </p:cNvPr>
          <p:cNvPicPr>
            <a:picLocks noChangeAspect="1"/>
          </p:cNvPicPr>
          <p:nvPr/>
        </p:nvPicPr>
        <p:blipFill>
          <a:blip r:embed="rId3"/>
          <a:stretch>
            <a:fillRect/>
          </a:stretch>
        </p:blipFill>
        <p:spPr>
          <a:xfrm>
            <a:off x="4465425" y="1181041"/>
            <a:ext cx="3151223" cy="2183843"/>
          </a:xfrm>
          <a:prstGeom prst="rect">
            <a:avLst/>
          </a:prstGeom>
        </p:spPr>
      </p:pic>
      <p:sp>
        <p:nvSpPr>
          <p:cNvPr id="6" name="Rectangle 5">
            <a:extLst>
              <a:ext uri="{FF2B5EF4-FFF2-40B4-BE49-F238E27FC236}">
                <a16:creationId xmlns:a16="http://schemas.microsoft.com/office/drawing/2014/main" id="{C286BA96-F53E-150C-5280-AFD20C25D79C}"/>
              </a:ext>
            </a:extLst>
          </p:cNvPr>
          <p:cNvSpPr/>
          <p:nvPr/>
        </p:nvSpPr>
        <p:spPr>
          <a:xfrm>
            <a:off x="862616" y="3523997"/>
            <a:ext cx="6738078" cy="876924"/>
          </a:xfrm>
          <a:prstGeom prst="rect">
            <a:avLst/>
          </a:prstGeom>
          <a:solidFill>
            <a:srgbClr val="FCE3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Here the dataset of Germany has one outlier. So to carry out the time series analysis we choose to remove the outlier, causing a significant 5% data loss. </a:t>
            </a:r>
          </a:p>
        </p:txBody>
      </p:sp>
      <p:sp>
        <p:nvSpPr>
          <p:cNvPr id="7" name="TextBox 6">
            <a:extLst>
              <a:ext uri="{FF2B5EF4-FFF2-40B4-BE49-F238E27FC236}">
                <a16:creationId xmlns:a16="http://schemas.microsoft.com/office/drawing/2014/main" id="{53629839-D518-F5A1-5196-EABE7D2AF5A2}"/>
              </a:ext>
            </a:extLst>
          </p:cNvPr>
          <p:cNvSpPr txBox="1"/>
          <p:nvPr/>
        </p:nvSpPr>
        <p:spPr>
          <a:xfrm>
            <a:off x="2091128" y="762294"/>
            <a:ext cx="906905" cy="276999"/>
          </a:xfrm>
          <a:prstGeom prst="rect">
            <a:avLst/>
          </a:prstGeom>
          <a:noFill/>
        </p:spPr>
        <p:txBody>
          <a:bodyPr wrap="square" rtlCol="0">
            <a:spAutoFit/>
          </a:bodyPr>
          <a:lstStyle/>
          <a:p>
            <a:r>
              <a:rPr lang="en-IN" sz="1200" dirty="0"/>
              <a:t>Fig- 9 </a:t>
            </a:r>
          </a:p>
        </p:txBody>
      </p:sp>
      <p:sp>
        <p:nvSpPr>
          <p:cNvPr id="9" name="TextBox 8">
            <a:extLst>
              <a:ext uri="{FF2B5EF4-FFF2-40B4-BE49-F238E27FC236}">
                <a16:creationId xmlns:a16="http://schemas.microsoft.com/office/drawing/2014/main" id="{E3A068A5-810F-1EB9-FBC2-848A524A39EF}"/>
              </a:ext>
            </a:extLst>
          </p:cNvPr>
          <p:cNvSpPr txBox="1"/>
          <p:nvPr/>
        </p:nvSpPr>
        <p:spPr>
          <a:xfrm>
            <a:off x="6041037" y="762132"/>
            <a:ext cx="5505136" cy="276999"/>
          </a:xfrm>
          <a:prstGeom prst="rect">
            <a:avLst/>
          </a:prstGeom>
          <a:noFill/>
        </p:spPr>
        <p:txBody>
          <a:bodyPr wrap="square">
            <a:spAutoFit/>
          </a:bodyPr>
          <a:lstStyle/>
          <a:p>
            <a:r>
              <a:rPr lang="en-IN" sz="1200" dirty="0"/>
              <a:t>Fig- 10 </a:t>
            </a:r>
          </a:p>
        </p:txBody>
      </p:sp>
    </p:spTree>
    <p:extLst>
      <p:ext uri="{BB962C8B-B14F-4D97-AF65-F5344CB8AC3E}">
        <p14:creationId xmlns:p14="http://schemas.microsoft.com/office/powerpoint/2010/main" val="4026258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44055-4983-6884-09CB-C2A0F4293F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0D51FE-01E9-1F59-58E8-199E5D0437CD}"/>
              </a:ext>
            </a:extLst>
          </p:cNvPr>
          <p:cNvSpPr txBox="1"/>
          <p:nvPr/>
        </p:nvSpPr>
        <p:spPr>
          <a:xfrm>
            <a:off x="1913120" y="0"/>
            <a:ext cx="5505136"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QUALITY OF THE DATA</a:t>
            </a:r>
            <a:br>
              <a:rPr kumimoji="0" lang="en-IN" sz="2800" b="0" i="0" u="none" strike="noStrike" kern="1200" cap="none" spc="0" normalizeH="0" baseline="0" noProof="0" dirty="0">
                <a:ln>
                  <a:noFill/>
                </a:ln>
                <a:effectLst/>
                <a:uLnTx/>
                <a:uFillTx/>
                <a:latin typeface="Calibri Light" panose="020F0302020204030204"/>
                <a:ea typeface="+mj-ea"/>
                <a:cs typeface="+mj-cs"/>
              </a:rPr>
            </a:b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Outliers checking through boxplot for Kenya</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82091751-87CB-7229-B722-6086F56F8D1D}"/>
              </a:ext>
            </a:extLst>
          </p:cNvPr>
          <p:cNvPicPr>
            <a:picLocks noChangeAspect="1"/>
          </p:cNvPicPr>
          <p:nvPr/>
        </p:nvPicPr>
        <p:blipFill>
          <a:blip r:embed="rId2"/>
          <a:stretch>
            <a:fillRect/>
          </a:stretch>
        </p:blipFill>
        <p:spPr>
          <a:xfrm>
            <a:off x="1015783" y="1061891"/>
            <a:ext cx="3069014" cy="2405920"/>
          </a:xfrm>
          <a:prstGeom prst="rect">
            <a:avLst/>
          </a:prstGeom>
        </p:spPr>
      </p:pic>
      <p:pic>
        <p:nvPicPr>
          <p:cNvPr id="6" name="Picture 5">
            <a:extLst>
              <a:ext uri="{FF2B5EF4-FFF2-40B4-BE49-F238E27FC236}">
                <a16:creationId xmlns:a16="http://schemas.microsoft.com/office/drawing/2014/main" id="{D6FFDBAC-D30D-3C7F-B014-678B5D3A57A1}"/>
              </a:ext>
            </a:extLst>
          </p:cNvPr>
          <p:cNvPicPr>
            <a:picLocks noChangeAspect="1"/>
          </p:cNvPicPr>
          <p:nvPr/>
        </p:nvPicPr>
        <p:blipFill>
          <a:blip r:embed="rId3"/>
          <a:stretch>
            <a:fillRect/>
          </a:stretch>
        </p:blipFill>
        <p:spPr>
          <a:xfrm>
            <a:off x="4898035" y="1055737"/>
            <a:ext cx="2852077" cy="2418227"/>
          </a:xfrm>
          <a:prstGeom prst="rect">
            <a:avLst/>
          </a:prstGeom>
        </p:spPr>
      </p:pic>
      <p:sp>
        <p:nvSpPr>
          <p:cNvPr id="5" name="Rectangle 4">
            <a:extLst>
              <a:ext uri="{FF2B5EF4-FFF2-40B4-BE49-F238E27FC236}">
                <a16:creationId xmlns:a16="http://schemas.microsoft.com/office/drawing/2014/main" id="{76540D97-2857-24D9-4908-432D66CFB500}"/>
              </a:ext>
            </a:extLst>
          </p:cNvPr>
          <p:cNvSpPr/>
          <p:nvPr/>
        </p:nvSpPr>
        <p:spPr>
          <a:xfrm>
            <a:off x="1015783" y="3701765"/>
            <a:ext cx="6738078" cy="884702"/>
          </a:xfrm>
          <a:prstGeom prst="rect">
            <a:avLst/>
          </a:prstGeom>
          <a:solidFill>
            <a:srgbClr val="FCE3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Here the dataset of Kenya three outliers. So to carry out the time series analysis we choose to remove the outliers, causing a significant 15% data loss. </a:t>
            </a:r>
          </a:p>
        </p:txBody>
      </p:sp>
      <p:sp>
        <p:nvSpPr>
          <p:cNvPr id="8" name="TextBox 7">
            <a:extLst>
              <a:ext uri="{FF2B5EF4-FFF2-40B4-BE49-F238E27FC236}">
                <a16:creationId xmlns:a16="http://schemas.microsoft.com/office/drawing/2014/main" id="{C52C37EA-5F16-09C3-CB45-4CD8DA12FA59}"/>
              </a:ext>
            </a:extLst>
          </p:cNvPr>
          <p:cNvSpPr txBox="1"/>
          <p:nvPr/>
        </p:nvSpPr>
        <p:spPr>
          <a:xfrm>
            <a:off x="2244976" y="758394"/>
            <a:ext cx="5505136" cy="276999"/>
          </a:xfrm>
          <a:prstGeom prst="rect">
            <a:avLst/>
          </a:prstGeom>
          <a:noFill/>
        </p:spPr>
        <p:txBody>
          <a:bodyPr wrap="square">
            <a:spAutoFit/>
          </a:bodyPr>
          <a:lstStyle/>
          <a:p>
            <a:r>
              <a:rPr lang="en-IN" sz="1200" dirty="0"/>
              <a:t>Fig- 11 </a:t>
            </a:r>
          </a:p>
        </p:txBody>
      </p:sp>
      <p:sp>
        <p:nvSpPr>
          <p:cNvPr id="10" name="TextBox 9">
            <a:extLst>
              <a:ext uri="{FF2B5EF4-FFF2-40B4-BE49-F238E27FC236}">
                <a16:creationId xmlns:a16="http://schemas.microsoft.com/office/drawing/2014/main" id="{3AE06460-76D9-7882-0741-8045E7EC6E3E}"/>
              </a:ext>
            </a:extLst>
          </p:cNvPr>
          <p:cNvSpPr txBox="1"/>
          <p:nvPr/>
        </p:nvSpPr>
        <p:spPr>
          <a:xfrm>
            <a:off x="6226737" y="745118"/>
            <a:ext cx="5505136" cy="276999"/>
          </a:xfrm>
          <a:prstGeom prst="rect">
            <a:avLst/>
          </a:prstGeom>
          <a:noFill/>
        </p:spPr>
        <p:txBody>
          <a:bodyPr wrap="square">
            <a:spAutoFit/>
          </a:bodyPr>
          <a:lstStyle/>
          <a:p>
            <a:r>
              <a:rPr lang="en-IN" sz="1200" dirty="0"/>
              <a:t>Fig- 12 </a:t>
            </a:r>
          </a:p>
        </p:txBody>
      </p:sp>
    </p:spTree>
    <p:extLst>
      <p:ext uri="{BB962C8B-B14F-4D97-AF65-F5344CB8AC3E}">
        <p14:creationId xmlns:p14="http://schemas.microsoft.com/office/powerpoint/2010/main" val="3658177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609D1-E1B9-1C1A-959E-A1619FFC69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BBE978-82DC-7040-8649-EAEF685B8E00}"/>
              </a:ext>
            </a:extLst>
          </p:cNvPr>
          <p:cNvSpPr txBox="1"/>
          <p:nvPr/>
        </p:nvSpPr>
        <p:spPr>
          <a:xfrm>
            <a:off x="644577" y="96237"/>
            <a:ext cx="8177134"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QUALITY OF THE DATA</a:t>
            </a:r>
            <a:br>
              <a:rPr kumimoji="0" lang="en-IN" sz="2800" b="0" i="0" u="none" strike="noStrike" kern="1200" cap="none" spc="0" normalizeH="0" baseline="0" noProof="0" dirty="0">
                <a:ln>
                  <a:noFill/>
                </a:ln>
                <a:effectLst/>
                <a:uLnTx/>
                <a:uFillTx/>
                <a:latin typeface="Calibri Light" panose="020F0302020204030204"/>
                <a:ea typeface="+mj-ea"/>
                <a:cs typeface="+mj-cs"/>
              </a:rPr>
            </a:b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Outliers checking through boxplot for India and two of its states (Delhi and Madhya Pradesh)</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41EABEF-AD04-1365-0E5D-944DC7085F29}"/>
              </a:ext>
            </a:extLst>
          </p:cNvPr>
          <p:cNvPicPr>
            <a:picLocks noChangeAspect="1"/>
          </p:cNvPicPr>
          <p:nvPr/>
        </p:nvPicPr>
        <p:blipFill>
          <a:blip r:embed="rId2"/>
          <a:stretch>
            <a:fillRect/>
          </a:stretch>
        </p:blipFill>
        <p:spPr>
          <a:xfrm>
            <a:off x="3287890" y="1147898"/>
            <a:ext cx="2568220" cy="2029383"/>
          </a:xfrm>
          <a:prstGeom prst="rect">
            <a:avLst/>
          </a:prstGeom>
        </p:spPr>
      </p:pic>
      <p:pic>
        <p:nvPicPr>
          <p:cNvPr id="5" name="Picture 4">
            <a:extLst>
              <a:ext uri="{FF2B5EF4-FFF2-40B4-BE49-F238E27FC236}">
                <a16:creationId xmlns:a16="http://schemas.microsoft.com/office/drawing/2014/main" id="{DAC6DBFD-CB1C-06CC-E891-3619FACA7DB0}"/>
              </a:ext>
            </a:extLst>
          </p:cNvPr>
          <p:cNvPicPr>
            <a:picLocks noChangeAspect="1"/>
          </p:cNvPicPr>
          <p:nvPr/>
        </p:nvPicPr>
        <p:blipFill>
          <a:blip r:embed="rId3"/>
          <a:stretch>
            <a:fillRect/>
          </a:stretch>
        </p:blipFill>
        <p:spPr>
          <a:xfrm>
            <a:off x="278446" y="1147898"/>
            <a:ext cx="2516764" cy="2018921"/>
          </a:xfrm>
          <a:prstGeom prst="rect">
            <a:avLst/>
          </a:prstGeom>
        </p:spPr>
      </p:pic>
      <p:pic>
        <p:nvPicPr>
          <p:cNvPr id="7" name="Picture 6">
            <a:extLst>
              <a:ext uri="{FF2B5EF4-FFF2-40B4-BE49-F238E27FC236}">
                <a16:creationId xmlns:a16="http://schemas.microsoft.com/office/drawing/2014/main" id="{7483EA7E-75FD-A6D8-096A-5406D20F81C7}"/>
              </a:ext>
            </a:extLst>
          </p:cNvPr>
          <p:cNvPicPr>
            <a:picLocks noChangeAspect="1"/>
          </p:cNvPicPr>
          <p:nvPr/>
        </p:nvPicPr>
        <p:blipFill>
          <a:blip r:embed="rId4"/>
          <a:stretch>
            <a:fillRect/>
          </a:stretch>
        </p:blipFill>
        <p:spPr>
          <a:xfrm>
            <a:off x="6381317" y="1169513"/>
            <a:ext cx="2440394" cy="1997306"/>
          </a:xfrm>
          <a:prstGeom prst="rect">
            <a:avLst/>
          </a:prstGeom>
        </p:spPr>
      </p:pic>
      <p:sp>
        <p:nvSpPr>
          <p:cNvPr id="6" name="Rectangle 5">
            <a:extLst>
              <a:ext uri="{FF2B5EF4-FFF2-40B4-BE49-F238E27FC236}">
                <a16:creationId xmlns:a16="http://schemas.microsoft.com/office/drawing/2014/main" id="{F19F4265-3E0C-8407-37E2-4BE06D3A521C}"/>
              </a:ext>
            </a:extLst>
          </p:cNvPr>
          <p:cNvSpPr/>
          <p:nvPr/>
        </p:nvSpPr>
        <p:spPr>
          <a:xfrm>
            <a:off x="903157" y="3447175"/>
            <a:ext cx="7337686" cy="690110"/>
          </a:xfrm>
          <a:prstGeom prst="rect">
            <a:avLst/>
          </a:prstGeom>
          <a:solidFill>
            <a:srgbClr val="FCE3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From the above Box &amp; Whiskers plots, the dataset of Delhi, India, Madhya Pradesh has no outliers.</a:t>
            </a:r>
          </a:p>
        </p:txBody>
      </p:sp>
      <p:sp>
        <p:nvSpPr>
          <p:cNvPr id="9" name="TextBox 8">
            <a:extLst>
              <a:ext uri="{FF2B5EF4-FFF2-40B4-BE49-F238E27FC236}">
                <a16:creationId xmlns:a16="http://schemas.microsoft.com/office/drawing/2014/main" id="{72736CD6-73E0-BF5F-CFB4-76AF8575B36E}"/>
              </a:ext>
            </a:extLst>
          </p:cNvPr>
          <p:cNvSpPr txBox="1"/>
          <p:nvPr/>
        </p:nvSpPr>
        <p:spPr>
          <a:xfrm>
            <a:off x="1163611" y="821190"/>
            <a:ext cx="5505136" cy="276999"/>
          </a:xfrm>
          <a:prstGeom prst="rect">
            <a:avLst/>
          </a:prstGeom>
          <a:noFill/>
        </p:spPr>
        <p:txBody>
          <a:bodyPr wrap="square">
            <a:spAutoFit/>
          </a:bodyPr>
          <a:lstStyle/>
          <a:p>
            <a:r>
              <a:rPr lang="en-IN" sz="1200" dirty="0"/>
              <a:t>Fig- 13 </a:t>
            </a:r>
          </a:p>
        </p:txBody>
      </p:sp>
      <p:sp>
        <p:nvSpPr>
          <p:cNvPr id="11" name="TextBox 10">
            <a:extLst>
              <a:ext uri="{FF2B5EF4-FFF2-40B4-BE49-F238E27FC236}">
                <a16:creationId xmlns:a16="http://schemas.microsoft.com/office/drawing/2014/main" id="{F62BD7A5-321B-07A8-59E3-5F4A6E14E27B}"/>
              </a:ext>
            </a:extLst>
          </p:cNvPr>
          <p:cNvSpPr txBox="1"/>
          <p:nvPr/>
        </p:nvSpPr>
        <p:spPr>
          <a:xfrm>
            <a:off x="4419290" y="826557"/>
            <a:ext cx="5505136" cy="276999"/>
          </a:xfrm>
          <a:prstGeom prst="rect">
            <a:avLst/>
          </a:prstGeom>
          <a:noFill/>
        </p:spPr>
        <p:txBody>
          <a:bodyPr wrap="square">
            <a:spAutoFit/>
          </a:bodyPr>
          <a:lstStyle/>
          <a:p>
            <a:r>
              <a:rPr lang="en-IN" sz="1200" dirty="0"/>
              <a:t>Fig- 14</a:t>
            </a:r>
          </a:p>
        </p:txBody>
      </p:sp>
      <p:sp>
        <p:nvSpPr>
          <p:cNvPr id="13" name="TextBox 12">
            <a:extLst>
              <a:ext uri="{FF2B5EF4-FFF2-40B4-BE49-F238E27FC236}">
                <a16:creationId xmlns:a16="http://schemas.microsoft.com/office/drawing/2014/main" id="{F5B8B434-8B11-31FD-921E-F489CCF6088B}"/>
              </a:ext>
            </a:extLst>
          </p:cNvPr>
          <p:cNvSpPr txBox="1"/>
          <p:nvPr/>
        </p:nvSpPr>
        <p:spPr>
          <a:xfrm>
            <a:off x="7377034" y="859535"/>
            <a:ext cx="5505136" cy="276999"/>
          </a:xfrm>
          <a:prstGeom prst="rect">
            <a:avLst/>
          </a:prstGeom>
          <a:noFill/>
        </p:spPr>
        <p:txBody>
          <a:bodyPr wrap="square">
            <a:spAutoFit/>
          </a:bodyPr>
          <a:lstStyle/>
          <a:p>
            <a:r>
              <a:rPr lang="en-IN" sz="1200" dirty="0"/>
              <a:t>Fig- 15 </a:t>
            </a:r>
          </a:p>
        </p:txBody>
      </p:sp>
    </p:spTree>
    <p:extLst>
      <p:ext uri="{BB962C8B-B14F-4D97-AF65-F5344CB8AC3E}">
        <p14:creationId xmlns:p14="http://schemas.microsoft.com/office/powerpoint/2010/main" val="309915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8E33D-4F93-28A5-56EE-7693657017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C209AF-B847-65AE-C766-41117A3DE3DF}"/>
              </a:ext>
            </a:extLst>
          </p:cNvPr>
          <p:cNvSpPr txBox="1"/>
          <p:nvPr/>
        </p:nvSpPr>
        <p:spPr>
          <a:xfrm>
            <a:off x="1819432" y="136243"/>
            <a:ext cx="5505136"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QUALITY OF THE DATA</a:t>
            </a:r>
            <a:br>
              <a:rPr kumimoji="0" lang="en-IN" sz="2800" b="0" i="0" u="none" strike="noStrike" kern="1200" cap="none" spc="0" normalizeH="0" baseline="0" noProof="0" dirty="0">
                <a:ln>
                  <a:noFill/>
                </a:ln>
                <a:effectLst/>
                <a:uLnTx/>
                <a:uFillTx/>
                <a:latin typeface="Calibri Light" panose="020F0302020204030204"/>
                <a:ea typeface="+mj-ea"/>
                <a:cs typeface="+mj-cs"/>
              </a:rPr>
            </a:b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Outliers checking through boxplot for </a:t>
            </a:r>
            <a:r>
              <a:rPr lang="en-IN" sz="1400" b="1" dirty="0">
                <a:latin typeface="Calibri" panose="020F0502020204030204" pitchFamily="34" charset="0"/>
                <a:ea typeface="Calibri" panose="020F0502020204030204" pitchFamily="34" charset="0"/>
                <a:cs typeface="Calibri" panose="020F0502020204030204" pitchFamily="34" charset="0"/>
              </a:rPr>
              <a:t>Mizoram</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2959836-04CF-4CE7-DFD2-FED3B6070A32}"/>
              </a:ext>
            </a:extLst>
          </p:cNvPr>
          <p:cNvPicPr>
            <a:picLocks noChangeAspect="1"/>
          </p:cNvPicPr>
          <p:nvPr/>
        </p:nvPicPr>
        <p:blipFill>
          <a:blip r:embed="rId2"/>
          <a:stretch>
            <a:fillRect/>
          </a:stretch>
        </p:blipFill>
        <p:spPr>
          <a:xfrm>
            <a:off x="595745" y="1026537"/>
            <a:ext cx="2911821" cy="2179800"/>
          </a:xfrm>
          <a:prstGeom prst="rect">
            <a:avLst/>
          </a:prstGeom>
        </p:spPr>
      </p:pic>
      <p:pic>
        <p:nvPicPr>
          <p:cNvPr id="5" name="Picture 4">
            <a:extLst>
              <a:ext uri="{FF2B5EF4-FFF2-40B4-BE49-F238E27FC236}">
                <a16:creationId xmlns:a16="http://schemas.microsoft.com/office/drawing/2014/main" id="{EB5231AF-7388-CF0F-5C83-87F6BD016671}"/>
              </a:ext>
            </a:extLst>
          </p:cNvPr>
          <p:cNvPicPr>
            <a:picLocks noChangeAspect="1"/>
          </p:cNvPicPr>
          <p:nvPr/>
        </p:nvPicPr>
        <p:blipFill>
          <a:blip r:embed="rId3"/>
          <a:stretch>
            <a:fillRect/>
          </a:stretch>
        </p:blipFill>
        <p:spPr>
          <a:xfrm>
            <a:off x="5525747" y="1026537"/>
            <a:ext cx="2663373" cy="2179800"/>
          </a:xfrm>
          <a:prstGeom prst="rect">
            <a:avLst/>
          </a:prstGeom>
        </p:spPr>
      </p:pic>
      <p:sp>
        <p:nvSpPr>
          <p:cNvPr id="7" name="TextBox 6">
            <a:extLst>
              <a:ext uri="{FF2B5EF4-FFF2-40B4-BE49-F238E27FC236}">
                <a16:creationId xmlns:a16="http://schemas.microsoft.com/office/drawing/2014/main" id="{1DB0F336-B45D-A975-A1B6-242849E0A386}"/>
              </a:ext>
            </a:extLst>
          </p:cNvPr>
          <p:cNvSpPr txBox="1"/>
          <p:nvPr/>
        </p:nvSpPr>
        <p:spPr>
          <a:xfrm>
            <a:off x="1729377" y="749538"/>
            <a:ext cx="5505136" cy="276999"/>
          </a:xfrm>
          <a:prstGeom prst="rect">
            <a:avLst/>
          </a:prstGeom>
          <a:noFill/>
        </p:spPr>
        <p:txBody>
          <a:bodyPr wrap="square">
            <a:spAutoFit/>
          </a:bodyPr>
          <a:lstStyle/>
          <a:p>
            <a:r>
              <a:rPr lang="en-IN" sz="1200" dirty="0"/>
              <a:t>Fig- 16</a:t>
            </a:r>
          </a:p>
        </p:txBody>
      </p:sp>
      <p:sp>
        <p:nvSpPr>
          <p:cNvPr id="9" name="TextBox 8">
            <a:extLst>
              <a:ext uri="{FF2B5EF4-FFF2-40B4-BE49-F238E27FC236}">
                <a16:creationId xmlns:a16="http://schemas.microsoft.com/office/drawing/2014/main" id="{5476961B-01D1-F83C-1D83-7860C2F00ECF}"/>
              </a:ext>
            </a:extLst>
          </p:cNvPr>
          <p:cNvSpPr txBox="1"/>
          <p:nvPr/>
        </p:nvSpPr>
        <p:spPr>
          <a:xfrm>
            <a:off x="6857433" y="723274"/>
            <a:ext cx="5505136" cy="276999"/>
          </a:xfrm>
          <a:prstGeom prst="rect">
            <a:avLst/>
          </a:prstGeom>
          <a:noFill/>
        </p:spPr>
        <p:txBody>
          <a:bodyPr wrap="square">
            <a:spAutoFit/>
          </a:bodyPr>
          <a:lstStyle/>
          <a:p>
            <a:r>
              <a:rPr lang="en-IN" sz="1200" dirty="0"/>
              <a:t>Fig-17</a:t>
            </a:r>
          </a:p>
        </p:txBody>
      </p:sp>
      <p:sp>
        <p:nvSpPr>
          <p:cNvPr id="10" name="Rectangle 9">
            <a:extLst>
              <a:ext uri="{FF2B5EF4-FFF2-40B4-BE49-F238E27FC236}">
                <a16:creationId xmlns:a16="http://schemas.microsoft.com/office/drawing/2014/main" id="{7E98DAAF-6895-175A-D51E-CE25829D82F7}"/>
              </a:ext>
            </a:extLst>
          </p:cNvPr>
          <p:cNvSpPr/>
          <p:nvPr/>
        </p:nvSpPr>
        <p:spPr>
          <a:xfrm>
            <a:off x="595745" y="3483336"/>
            <a:ext cx="7593375" cy="846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t>Here the dataset of Mizoram has three outlier. So to carry out the time series analysis we choose to remove the outlier, causing a significant 15% data loss. </a:t>
            </a:r>
          </a:p>
        </p:txBody>
      </p:sp>
    </p:spTree>
    <p:extLst>
      <p:ext uri="{BB962C8B-B14F-4D97-AF65-F5344CB8AC3E}">
        <p14:creationId xmlns:p14="http://schemas.microsoft.com/office/powerpoint/2010/main" val="1442081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D3307-CDB2-E322-5BD5-89A66DA615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7FC3DC-D8AF-CD8F-FD02-52717AEF465C}"/>
              </a:ext>
            </a:extLst>
          </p:cNvPr>
          <p:cNvSpPr txBox="1"/>
          <p:nvPr/>
        </p:nvSpPr>
        <p:spPr>
          <a:xfrm>
            <a:off x="0" y="82446"/>
            <a:ext cx="9144000"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QUALITY OF THE DATA</a:t>
            </a:r>
            <a:br>
              <a:rPr kumimoji="0" lang="en-IN" sz="2800" b="0" i="0" u="none" strike="noStrike" kern="1200" cap="none" spc="0" normalizeH="0" baseline="0" noProof="0" dirty="0">
                <a:ln>
                  <a:noFill/>
                </a:ln>
                <a:effectLst/>
                <a:uLnTx/>
                <a:uFillTx/>
                <a:latin typeface="Calibri Light" panose="020F0302020204030204"/>
                <a:ea typeface="+mj-ea"/>
                <a:cs typeface="+mj-cs"/>
              </a:rPr>
            </a:b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Outliers checking through boxplot </a:t>
            </a:r>
            <a:r>
              <a:rPr lang="en-IN" sz="1400" b="1" dirty="0">
                <a:latin typeface="Calibri" panose="020F0502020204030204" pitchFamily="34" charset="0"/>
                <a:ea typeface="Calibri" panose="020F0502020204030204" pitchFamily="34" charset="0"/>
                <a:cs typeface="Calibri" panose="020F0502020204030204" pitchFamily="34" charset="0"/>
              </a:rPr>
              <a:t>Assam, Arunachal Pradesh, Chhattisgarh and Rajasthan</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C10983C3-F4CB-7D79-512C-826513DE0077}"/>
              </a:ext>
            </a:extLst>
          </p:cNvPr>
          <p:cNvPicPr>
            <a:picLocks noChangeAspect="1"/>
          </p:cNvPicPr>
          <p:nvPr/>
        </p:nvPicPr>
        <p:blipFill>
          <a:blip r:embed="rId2"/>
          <a:stretch>
            <a:fillRect/>
          </a:stretch>
        </p:blipFill>
        <p:spPr>
          <a:xfrm>
            <a:off x="281452" y="1173998"/>
            <a:ext cx="2005758" cy="1646063"/>
          </a:xfrm>
          <a:prstGeom prst="rect">
            <a:avLst/>
          </a:prstGeom>
        </p:spPr>
      </p:pic>
      <p:pic>
        <p:nvPicPr>
          <p:cNvPr id="6" name="Picture 5">
            <a:extLst>
              <a:ext uri="{FF2B5EF4-FFF2-40B4-BE49-F238E27FC236}">
                <a16:creationId xmlns:a16="http://schemas.microsoft.com/office/drawing/2014/main" id="{50E5275A-661F-2084-0A6A-D0257FFE9E22}"/>
              </a:ext>
            </a:extLst>
          </p:cNvPr>
          <p:cNvPicPr>
            <a:picLocks noChangeAspect="1"/>
          </p:cNvPicPr>
          <p:nvPr/>
        </p:nvPicPr>
        <p:blipFill>
          <a:blip r:embed="rId3"/>
          <a:stretch>
            <a:fillRect/>
          </a:stretch>
        </p:blipFill>
        <p:spPr>
          <a:xfrm>
            <a:off x="2412963" y="1119130"/>
            <a:ext cx="2078916" cy="1700931"/>
          </a:xfrm>
          <a:prstGeom prst="rect">
            <a:avLst/>
          </a:prstGeom>
        </p:spPr>
      </p:pic>
      <p:pic>
        <p:nvPicPr>
          <p:cNvPr id="8" name="Picture 7">
            <a:extLst>
              <a:ext uri="{FF2B5EF4-FFF2-40B4-BE49-F238E27FC236}">
                <a16:creationId xmlns:a16="http://schemas.microsoft.com/office/drawing/2014/main" id="{35DFB36F-78B3-59E9-5F83-A23625DD2A25}"/>
              </a:ext>
            </a:extLst>
          </p:cNvPr>
          <p:cNvPicPr>
            <a:picLocks noChangeAspect="1"/>
          </p:cNvPicPr>
          <p:nvPr/>
        </p:nvPicPr>
        <p:blipFill>
          <a:blip r:embed="rId4"/>
          <a:stretch>
            <a:fillRect/>
          </a:stretch>
        </p:blipFill>
        <p:spPr>
          <a:xfrm>
            <a:off x="4601322" y="1117161"/>
            <a:ext cx="2121592" cy="1700930"/>
          </a:xfrm>
          <a:prstGeom prst="rect">
            <a:avLst/>
          </a:prstGeom>
        </p:spPr>
      </p:pic>
      <p:pic>
        <p:nvPicPr>
          <p:cNvPr id="9" name="Picture 8">
            <a:extLst>
              <a:ext uri="{FF2B5EF4-FFF2-40B4-BE49-F238E27FC236}">
                <a16:creationId xmlns:a16="http://schemas.microsoft.com/office/drawing/2014/main" id="{69305602-7BF5-319E-1810-0BB148D77FF4}"/>
              </a:ext>
            </a:extLst>
          </p:cNvPr>
          <p:cNvPicPr>
            <a:picLocks noChangeAspect="1"/>
          </p:cNvPicPr>
          <p:nvPr/>
        </p:nvPicPr>
        <p:blipFill>
          <a:blip r:embed="rId5"/>
          <a:stretch>
            <a:fillRect/>
          </a:stretch>
        </p:blipFill>
        <p:spPr>
          <a:xfrm>
            <a:off x="6881247" y="1119130"/>
            <a:ext cx="2121592" cy="1700931"/>
          </a:xfrm>
          <a:prstGeom prst="rect">
            <a:avLst/>
          </a:prstGeom>
        </p:spPr>
      </p:pic>
      <p:sp>
        <p:nvSpPr>
          <p:cNvPr id="11" name="TextBox 10">
            <a:extLst>
              <a:ext uri="{FF2B5EF4-FFF2-40B4-BE49-F238E27FC236}">
                <a16:creationId xmlns:a16="http://schemas.microsoft.com/office/drawing/2014/main" id="{B7CD20A9-E197-76C2-AEC7-6FFB6B48DAAA}"/>
              </a:ext>
            </a:extLst>
          </p:cNvPr>
          <p:cNvSpPr txBox="1"/>
          <p:nvPr/>
        </p:nvSpPr>
        <p:spPr>
          <a:xfrm>
            <a:off x="1025436" y="884422"/>
            <a:ext cx="5505136" cy="276999"/>
          </a:xfrm>
          <a:prstGeom prst="rect">
            <a:avLst/>
          </a:prstGeom>
          <a:noFill/>
        </p:spPr>
        <p:txBody>
          <a:bodyPr wrap="square">
            <a:spAutoFit/>
          </a:bodyPr>
          <a:lstStyle/>
          <a:p>
            <a:r>
              <a:rPr lang="en-IN" sz="1200" dirty="0"/>
              <a:t>Fig- 18</a:t>
            </a:r>
          </a:p>
        </p:txBody>
      </p:sp>
      <p:sp>
        <p:nvSpPr>
          <p:cNvPr id="13" name="TextBox 12">
            <a:extLst>
              <a:ext uri="{FF2B5EF4-FFF2-40B4-BE49-F238E27FC236}">
                <a16:creationId xmlns:a16="http://schemas.microsoft.com/office/drawing/2014/main" id="{A5BF08F1-E2A7-C106-BA7A-D157FF25E496}"/>
              </a:ext>
            </a:extLst>
          </p:cNvPr>
          <p:cNvSpPr txBox="1"/>
          <p:nvPr/>
        </p:nvSpPr>
        <p:spPr>
          <a:xfrm>
            <a:off x="3147028" y="841935"/>
            <a:ext cx="5505136" cy="276999"/>
          </a:xfrm>
          <a:prstGeom prst="rect">
            <a:avLst/>
          </a:prstGeom>
          <a:noFill/>
        </p:spPr>
        <p:txBody>
          <a:bodyPr wrap="square">
            <a:spAutoFit/>
          </a:bodyPr>
          <a:lstStyle/>
          <a:p>
            <a:r>
              <a:rPr lang="en-IN" sz="1200" dirty="0"/>
              <a:t>Fig- 19</a:t>
            </a:r>
          </a:p>
        </p:txBody>
      </p:sp>
      <p:sp>
        <p:nvSpPr>
          <p:cNvPr id="15" name="TextBox 14">
            <a:extLst>
              <a:ext uri="{FF2B5EF4-FFF2-40B4-BE49-F238E27FC236}">
                <a16:creationId xmlns:a16="http://schemas.microsoft.com/office/drawing/2014/main" id="{4AEE2D90-C8B3-A73F-21DB-317ABAA4C63F}"/>
              </a:ext>
            </a:extLst>
          </p:cNvPr>
          <p:cNvSpPr txBox="1"/>
          <p:nvPr/>
        </p:nvSpPr>
        <p:spPr>
          <a:xfrm>
            <a:off x="5555731" y="831488"/>
            <a:ext cx="5505136" cy="276999"/>
          </a:xfrm>
          <a:prstGeom prst="rect">
            <a:avLst/>
          </a:prstGeom>
          <a:noFill/>
        </p:spPr>
        <p:txBody>
          <a:bodyPr wrap="square">
            <a:spAutoFit/>
          </a:bodyPr>
          <a:lstStyle/>
          <a:p>
            <a:r>
              <a:rPr lang="en-IN" sz="1200" dirty="0"/>
              <a:t>Fig- 20</a:t>
            </a:r>
          </a:p>
        </p:txBody>
      </p:sp>
      <p:sp>
        <p:nvSpPr>
          <p:cNvPr id="17" name="TextBox 16">
            <a:extLst>
              <a:ext uri="{FF2B5EF4-FFF2-40B4-BE49-F238E27FC236}">
                <a16:creationId xmlns:a16="http://schemas.microsoft.com/office/drawing/2014/main" id="{517B3D6F-70A0-1F63-1C4A-864DF32CA7F2}"/>
              </a:ext>
            </a:extLst>
          </p:cNvPr>
          <p:cNvSpPr txBox="1"/>
          <p:nvPr/>
        </p:nvSpPr>
        <p:spPr>
          <a:xfrm>
            <a:off x="7699323" y="831292"/>
            <a:ext cx="5580088" cy="276999"/>
          </a:xfrm>
          <a:prstGeom prst="rect">
            <a:avLst/>
          </a:prstGeom>
          <a:noFill/>
        </p:spPr>
        <p:txBody>
          <a:bodyPr wrap="square">
            <a:spAutoFit/>
          </a:bodyPr>
          <a:lstStyle/>
          <a:p>
            <a:r>
              <a:rPr lang="en-IN" sz="1200" dirty="0"/>
              <a:t>Fig- 21</a:t>
            </a:r>
          </a:p>
        </p:txBody>
      </p:sp>
      <p:sp>
        <p:nvSpPr>
          <p:cNvPr id="18" name="Rectangle 17">
            <a:extLst>
              <a:ext uri="{FF2B5EF4-FFF2-40B4-BE49-F238E27FC236}">
                <a16:creationId xmlns:a16="http://schemas.microsoft.com/office/drawing/2014/main" id="{6DA9D270-670A-2710-6883-A68AAFF4C83E}"/>
              </a:ext>
            </a:extLst>
          </p:cNvPr>
          <p:cNvSpPr/>
          <p:nvPr/>
        </p:nvSpPr>
        <p:spPr>
          <a:xfrm>
            <a:off x="775312" y="3122558"/>
            <a:ext cx="7593375" cy="7374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t>From the above Box &amp; Whiskers plots, the dataset of Assam, Arunachal Pradesh, Chhattisgarh, Rajasthan no outliers.</a:t>
            </a:r>
          </a:p>
        </p:txBody>
      </p:sp>
    </p:spTree>
    <p:extLst>
      <p:ext uri="{BB962C8B-B14F-4D97-AF65-F5344CB8AC3E}">
        <p14:creationId xmlns:p14="http://schemas.microsoft.com/office/powerpoint/2010/main" val="2088698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FE5F7-FF5A-47D2-5CBC-A6C0A20737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B9C234-F3DC-2194-D49D-EDDE5261DCCF}"/>
              </a:ext>
            </a:extLst>
          </p:cNvPr>
          <p:cNvSpPr txBox="1"/>
          <p:nvPr/>
        </p:nvSpPr>
        <p:spPr>
          <a:xfrm>
            <a:off x="1913120" y="52466"/>
            <a:ext cx="5505136" cy="615553"/>
          </a:xfrm>
          <a:prstGeom prst="rect">
            <a:avLst/>
          </a:prstGeom>
          <a:noFill/>
        </p:spPr>
        <p:txBody>
          <a:bodyPr wrap="square">
            <a:spAutoFit/>
          </a:bodyPr>
          <a:lstStyle/>
          <a:p>
            <a:pPr algn="ctr"/>
            <a:r>
              <a:rPr kumimoji="0" lang="en-IN" sz="2000" b="1" i="0" u="none" strike="noStrike" kern="1200" cap="none" spc="0" normalizeH="0" baseline="0" noProof="0" dirty="0">
                <a:ln>
                  <a:noFill/>
                </a:ln>
                <a:effectLst/>
                <a:uLnTx/>
                <a:uFillTx/>
                <a:latin typeface="IBM Plex Mono" panose="020B0509050203000203" pitchFamily="49" charset="0"/>
                <a:ea typeface="+mj-ea"/>
                <a:cs typeface="+mj-cs"/>
              </a:rPr>
              <a:t>QUALITY OF THE DATA</a:t>
            </a:r>
            <a:br>
              <a:rPr kumimoji="0" lang="en-IN" sz="2800" b="0" i="0" u="none" strike="noStrike" kern="1200" cap="none" spc="0" normalizeH="0" baseline="0" noProof="0" dirty="0">
                <a:ln>
                  <a:noFill/>
                </a:ln>
                <a:effectLst/>
                <a:uLnTx/>
                <a:uFillTx/>
                <a:latin typeface="Calibri Light" panose="020F0302020204030204"/>
                <a:ea typeface="+mj-ea"/>
                <a:cs typeface="+mj-cs"/>
              </a:rPr>
            </a:br>
            <a:r>
              <a:rPr kumimoji="0" lang="en-IN" sz="14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Outliers checking through boxplot for Tripura, Chandigarh and Haryana</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3EC7C3B1-D4B6-763E-D665-792532AE329B}"/>
              </a:ext>
            </a:extLst>
          </p:cNvPr>
          <p:cNvPicPr>
            <a:picLocks noChangeAspect="1"/>
          </p:cNvPicPr>
          <p:nvPr/>
        </p:nvPicPr>
        <p:blipFill>
          <a:blip r:embed="rId2"/>
          <a:stretch>
            <a:fillRect/>
          </a:stretch>
        </p:blipFill>
        <p:spPr>
          <a:xfrm>
            <a:off x="360928" y="1152467"/>
            <a:ext cx="2579541" cy="1972982"/>
          </a:xfrm>
          <a:prstGeom prst="rect">
            <a:avLst/>
          </a:prstGeom>
        </p:spPr>
      </p:pic>
      <p:pic>
        <p:nvPicPr>
          <p:cNvPr id="6" name="Picture 5">
            <a:extLst>
              <a:ext uri="{FF2B5EF4-FFF2-40B4-BE49-F238E27FC236}">
                <a16:creationId xmlns:a16="http://schemas.microsoft.com/office/drawing/2014/main" id="{B463BEF4-266D-33BF-2BA2-C2713FDCA0B0}"/>
              </a:ext>
            </a:extLst>
          </p:cNvPr>
          <p:cNvPicPr>
            <a:picLocks noChangeAspect="1"/>
          </p:cNvPicPr>
          <p:nvPr/>
        </p:nvPicPr>
        <p:blipFill>
          <a:blip r:embed="rId3"/>
          <a:stretch>
            <a:fillRect/>
          </a:stretch>
        </p:blipFill>
        <p:spPr>
          <a:xfrm>
            <a:off x="3105311" y="1152467"/>
            <a:ext cx="2693490" cy="1972982"/>
          </a:xfrm>
          <a:prstGeom prst="rect">
            <a:avLst/>
          </a:prstGeom>
        </p:spPr>
      </p:pic>
      <p:pic>
        <p:nvPicPr>
          <p:cNvPr id="8" name="Picture 7">
            <a:extLst>
              <a:ext uri="{FF2B5EF4-FFF2-40B4-BE49-F238E27FC236}">
                <a16:creationId xmlns:a16="http://schemas.microsoft.com/office/drawing/2014/main" id="{E513637D-0F72-6528-64A6-CBCF412015AC}"/>
              </a:ext>
            </a:extLst>
          </p:cNvPr>
          <p:cNvPicPr>
            <a:picLocks noChangeAspect="1"/>
          </p:cNvPicPr>
          <p:nvPr/>
        </p:nvPicPr>
        <p:blipFill>
          <a:blip r:embed="rId4"/>
          <a:stretch>
            <a:fillRect/>
          </a:stretch>
        </p:blipFill>
        <p:spPr>
          <a:xfrm>
            <a:off x="6128485" y="1145801"/>
            <a:ext cx="2579541" cy="1979648"/>
          </a:xfrm>
          <a:prstGeom prst="rect">
            <a:avLst/>
          </a:prstGeom>
        </p:spPr>
      </p:pic>
      <p:sp>
        <p:nvSpPr>
          <p:cNvPr id="4" name="Rectangle 3">
            <a:extLst>
              <a:ext uri="{FF2B5EF4-FFF2-40B4-BE49-F238E27FC236}">
                <a16:creationId xmlns:a16="http://schemas.microsoft.com/office/drawing/2014/main" id="{730DF660-1991-C0F9-2CC5-FAFCB6684C41}"/>
              </a:ext>
            </a:extLst>
          </p:cNvPr>
          <p:cNvSpPr/>
          <p:nvPr/>
        </p:nvSpPr>
        <p:spPr>
          <a:xfrm>
            <a:off x="775310" y="3392876"/>
            <a:ext cx="7593375" cy="7519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t>From the above Box &amp; Whiskers plots, the dataset of Tripura, Chandigarh and Haryana has no outliers.</a:t>
            </a:r>
          </a:p>
        </p:txBody>
      </p:sp>
      <p:sp>
        <p:nvSpPr>
          <p:cNvPr id="9" name="TextBox 8">
            <a:extLst>
              <a:ext uri="{FF2B5EF4-FFF2-40B4-BE49-F238E27FC236}">
                <a16:creationId xmlns:a16="http://schemas.microsoft.com/office/drawing/2014/main" id="{DF2F98DA-2A21-FED9-A232-CB95216CBEE7}"/>
              </a:ext>
            </a:extLst>
          </p:cNvPr>
          <p:cNvSpPr txBox="1"/>
          <p:nvPr/>
        </p:nvSpPr>
        <p:spPr>
          <a:xfrm>
            <a:off x="1515881" y="868802"/>
            <a:ext cx="5505136" cy="276999"/>
          </a:xfrm>
          <a:prstGeom prst="rect">
            <a:avLst/>
          </a:prstGeom>
          <a:noFill/>
        </p:spPr>
        <p:txBody>
          <a:bodyPr wrap="square">
            <a:spAutoFit/>
          </a:bodyPr>
          <a:lstStyle/>
          <a:p>
            <a:r>
              <a:rPr lang="en-IN" sz="1200" dirty="0"/>
              <a:t>Fig- 22 </a:t>
            </a:r>
          </a:p>
        </p:txBody>
      </p:sp>
      <p:sp>
        <p:nvSpPr>
          <p:cNvPr id="11" name="TextBox 10">
            <a:extLst>
              <a:ext uri="{FF2B5EF4-FFF2-40B4-BE49-F238E27FC236}">
                <a16:creationId xmlns:a16="http://schemas.microsoft.com/office/drawing/2014/main" id="{CB8CE874-9C34-89B2-4DE0-3F6AC54CFB15}"/>
              </a:ext>
            </a:extLst>
          </p:cNvPr>
          <p:cNvSpPr txBox="1"/>
          <p:nvPr/>
        </p:nvSpPr>
        <p:spPr>
          <a:xfrm>
            <a:off x="4268449" y="858803"/>
            <a:ext cx="5505136" cy="276999"/>
          </a:xfrm>
          <a:prstGeom prst="rect">
            <a:avLst/>
          </a:prstGeom>
          <a:noFill/>
        </p:spPr>
        <p:txBody>
          <a:bodyPr wrap="square">
            <a:spAutoFit/>
          </a:bodyPr>
          <a:lstStyle/>
          <a:p>
            <a:r>
              <a:rPr lang="en-IN" sz="1200" dirty="0"/>
              <a:t>Fig- 23</a:t>
            </a:r>
          </a:p>
        </p:txBody>
      </p:sp>
      <p:sp>
        <p:nvSpPr>
          <p:cNvPr id="13" name="TextBox 12">
            <a:extLst>
              <a:ext uri="{FF2B5EF4-FFF2-40B4-BE49-F238E27FC236}">
                <a16:creationId xmlns:a16="http://schemas.microsoft.com/office/drawing/2014/main" id="{222A83EB-B994-3E49-C404-B21AC35B5CAC}"/>
              </a:ext>
            </a:extLst>
          </p:cNvPr>
          <p:cNvSpPr txBox="1"/>
          <p:nvPr/>
        </p:nvSpPr>
        <p:spPr>
          <a:xfrm>
            <a:off x="7279599" y="865469"/>
            <a:ext cx="5505136" cy="276999"/>
          </a:xfrm>
          <a:prstGeom prst="rect">
            <a:avLst/>
          </a:prstGeom>
          <a:noFill/>
        </p:spPr>
        <p:txBody>
          <a:bodyPr wrap="square">
            <a:spAutoFit/>
          </a:bodyPr>
          <a:lstStyle/>
          <a:p>
            <a:r>
              <a:rPr lang="en-IN" sz="1200" dirty="0"/>
              <a:t>Fig- 24</a:t>
            </a:r>
          </a:p>
        </p:txBody>
      </p:sp>
    </p:spTree>
    <p:extLst>
      <p:ext uri="{BB962C8B-B14F-4D97-AF65-F5344CB8AC3E}">
        <p14:creationId xmlns:p14="http://schemas.microsoft.com/office/powerpoint/2010/main" val="3449370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DB9842-069D-593D-3D5A-C47B46F9BDF1}"/>
              </a:ext>
            </a:extLst>
          </p:cNvPr>
          <p:cNvSpPr txBox="1"/>
          <p:nvPr/>
        </p:nvSpPr>
        <p:spPr>
          <a:xfrm>
            <a:off x="1650791" y="111389"/>
            <a:ext cx="5505136" cy="461665"/>
          </a:xfrm>
          <a:prstGeom prst="rect">
            <a:avLst/>
          </a:prstGeom>
          <a:noFill/>
        </p:spPr>
        <p:txBody>
          <a:bodyPr wrap="square">
            <a:spAutoFit/>
          </a:bodyPr>
          <a:lstStyle/>
          <a:p>
            <a:pPr algn="ctr"/>
            <a:r>
              <a:rPr lang="en-IN" sz="2400" b="1" dirty="0">
                <a:latin typeface="IBM Plex Mono" panose="020B0509050203000203" pitchFamily="49" charset="0"/>
                <a:ea typeface="+mj-ea"/>
                <a:cs typeface="+mj-cs"/>
              </a:rPr>
              <a:t>ARIMA MODEL</a:t>
            </a:r>
            <a:endParaRPr lang="en-IN" sz="2400" dirty="0"/>
          </a:p>
        </p:txBody>
      </p:sp>
      <p:sp>
        <p:nvSpPr>
          <p:cNvPr id="5" name="TextBox 4">
            <a:extLst>
              <a:ext uri="{FF2B5EF4-FFF2-40B4-BE49-F238E27FC236}">
                <a16:creationId xmlns:a16="http://schemas.microsoft.com/office/drawing/2014/main" id="{8022F714-6BFD-A0F5-E468-000EBB4BB7F4}"/>
              </a:ext>
            </a:extLst>
          </p:cNvPr>
          <p:cNvSpPr txBox="1"/>
          <p:nvPr/>
        </p:nvSpPr>
        <p:spPr>
          <a:xfrm>
            <a:off x="114300" y="877163"/>
            <a:ext cx="9029700" cy="2492990"/>
          </a:xfrm>
          <a:prstGeom prst="rect">
            <a:avLst/>
          </a:prstGeom>
          <a:noFill/>
        </p:spPr>
        <p:txBody>
          <a:bodyPr wrap="square">
            <a:spAutoFit/>
          </a:bodyPr>
          <a:lstStyle/>
          <a:p>
            <a:r>
              <a:rPr lang="en-US" sz="1600" dirty="0"/>
              <a:t>Auto Regressive Integrated Moving Average (ARIMA) is a popular time series forecasting model that combines three key components:</a:t>
            </a:r>
          </a:p>
          <a:p>
            <a:endParaRPr lang="en-US" sz="1600" dirty="0"/>
          </a:p>
          <a:p>
            <a:r>
              <a:rPr lang="en-US" sz="1600" dirty="0"/>
              <a:t>AR (p): Autoregressive part which uses past values to predict the current value.</a:t>
            </a:r>
          </a:p>
          <a:p>
            <a:endParaRPr lang="en-US" sz="1600" dirty="0"/>
          </a:p>
          <a:p>
            <a:r>
              <a:rPr lang="en-US" sz="1600" dirty="0"/>
              <a:t>I (d): Integrated part which differences the data d times to make it stationary.</a:t>
            </a:r>
          </a:p>
          <a:p>
            <a:endParaRPr lang="en-US" sz="1600" dirty="0"/>
          </a:p>
          <a:p>
            <a:r>
              <a:rPr lang="en-US" sz="1600" dirty="0"/>
              <a:t>MA (q): Moving Average part which uses past forecast errors to predict the current value.</a:t>
            </a:r>
          </a:p>
          <a:p>
            <a:endParaRPr lang="en-US" sz="1400" dirty="0"/>
          </a:p>
          <a:p>
            <a:endParaRPr lang="en-US" sz="1400" dirty="0"/>
          </a:p>
        </p:txBody>
      </p:sp>
    </p:spTree>
    <p:extLst>
      <p:ext uri="{BB962C8B-B14F-4D97-AF65-F5344CB8AC3E}">
        <p14:creationId xmlns:p14="http://schemas.microsoft.com/office/powerpoint/2010/main" val="977390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36521A-4924-E35F-CBFB-DD91C6232849}"/>
              </a:ext>
            </a:extLst>
          </p:cNvPr>
          <p:cNvPicPr>
            <a:picLocks noChangeAspect="1"/>
          </p:cNvPicPr>
          <p:nvPr/>
        </p:nvPicPr>
        <p:blipFill>
          <a:blip r:embed="rId2"/>
          <a:stretch>
            <a:fillRect/>
          </a:stretch>
        </p:blipFill>
        <p:spPr>
          <a:xfrm>
            <a:off x="1008089" y="1039772"/>
            <a:ext cx="2956809" cy="2452936"/>
          </a:xfrm>
          <a:prstGeom prst="rect">
            <a:avLst/>
          </a:prstGeom>
        </p:spPr>
      </p:pic>
      <p:pic>
        <p:nvPicPr>
          <p:cNvPr id="4" name="Picture 3">
            <a:extLst>
              <a:ext uri="{FF2B5EF4-FFF2-40B4-BE49-F238E27FC236}">
                <a16:creationId xmlns:a16="http://schemas.microsoft.com/office/drawing/2014/main" id="{DE7820D3-1692-5A03-215F-58398E315056}"/>
              </a:ext>
            </a:extLst>
          </p:cNvPr>
          <p:cNvPicPr>
            <a:picLocks noChangeAspect="1"/>
          </p:cNvPicPr>
          <p:nvPr/>
        </p:nvPicPr>
        <p:blipFill>
          <a:blip r:embed="rId3"/>
          <a:stretch>
            <a:fillRect/>
          </a:stretch>
        </p:blipFill>
        <p:spPr>
          <a:xfrm>
            <a:off x="5026318" y="1040198"/>
            <a:ext cx="3109593" cy="2452510"/>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774193D-A974-E1BF-A159-838D48BAA81A}"/>
                  </a:ext>
                </a:extLst>
              </p:cNvPr>
              <p:cNvSpPr/>
              <p:nvPr/>
            </p:nvSpPr>
            <p:spPr>
              <a:xfrm>
                <a:off x="1008089" y="3625954"/>
                <a:ext cx="7127822" cy="1268336"/>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4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a:t>
                </a:r>
                <a:r>
                  <a:rPr lang="en-IN" sz="1400" kern="0" dirty="0">
                    <a:solidFill>
                      <a:schemeClr val="tx1"/>
                    </a:solidFill>
                    <a:ea typeface="Times New Roman" panose="02020603050405020304" pitchFamily="18" charset="0"/>
                    <a:cs typeface="Times New Roman" panose="02020603050405020304" pitchFamily="18" charset="0"/>
                  </a:rPr>
                  <a:t>for Germany’s time series data is Arima (1,2,0) with non-zero mean, the model is denoted as;</a:t>
                </a:r>
              </a:p>
              <a:p>
                <a:pPr marL="0" marR="0" lvl="0" indent="0" algn="l" defTabSz="914400" rtl="0" eaLnBrk="1" fontAlgn="auto" latinLnBrk="0" hangingPunct="1">
                  <a:lnSpc>
                    <a:spcPct val="115000"/>
                  </a:lnSpc>
                  <a:spcBef>
                    <a:spcPts val="0"/>
                  </a:spcBef>
                  <a:spcAft>
                    <a:spcPts val="800"/>
                  </a:spcAft>
                  <a:buClrTx/>
                  <a:buSzTx/>
                  <a:buFontTx/>
                  <a:buNone/>
                  <a:tabLst/>
                  <a:defRPr/>
                </a:pPr>
                <a14:m>
                  <m:oMath xmlns:m="http://schemas.openxmlformats.org/officeDocument/2006/math">
                    <m:sSub>
                      <m:sSubPr>
                        <m:ctrlPr>
                          <a:rPr kumimoji="0" lang="en-IN" sz="1400" b="0" i="1" u="none" strike="noStrike" kern="0" cap="none" spc="0" normalizeH="0" baseline="0" noProof="0" smtClean="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e>
                      <m:sub>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 </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e>
                      <m:sub>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e>
                      <m:sub>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e>
                      <m:sub>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e>
                      <m:sub>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𝜖</m:t>
                        </m:r>
                      </m:e>
                      <m:sub>
                        <m: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 where ​</a:t>
                </a:r>
                <a14:m>
                  <m:oMath xmlns:m="http://schemas.openxmlformats.org/officeDocument/2006/math">
                    <m:sSub>
                      <m:sSubPr>
                        <m:ctrlP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is the time series value at time t, </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ϕ</m:t>
                        </m:r>
                      </m:e>
                      <m:sub>
                        <m:r>
                          <a:rPr kumimoji="0" lang="en-IN" sz="1400" b="0" i="0"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is the AR(1) (auto-regressive) coefficient, </a:t>
                </a:r>
                <a14:m>
                  <m:oMath xmlns:m="http://schemas.openxmlformats.org/officeDocument/2006/math">
                    <m:sSub>
                      <m:sSubPr>
                        <m:ctrlP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400" b="0" i="1"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400" b="0" i="0"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r>
                      <a:rPr kumimoji="0" lang="en-IN" sz="1400" b="0" i="0" u="none" strike="noStrike" kern="10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400" b="0" i="0" u="none" strike="noStrike" kern="10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and </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y</m:t>
                        </m:r>
                      </m:e>
                      <m:sub>
                        <m:r>
                          <m:rPr>
                            <m:sty m:val="p"/>
                          </m:rPr>
                          <a:rPr kumimoji="0" lang="en-IN" sz="1400" b="0" i="0"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t</m:t>
                        </m:r>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IN" sz="1400" b="0" i="0"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b>
                    </m:sSub>
                  </m:oMath>
                </a14:m>
                <a:r>
                  <a:rPr kumimoji="0" lang="en-IN" sz="1400" b="0" i="0" u="none" strike="noStrike" kern="10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 are the past values of the time series </a:t>
                </a:r>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and </a:t>
                </a:r>
                <a14:m>
                  <m:oMath xmlns:m="http://schemas.openxmlformats.org/officeDocument/2006/math">
                    <m:sSub>
                      <m:sSubPr>
                        <m:ctrlP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a:rPr kumimoji="0" lang="en-IN" sz="1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Cambria Math" panose="02040503050406030204" pitchFamily="18" charset="0"/>
                  </a:rPr>
                  <a:t>∼</a:t>
                </a:r>
                <a:r>
                  <a:rPr kumimoji="0" lang="en-IN" sz="1400" b="0" i="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N (0, σ2) is white noise error term. </a:t>
                </a:r>
                <a:endParaRPr kumimoji="0" lang="en-IN" sz="1400" b="0" i="0" u="none" strike="noStrike" kern="100" cap="none" spc="0" normalizeH="0" baseline="0" noProof="0" dirty="0">
                  <a:ln>
                    <a:noFill/>
                  </a:ln>
                  <a:solidFill>
                    <a:schemeClr val="tx1"/>
                  </a:solidFill>
                  <a:effectLst/>
                  <a:uLnTx/>
                  <a:uFillTx/>
                  <a:ea typeface="Calibri" panose="020F0502020204030204" pitchFamily="34"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8774193D-A974-E1BF-A159-838D48BAA81A}"/>
                  </a:ext>
                </a:extLst>
              </p:cNvPr>
              <p:cNvSpPr>
                <a:spLocks noRot="1" noChangeAspect="1" noMove="1" noResize="1" noEditPoints="1" noAdjustHandles="1" noChangeArrowheads="1" noChangeShapeType="1" noTextEdit="1"/>
              </p:cNvSpPr>
              <p:nvPr/>
            </p:nvSpPr>
            <p:spPr>
              <a:xfrm>
                <a:off x="1008089" y="3625954"/>
                <a:ext cx="7127822" cy="1268336"/>
              </a:xfrm>
              <a:prstGeom prst="rect">
                <a:avLst/>
              </a:prstGeom>
              <a:blipFill>
                <a:blip r:embed="rId4"/>
                <a:stretch>
                  <a:fillRect l="-85" t="-4245" b="-9434"/>
                </a:stretch>
              </a:blipFill>
              <a:ln>
                <a:solidFill>
                  <a:schemeClr val="bg1">
                    <a:lumMod val="25000"/>
                  </a:schemeClr>
                </a:solidFill>
              </a:ln>
            </p:spPr>
            <p:txBody>
              <a:bodyPr/>
              <a:lstStyle/>
              <a:p>
                <a:r>
                  <a:rPr lang="en-IN">
                    <a:noFill/>
                  </a:rPr>
                  <a:t> </a:t>
                </a:r>
              </a:p>
            </p:txBody>
          </p:sp>
        </mc:Fallback>
      </mc:AlternateContent>
      <p:sp>
        <p:nvSpPr>
          <p:cNvPr id="7" name="TextBox 6">
            <a:extLst>
              <a:ext uri="{FF2B5EF4-FFF2-40B4-BE49-F238E27FC236}">
                <a16:creationId xmlns:a16="http://schemas.microsoft.com/office/drawing/2014/main" id="{2734E54C-A542-DBCC-6F58-3B92E4B55F57}"/>
              </a:ext>
            </a:extLst>
          </p:cNvPr>
          <p:cNvSpPr txBox="1"/>
          <p:nvPr/>
        </p:nvSpPr>
        <p:spPr>
          <a:xfrm>
            <a:off x="0" y="91815"/>
            <a:ext cx="9144000" cy="615553"/>
          </a:xfrm>
          <a:prstGeom prst="rect">
            <a:avLst/>
          </a:prstGeom>
          <a:noFill/>
        </p:spPr>
        <p:txBody>
          <a:bodyPr wrap="square">
            <a:spAutoFit/>
          </a:bodyPr>
          <a:lstStyle/>
          <a:p>
            <a:pPr algn="ctr"/>
            <a:r>
              <a:rPr lang="en-IN" sz="2000" b="1" dirty="0">
                <a:latin typeface="IBM Plex Mono" panose="020B0509050203000203" pitchFamily="49" charset="0"/>
              </a:rPr>
              <a:t>TIME SERIES ANALYSIS AND MODEL FITTING</a:t>
            </a:r>
            <a:br>
              <a:rPr lang="en-IN" sz="2400" dirty="0"/>
            </a:br>
            <a:r>
              <a:rPr lang="en-IN" sz="1400" b="1" dirty="0">
                <a:latin typeface="Calibri" panose="020F0502020204030204" pitchFamily="34" charset="0"/>
                <a:ea typeface="Calibri" panose="020F0502020204030204" pitchFamily="34" charset="0"/>
                <a:cs typeface="Calibri" panose="020F0502020204030204" pitchFamily="34" charset="0"/>
              </a:rPr>
              <a:t>Model fitting to Germany’s dataset with the help of Arima model</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7907A3E-7BB4-25A6-FB0C-D55D074807C4}"/>
              </a:ext>
            </a:extLst>
          </p:cNvPr>
          <p:cNvSpPr txBox="1"/>
          <p:nvPr/>
        </p:nvSpPr>
        <p:spPr>
          <a:xfrm>
            <a:off x="2235409" y="771538"/>
            <a:ext cx="5505136" cy="276999"/>
          </a:xfrm>
          <a:prstGeom prst="rect">
            <a:avLst/>
          </a:prstGeom>
          <a:noFill/>
        </p:spPr>
        <p:txBody>
          <a:bodyPr wrap="square">
            <a:spAutoFit/>
          </a:bodyPr>
          <a:lstStyle/>
          <a:p>
            <a:r>
              <a:rPr lang="en-IN" sz="1200" dirty="0"/>
              <a:t>Fig- 25</a:t>
            </a:r>
          </a:p>
        </p:txBody>
      </p:sp>
      <p:sp>
        <p:nvSpPr>
          <p:cNvPr id="11" name="TextBox 10">
            <a:extLst>
              <a:ext uri="{FF2B5EF4-FFF2-40B4-BE49-F238E27FC236}">
                <a16:creationId xmlns:a16="http://schemas.microsoft.com/office/drawing/2014/main" id="{8D1949C3-44F3-3FA5-C633-8C5E3BCF659D}"/>
              </a:ext>
            </a:extLst>
          </p:cNvPr>
          <p:cNvSpPr txBox="1"/>
          <p:nvPr/>
        </p:nvSpPr>
        <p:spPr>
          <a:xfrm>
            <a:off x="6391432" y="777219"/>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Fig- 26</a:t>
            </a:r>
          </a:p>
        </p:txBody>
      </p:sp>
    </p:spTree>
    <p:extLst>
      <p:ext uri="{BB962C8B-B14F-4D97-AF65-F5344CB8AC3E}">
        <p14:creationId xmlns:p14="http://schemas.microsoft.com/office/powerpoint/2010/main" val="3116966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07790-68C8-6A40-A1ED-583B7B4DC95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270CB28-604A-AF18-CAA1-C33FC8E39C97}"/>
                  </a:ext>
                </a:extLst>
              </p:cNvPr>
              <p:cNvSpPr/>
              <p:nvPr/>
            </p:nvSpPr>
            <p:spPr>
              <a:xfrm>
                <a:off x="1008089" y="3633418"/>
                <a:ext cx="7127822" cy="1418267"/>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4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a:t>
                </a:r>
                <a:r>
                  <a:rPr lang="en-IN" sz="1400" kern="0" dirty="0">
                    <a:solidFill>
                      <a:schemeClr val="tx1"/>
                    </a:solidFill>
                    <a:ea typeface="Times New Roman" panose="02020603050405020304" pitchFamily="18" charset="0"/>
                    <a:cs typeface="Times New Roman" panose="02020603050405020304" pitchFamily="18" charset="0"/>
                  </a:rPr>
                  <a:t>for  Kenya’s time series data is Arima (0,1,1), the model is denoted as;</a:t>
                </a:r>
              </a:p>
              <a:p>
                <a:pPr marL="0" marR="0" lvl="0" indent="0" algn="l" defTabSz="914400" rtl="0" eaLnBrk="1" fontAlgn="auto" latinLnBrk="0" hangingPunct="1">
                  <a:lnSpc>
                    <a:spcPct val="115000"/>
                  </a:lnSpc>
                  <a:spcBef>
                    <a:spcPts val="0"/>
                  </a:spcBef>
                  <a:spcAft>
                    <a:spcPts val="800"/>
                  </a:spcAft>
                  <a:buClrTx/>
                  <a:buSzTx/>
                  <a:buFontTx/>
                  <a:buNone/>
                  <a:tabLst/>
                  <a:defRPr/>
                </a:pPr>
                <a14:m>
                  <m:oMath xmlns:m="http://schemas.openxmlformats.org/officeDocument/2006/math">
                    <m:sSub>
                      <m:sSubPr>
                        <m:ctrlPr>
                          <a:rPr kumimoji="0" lang="en-IN" sz="14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4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a:t>
                </a:r>
                <a14:m>
                  <m:oMath xmlns:m="http://schemas.openxmlformats.org/officeDocument/2006/math">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θ</m:t>
                        </m:r>
                      </m:e>
                      <m:sub>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1"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 where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4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time series </a:t>
                </a:r>
                <a:r>
                  <a:rPr kumimoji="0" lang="en-IN" sz="14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value,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4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previous value,</a:t>
                </a:r>
                <a:r>
                  <a:rPr kumimoji="0" lang="en-IN" sz="1400" b="0" i="0" u="none" strike="noStrike" kern="100" cap="none" spc="0" normalizeH="0" noProof="0" dirty="0">
                    <a:ln>
                      <a:noFill/>
                    </a:ln>
                    <a:solidFill>
                      <a:prstClr val="black"/>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t</m:t>
                        </m:r>
                      </m:sub>
                    </m:sSub>
                  </m:oMath>
                </a14:m>
                <a:r>
                  <a:rPr kumimoji="0" lang="en-IN" sz="1400" b="0" i="0" u="none" strike="noStrike" kern="0" cap="none" spc="0" normalizeH="0" baseline="0" noProof="0" dirty="0">
                    <a:ln>
                      <a:noFill/>
                    </a:ln>
                    <a:solidFill>
                      <a:prstClr val="black"/>
                    </a:solidFill>
                    <a:effectLst/>
                    <a:uLnTx/>
                    <a:uFillTx/>
                    <a:ea typeface="Times New Roman" panose="02020603050405020304" pitchFamily="18" charset="0"/>
                    <a:cs typeface="Cambria Math" panose="02040503050406030204" pitchFamily="18" charset="0"/>
                  </a:rPr>
                  <a:t>∼</a:t>
                </a:r>
                <a:r>
                  <a:rPr kumimoji="0" lang="en-IN" sz="14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N (0, σ2) is the white noise,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θ</m:t>
                        </m:r>
                      </m:e>
                      <m:sub>
                        <m: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4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MA (1) coefficient with impact of the previous period’s error on the current value and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t</m:t>
                        </m:r>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MA(1) introduces short-term memory in errors.</a:t>
                </a:r>
                <a:endParaRPr lang="en-IN" sz="1400" kern="0" dirty="0">
                  <a:solidFill>
                    <a:schemeClr val="tx1"/>
                  </a:solidFill>
                  <a:ea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0270CB28-604A-AF18-CAA1-C33FC8E39C97}"/>
                  </a:ext>
                </a:extLst>
              </p:cNvPr>
              <p:cNvSpPr>
                <a:spLocks noRot="1" noChangeAspect="1" noMove="1" noResize="1" noEditPoints="1" noAdjustHandles="1" noChangeArrowheads="1" noChangeShapeType="1" noTextEdit="1"/>
              </p:cNvSpPr>
              <p:nvPr/>
            </p:nvSpPr>
            <p:spPr>
              <a:xfrm>
                <a:off x="1008089" y="3633418"/>
                <a:ext cx="7127822" cy="1418267"/>
              </a:xfrm>
              <a:prstGeom prst="rect">
                <a:avLst/>
              </a:prstGeom>
              <a:blipFill>
                <a:blip r:embed="rId2"/>
                <a:stretch>
                  <a:fillRect l="-85" r="-596" b="-2954"/>
                </a:stretch>
              </a:blipFill>
              <a:ln>
                <a:solidFill>
                  <a:schemeClr val="bg1">
                    <a:lumMod val="25000"/>
                  </a:schemeClr>
                </a:solidFill>
              </a:ln>
            </p:spPr>
            <p:txBody>
              <a:bodyPr/>
              <a:lstStyle/>
              <a:p>
                <a:r>
                  <a:rPr lang="en-IN">
                    <a:noFill/>
                  </a:rPr>
                  <a:t> </a:t>
                </a:r>
              </a:p>
            </p:txBody>
          </p:sp>
        </mc:Fallback>
      </mc:AlternateContent>
      <p:sp>
        <p:nvSpPr>
          <p:cNvPr id="7" name="TextBox 6">
            <a:extLst>
              <a:ext uri="{FF2B5EF4-FFF2-40B4-BE49-F238E27FC236}">
                <a16:creationId xmlns:a16="http://schemas.microsoft.com/office/drawing/2014/main" id="{5D8F2A49-3C7E-89B7-1DB6-6D0390C5E3AF}"/>
              </a:ext>
            </a:extLst>
          </p:cNvPr>
          <p:cNvSpPr txBox="1"/>
          <p:nvPr/>
        </p:nvSpPr>
        <p:spPr>
          <a:xfrm>
            <a:off x="234222" y="91815"/>
            <a:ext cx="8909778" cy="615553"/>
          </a:xfrm>
          <a:prstGeom prst="rect">
            <a:avLst/>
          </a:prstGeom>
          <a:noFill/>
        </p:spPr>
        <p:txBody>
          <a:bodyPr wrap="square">
            <a:spAutoFit/>
          </a:bodyPr>
          <a:lstStyle/>
          <a:p>
            <a:pPr algn="ctr"/>
            <a:r>
              <a:rPr lang="en-IN" sz="2000" b="1" dirty="0">
                <a:latin typeface="IBM Plex Mono" panose="020B0509050203000203" pitchFamily="49" charset="0"/>
              </a:rPr>
              <a:t>TIME SERIES ANALYSIS AND MODEL FITTING</a:t>
            </a:r>
            <a:br>
              <a:rPr lang="en-IN" sz="2400" dirty="0"/>
            </a:br>
            <a:r>
              <a:rPr lang="en-IN" sz="1400" b="1" dirty="0">
                <a:latin typeface="Calibri" panose="020F0502020204030204" pitchFamily="34" charset="0"/>
                <a:ea typeface="Calibri" panose="020F0502020204030204" pitchFamily="34" charset="0"/>
                <a:cs typeface="Calibri" panose="020F0502020204030204" pitchFamily="34" charset="0"/>
              </a:rPr>
              <a:t>Model fitting to Kenya’s dataset with the help of Arima model</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Content Placeholder 3">
            <a:extLst>
              <a:ext uri="{FF2B5EF4-FFF2-40B4-BE49-F238E27FC236}">
                <a16:creationId xmlns:a16="http://schemas.microsoft.com/office/drawing/2014/main" id="{FA223C1A-3CF5-022E-D134-3FBC98FBB7DC}"/>
              </a:ext>
            </a:extLst>
          </p:cNvPr>
          <p:cNvPicPr>
            <a:picLocks noChangeAspect="1"/>
          </p:cNvPicPr>
          <p:nvPr/>
        </p:nvPicPr>
        <p:blipFill>
          <a:blip r:embed="rId3"/>
          <a:srcRect t="12447"/>
          <a:stretch/>
        </p:blipFill>
        <p:spPr>
          <a:xfrm>
            <a:off x="1008088" y="1028096"/>
            <a:ext cx="3016771" cy="2505120"/>
          </a:xfrm>
          <a:prstGeom prst="rect">
            <a:avLst/>
          </a:prstGeom>
        </p:spPr>
      </p:pic>
      <p:pic>
        <p:nvPicPr>
          <p:cNvPr id="6" name="Picture 5">
            <a:extLst>
              <a:ext uri="{FF2B5EF4-FFF2-40B4-BE49-F238E27FC236}">
                <a16:creationId xmlns:a16="http://schemas.microsoft.com/office/drawing/2014/main" id="{DB7361CA-5434-0A69-7B87-6AA0D3A5657E}"/>
              </a:ext>
            </a:extLst>
          </p:cNvPr>
          <p:cNvPicPr>
            <a:picLocks noChangeAspect="1"/>
          </p:cNvPicPr>
          <p:nvPr/>
        </p:nvPicPr>
        <p:blipFill>
          <a:blip r:embed="rId4"/>
          <a:stretch>
            <a:fillRect/>
          </a:stretch>
        </p:blipFill>
        <p:spPr>
          <a:xfrm>
            <a:off x="4826833" y="1028097"/>
            <a:ext cx="3309079" cy="2484189"/>
          </a:xfrm>
          <a:prstGeom prst="rect">
            <a:avLst/>
          </a:prstGeom>
        </p:spPr>
      </p:pic>
      <p:sp>
        <p:nvSpPr>
          <p:cNvPr id="4" name="TextBox 3">
            <a:extLst>
              <a:ext uri="{FF2B5EF4-FFF2-40B4-BE49-F238E27FC236}">
                <a16:creationId xmlns:a16="http://schemas.microsoft.com/office/drawing/2014/main" id="{A9B9E3EB-F248-406C-9634-4AA04FD6FB34}"/>
              </a:ext>
            </a:extLst>
          </p:cNvPr>
          <p:cNvSpPr txBox="1"/>
          <p:nvPr/>
        </p:nvSpPr>
        <p:spPr>
          <a:xfrm>
            <a:off x="2220418" y="751097"/>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Fig- 26</a:t>
            </a:r>
          </a:p>
        </p:txBody>
      </p:sp>
      <p:sp>
        <p:nvSpPr>
          <p:cNvPr id="9" name="TextBox 8">
            <a:extLst>
              <a:ext uri="{FF2B5EF4-FFF2-40B4-BE49-F238E27FC236}">
                <a16:creationId xmlns:a16="http://schemas.microsoft.com/office/drawing/2014/main" id="{D5D9C4F2-2CD6-B4B7-F395-1C62C3AF04AA}"/>
              </a:ext>
            </a:extLst>
          </p:cNvPr>
          <p:cNvSpPr txBox="1"/>
          <p:nvPr/>
        </p:nvSpPr>
        <p:spPr>
          <a:xfrm>
            <a:off x="6391432" y="751096"/>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Fig- 27</a:t>
            </a:r>
          </a:p>
        </p:txBody>
      </p:sp>
    </p:spTree>
    <p:extLst>
      <p:ext uri="{BB962C8B-B14F-4D97-AF65-F5344CB8AC3E}">
        <p14:creationId xmlns:p14="http://schemas.microsoft.com/office/powerpoint/2010/main" val="2075525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B973-DB43-4FE8-E6CC-8C47E54C828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30AD93B-E50F-9B4D-401D-DF680F839CD5}"/>
                  </a:ext>
                </a:extLst>
              </p:cNvPr>
              <p:cNvSpPr/>
              <p:nvPr/>
            </p:nvSpPr>
            <p:spPr>
              <a:xfrm>
                <a:off x="1008089" y="3395273"/>
                <a:ext cx="7127822" cy="1558976"/>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4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a:t>
                </a:r>
                <a:r>
                  <a:rPr lang="en-IN" sz="1400" kern="0" dirty="0">
                    <a:solidFill>
                      <a:schemeClr val="tx1"/>
                    </a:solidFill>
                    <a:ea typeface="Times New Roman" panose="02020603050405020304" pitchFamily="18" charset="0"/>
                    <a:cs typeface="Times New Roman" panose="02020603050405020304" pitchFamily="18" charset="0"/>
                  </a:rPr>
                  <a:t>for India’s time series data is Arima (0,1,0), the model is denoted as;</a:t>
                </a:r>
              </a:p>
              <a:p>
                <a:pPr>
                  <a:lnSpc>
                    <a:spcPct val="115000"/>
                  </a:lnSpc>
                  <a:spcAft>
                    <a:spcPts val="800"/>
                  </a:spcAft>
                  <a:defRPr/>
                </a:pPr>
                <a14:m>
                  <m:oMath xmlns:m="http://schemas.openxmlformats.org/officeDocument/2006/math">
                    <m:sSub>
                      <m:sSubPr>
                        <m:ctrlPr>
                          <a:rPr kumimoji="0" lang="en-IN" sz="14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400" b="0" i="1"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a:t>
                </a:r>
                <a:r>
                  <a:rPr kumimoji="0" lang="en-IN" sz="1400" b="0" i="1" u="none" strike="noStrike" kern="1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𝜖</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400" b="0" i="0"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 where </a:t>
                </a:r>
                <a:r>
                  <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is the original time series,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400" b="0" i="0"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is the first difference of the time series after which it becomes stationary and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ϵ</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400" b="0" i="0"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is the white noise at time t.</a:t>
                </a:r>
              </a:p>
              <a:p>
                <a:pPr>
                  <a:lnSpc>
                    <a:spcPct val="115000"/>
                  </a:lnSpc>
                  <a:spcAft>
                    <a:spcPts val="800"/>
                  </a:spcAft>
                  <a:defRPr/>
                </a:pPr>
                <a:r>
                  <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This model is considered to be </a:t>
                </a:r>
                <a:r>
                  <a:rPr lang="en-IN" sz="1400" kern="100" dirty="0">
                    <a:solidFill>
                      <a:prstClr val="black"/>
                    </a:solidFill>
                    <a:ea typeface="Calibri" panose="020F0502020204030204" pitchFamily="34" charset="0"/>
                    <a:cs typeface="Calibri" panose="020F0502020204030204" pitchFamily="34" charset="0"/>
                  </a:rPr>
                  <a:t>a pure random walk model.</a:t>
                </a:r>
                <a:endParaRPr kumimoji="0" lang="en-IN" sz="14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930AD93B-E50F-9B4D-401D-DF680F839CD5}"/>
                  </a:ext>
                </a:extLst>
              </p:cNvPr>
              <p:cNvSpPr>
                <a:spLocks noRot="1" noChangeAspect="1" noMove="1" noResize="1" noEditPoints="1" noAdjustHandles="1" noChangeArrowheads="1" noChangeShapeType="1" noTextEdit="1"/>
              </p:cNvSpPr>
              <p:nvPr/>
            </p:nvSpPr>
            <p:spPr>
              <a:xfrm>
                <a:off x="1008089" y="3395273"/>
                <a:ext cx="7127822" cy="1558976"/>
              </a:xfrm>
              <a:prstGeom prst="rect">
                <a:avLst/>
              </a:prstGeom>
              <a:blipFill>
                <a:blip r:embed="rId2"/>
                <a:stretch>
                  <a:fillRect l="-85" r="-341" b="-1538"/>
                </a:stretch>
              </a:blipFill>
              <a:ln>
                <a:solidFill>
                  <a:schemeClr val="bg1">
                    <a:lumMod val="25000"/>
                  </a:schemeClr>
                </a:solidFill>
              </a:ln>
            </p:spPr>
            <p:txBody>
              <a:bodyPr/>
              <a:lstStyle/>
              <a:p>
                <a:r>
                  <a:rPr lang="en-IN">
                    <a:noFill/>
                  </a:rPr>
                  <a:t> </a:t>
                </a:r>
              </a:p>
            </p:txBody>
          </p:sp>
        </mc:Fallback>
      </mc:AlternateContent>
      <p:sp>
        <p:nvSpPr>
          <p:cNvPr id="7" name="TextBox 6">
            <a:extLst>
              <a:ext uri="{FF2B5EF4-FFF2-40B4-BE49-F238E27FC236}">
                <a16:creationId xmlns:a16="http://schemas.microsoft.com/office/drawing/2014/main" id="{9602B967-E43E-DE48-ACBB-283588EB264A}"/>
              </a:ext>
            </a:extLst>
          </p:cNvPr>
          <p:cNvSpPr txBox="1"/>
          <p:nvPr/>
        </p:nvSpPr>
        <p:spPr>
          <a:xfrm>
            <a:off x="234222" y="91815"/>
            <a:ext cx="8909778" cy="615553"/>
          </a:xfrm>
          <a:prstGeom prst="rect">
            <a:avLst/>
          </a:prstGeom>
          <a:noFill/>
        </p:spPr>
        <p:txBody>
          <a:bodyPr wrap="square">
            <a:spAutoFit/>
          </a:bodyPr>
          <a:lstStyle/>
          <a:p>
            <a:pPr algn="ctr"/>
            <a:r>
              <a:rPr lang="en-IN" sz="2000" b="1" dirty="0">
                <a:latin typeface="IBM Plex Mono" panose="020B0509050203000203" pitchFamily="49" charset="0"/>
              </a:rPr>
              <a:t>TIME SERIES ANALYSIS AND MODEL FITTING</a:t>
            </a:r>
            <a:br>
              <a:rPr lang="en-IN" sz="2400" dirty="0"/>
            </a:br>
            <a:r>
              <a:rPr lang="en-IN" sz="1400" b="1" dirty="0">
                <a:latin typeface="Calibri" panose="020F0502020204030204" pitchFamily="34" charset="0"/>
                <a:ea typeface="Calibri" panose="020F0502020204030204" pitchFamily="34" charset="0"/>
                <a:cs typeface="Calibri" panose="020F0502020204030204" pitchFamily="34" charset="0"/>
              </a:rPr>
              <a:t>Model fitting to India’s dataset with the help of Arima model</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9" name="Content Placeholder 3">
            <a:extLst>
              <a:ext uri="{FF2B5EF4-FFF2-40B4-BE49-F238E27FC236}">
                <a16:creationId xmlns:a16="http://schemas.microsoft.com/office/drawing/2014/main" id="{3CA7E500-EA6B-4F6E-31A1-097BE36575F0}"/>
              </a:ext>
            </a:extLst>
          </p:cNvPr>
          <p:cNvPicPr>
            <a:picLocks noChangeAspect="1"/>
          </p:cNvPicPr>
          <p:nvPr/>
        </p:nvPicPr>
        <p:blipFill>
          <a:blip r:embed="rId3"/>
          <a:srcRect t="9971"/>
          <a:stretch/>
        </p:blipFill>
        <p:spPr>
          <a:xfrm>
            <a:off x="1008088" y="981856"/>
            <a:ext cx="2806908" cy="2354081"/>
          </a:xfrm>
          <a:prstGeom prst="rect">
            <a:avLst/>
          </a:prstGeom>
        </p:spPr>
      </p:pic>
      <p:pic>
        <p:nvPicPr>
          <p:cNvPr id="10" name="Picture 9">
            <a:extLst>
              <a:ext uri="{FF2B5EF4-FFF2-40B4-BE49-F238E27FC236}">
                <a16:creationId xmlns:a16="http://schemas.microsoft.com/office/drawing/2014/main" id="{D894F9BE-012D-0298-AD52-2994B428E49D}"/>
              </a:ext>
            </a:extLst>
          </p:cNvPr>
          <p:cNvPicPr>
            <a:picLocks noChangeAspect="1"/>
          </p:cNvPicPr>
          <p:nvPr/>
        </p:nvPicPr>
        <p:blipFill>
          <a:blip r:embed="rId4"/>
          <a:srcRect t="8574"/>
          <a:stretch/>
        </p:blipFill>
        <p:spPr>
          <a:xfrm>
            <a:off x="5156615" y="1004022"/>
            <a:ext cx="2979296" cy="2309748"/>
          </a:xfrm>
          <a:prstGeom prst="rect">
            <a:avLst/>
          </a:prstGeom>
        </p:spPr>
      </p:pic>
      <p:sp>
        <p:nvSpPr>
          <p:cNvPr id="3" name="TextBox 2">
            <a:extLst>
              <a:ext uri="{FF2B5EF4-FFF2-40B4-BE49-F238E27FC236}">
                <a16:creationId xmlns:a16="http://schemas.microsoft.com/office/drawing/2014/main" id="{37684084-F2C7-6A7D-9BE3-CE630742C20C}"/>
              </a:ext>
            </a:extLst>
          </p:cNvPr>
          <p:cNvSpPr txBox="1"/>
          <p:nvPr/>
        </p:nvSpPr>
        <p:spPr>
          <a:xfrm>
            <a:off x="2107992" y="704857"/>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Fig- 28</a:t>
            </a:r>
          </a:p>
        </p:txBody>
      </p:sp>
      <p:sp>
        <p:nvSpPr>
          <p:cNvPr id="6" name="TextBox 5">
            <a:extLst>
              <a:ext uri="{FF2B5EF4-FFF2-40B4-BE49-F238E27FC236}">
                <a16:creationId xmlns:a16="http://schemas.microsoft.com/office/drawing/2014/main" id="{525467AF-BFFE-AE02-FB20-770FC2BF2101}"/>
              </a:ext>
            </a:extLst>
          </p:cNvPr>
          <p:cNvSpPr txBox="1"/>
          <p:nvPr/>
        </p:nvSpPr>
        <p:spPr>
          <a:xfrm>
            <a:off x="6391432" y="704856"/>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Fig- 29</a:t>
            </a:r>
          </a:p>
        </p:txBody>
      </p:sp>
    </p:spTree>
    <p:extLst>
      <p:ext uri="{BB962C8B-B14F-4D97-AF65-F5344CB8AC3E}">
        <p14:creationId xmlns:p14="http://schemas.microsoft.com/office/powerpoint/2010/main" val="2053270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2EB002-57A1-4C56-4DB6-B038BF8D573B}"/>
              </a:ext>
            </a:extLst>
          </p:cNvPr>
          <p:cNvSpPr txBox="1"/>
          <p:nvPr/>
        </p:nvSpPr>
        <p:spPr>
          <a:xfrm>
            <a:off x="0" y="0"/>
            <a:ext cx="9144000" cy="830997"/>
          </a:xfrm>
          <a:prstGeom prst="rect">
            <a:avLst/>
          </a:prstGeom>
          <a:noFill/>
        </p:spPr>
        <p:txBody>
          <a:bodyPr wrap="square">
            <a:spAutoFit/>
          </a:bodyPr>
          <a:lstStyle/>
          <a:p>
            <a:pPr algn="ctr"/>
            <a:r>
              <a:rPr lang="en-IN" sz="2400" b="1" dirty="0">
                <a:latin typeface="IBM Plex Mono" panose="020B0509050203000203" pitchFamily="49" charset="0"/>
              </a:rPr>
              <a:t>COMPARISON </a:t>
            </a:r>
            <a:br>
              <a:rPr lang="en-IN" dirty="0"/>
            </a:br>
            <a:r>
              <a:rPr lang="en-IN" sz="1200" b="1" dirty="0">
                <a:latin typeface="Calibri" panose="020F0502020204030204" pitchFamily="34" charset="0"/>
                <a:ea typeface="Calibri" panose="020F0502020204030204" pitchFamily="34" charset="0"/>
                <a:cs typeface="Calibri" panose="020F0502020204030204" pitchFamily="34" charset="0"/>
              </a:rPr>
              <a:t>Comparison based on the forecasted values among India, Germany and Kenya based obtained from the fitted models for the next upcoming 10 years (2023-2032).</a:t>
            </a:r>
            <a:endParaRPr lang="en-IN"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Chart 3">
            <a:extLst>
              <a:ext uri="{FF2B5EF4-FFF2-40B4-BE49-F238E27FC236}">
                <a16:creationId xmlns:a16="http://schemas.microsoft.com/office/drawing/2014/main" id="{B158F956-EF87-B4BA-F22A-FB99B354709F}"/>
              </a:ext>
            </a:extLst>
          </p:cNvPr>
          <p:cNvGraphicFramePr/>
          <p:nvPr>
            <p:extLst>
              <p:ext uri="{D42A27DB-BD31-4B8C-83A1-F6EECF244321}">
                <p14:modId xmlns:p14="http://schemas.microsoft.com/office/powerpoint/2010/main" val="473413346"/>
              </p:ext>
            </p:extLst>
          </p:nvPr>
        </p:nvGraphicFramePr>
        <p:xfrm>
          <a:off x="1401580" y="980899"/>
          <a:ext cx="6303364" cy="2256976"/>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8BB6DE27-965A-977E-8D67-DEB692D95B01}"/>
              </a:ext>
            </a:extLst>
          </p:cNvPr>
          <p:cNvSpPr/>
          <p:nvPr/>
        </p:nvSpPr>
        <p:spPr>
          <a:xfrm>
            <a:off x="1008089" y="3395273"/>
            <a:ext cx="7127822" cy="1566471"/>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IN" sz="1300" kern="0" dirty="0">
                <a:solidFill>
                  <a:schemeClr val="tx1"/>
                </a:solidFill>
                <a:ea typeface="Times New Roman" panose="02020603050405020304" pitchFamily="18" charset="0"/>
                <a:cs typeface="Times New Roman" panose="02020603050405020304" pitchFamily="18" charset="0"/>
              </a:rPr>
              <a:t>Based on the forecasted values by using best fitted Arima models for each, we predict that </a:t>
            </a:r>
            <a:r>
              <a:rPr lang="en-US" sz="1300" kern="0" dirty="0">
                <a:solidFill>
                  <a:schemeClr val="tx1"/>
                </a:solidFill>
                <a:ea typeface="Times New Roman" panose="02020603050405020304" pitchFamily="18" charset="0"/>
                <a:cs typeface="Times New Roman" panose="02020603050405020304" pitchFamily="18" charset="0"/>
              </a:rPr>
              <a:t>for the upcoming 10 years (2023-2032) the forecasted rape crime rate:</a:t>
            </a:r>
          </a:p>
          <a:p>
            <a:pPr marL="171450" marR="0" lvl="0" indent="-1714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lang="en-US" sz="1300" kern="0" dirty="0">
                <a:solidFill>
                  <a:schemeClr val="tx1"/>
                </a:solidFill>
                <a:ea typeface="Times New Roman" panose="02020603050405020304" pitchFamily="18" charset="0"/>
                <a:cs typeface="Times New Roman" panose="02020603050405020304" pitchFamily="18" charset="0"/>
              </a:rPr>
              <a:t>India and Kenya shows a stabilized trend. </a:t>
            </a:r>
          </a:p>
          <a:p>
            <a:pPr marL="171450" marR="0" lvl="0" indent="-1714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lang="en-US" sz="1300" kern="0" dirty="0">
                <a:solidFill>
                  <a:schemeClr val="tx1"/>
                </a:solidFill>
                <a:ea typeface="Times New Roman" panose="02020603050405020304" pitchFamily="18" charset="0"/>
                <a:cs typeface="Times New Roman" panose="02020603050405020304" pitchFamily="18" charset="0"/>
              </a:rPr>
              <a:t>Germany shows an upward trend.</a:t>
            </a:r>
          </a:p>
          <a:p>
            <a:pPr marR="0" lvl="0" algn="l" defTabSz="914400" rtl="0" eaLnBrk="1" fontAlgn="auto" latinLnBrk="0" hangingPunct="1">
              <a:lnSpc>
                <a:spcPct val="115000"/>
              </a:lnSpc>
              <a:spcBef>
                <a:spcPts val="0"/>
              </a:spcBef>
              <a:spcAft>
                <a:spcPts val="800"/>
              </a:spcAft>
              <a:buClrTx/>
              <a:buSzTx/>
              <a:tabLst/>
              <a:defRPr/>
            </a:pPr>
            <a:r>
              <a:rPr lang="en-US" sz="1300" kern="0" dirty="0">
                <a:solidFill>
                  <a:schemeClr val="tx1"/>
                </a:solidFill>
                <a:ea typeface="Times New Roman" panose="02020603050405020304" pitchFamily="18" charset="0"/>
                <a:cs typeface="Times New Roman" panose="02020603050405020304" pitchFamily="18" charset="0"/>
              </a:rPr>
              <a:t>For forecasted table click here </a:t>
            </a:r>
            <a:r>
              <a:rPr lang="en-US" sz="1300" b="1" kern="0" dirty="0">
                <a:solidFill>
                  <a:schemeClr val="tx1"/>
                </a:solidFill>
                <a:ea typeface="Times New Roman" panose="02020603050405020304" pitchFamily="18" charset="0"/>
                <a:cs typeface="Times New Roman" panose="02020603050405020304" pitchFamily="18" charset="0"/>
                <a:hlinkClick r:id="rId3" action="ppaction://hlinksldjump"/>
              </a:rPr>
              <a:t>FORECAST TABLE</a:t>
            </a:r>
            <a:r>
              <a:rPr lang="en-US" sz="1300" b="1" kern="0" dirty="0">
                <a:solidFill>
                  <a:schemeClr val="tx1"/>
                </a:solidFill>
                <a:ea typeface="Times New Roman" panose="02020603050405020304" pitchFamily="18" charset="0"/>
                <a:cs typeface="Times New Roman" panose="02020603050405020304" pitchFamily="18" charset="0"/>
              </a:rPr>
              <a:t> </a:t>
            </a:r>
            <a:endParaRPr lang="en-IN" sz="1300" b="1" kern="0" dirty="0">
              <a:solidFill>
                <a:schemeClr val="tx1"/>
              </a:solidFill>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8F39ABC-56F8-BC54-B777-1E5849D15DF8}"/>
              </a:ext>
            </a:extLst>
          </p:cNvPr>
          <p:cNvSpPr txBox="1"/>
          <p:nvPr/>
        </p:nvSpPr>
        <p:spPr>
          <a:xfrm>
            <a:off x="4349022" y="823501"/>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Fig- 30</a:t>
            </a:r>
          </a:p>
        </p:txBody>
      </p:sp>
    </p:spTree>
    <p:extLst>
      <p:ext uri="{BB962C8B-B14F-4D97-AF65-F5344CB8AC3E}">
        <p14:creationId xmlns:p14="http://schemas.microsoft.com/office/powerpoint/2010/main" val="4218452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0B676F-1BA0-3FA6-57CB-EA035EF2ACFA}"/>
              </a:ext>
            </a:extLst>
          </p:cNvPr>
          <p:cNvSpPr txBox="1"/>
          <p:nvPr/>
        </p:nvSpPr>
        <p:spPr>
          <a:xfrm>
            <a:off x="0" y="52466"/>
            <a:ext cx="9144000" cy="892552"/>
          </a:xfrm>
          <a:prstGeom prst="rect">
            <a:avLst/>
          </a:prstGeom>
          <a:noFill/>
        </p:spPr>
        <p:txBody>
          <a:bodyPr wrap="square">
            <a:spAutoFit/>
          </a:bodyPr>
          <a:lstStyle/>
          <a:p>
            <a:pPr algn="ctr"/>
            <a:r>
              <a:rPr lang="en-US" sz="2000" b="1" dirty="0">
                <a:latin typeface="IBM Plex Mono" panose="020B0509050203000203" pitchFamily="49" charset="0"/>
              </a:rPr>
              <a:t>TOP 10 STATES TIME SERIES ANALYSIS</a:t>
            </a:r>
            <a:br>
              <a:rPr lang="en-US" sz="2700" dirty="0"/>
            </a:br>
            <a:r>
              <a:rPr lang="en-US" sz="1400" b="1" dirty="0">
                <a:latin typeface="Calibri" panose="020F0502020204030204" pitchFamily="34" charset="0"/>
                <a:ea typeface="Calibri" panose="020F0502020204030204" pitchFamily="34" charset="0"/>
                <a:cs typeface="Calibri" panose="020F0502020204030204" pitchFamily="34" charset="0"/>
              </a:rPr>
              <a:t>Time series plot of Delhi, Mizoram, Madhya Pradesh, Assam and Arunachal Pradesh</a:t>
            </a:r>
            <a:br>
              <a:rPr lang="en-US" sz="4400" dirty="0"/>
            </a:br>
            <a:endParaRPr lang="en-IN" dirty="0"/>
          </a:p>
        </p:txBody>
      </p:sp>
      <p:pic>
        <p:nvPicPr>
          <p:cNvPr id="4" name="Content Placeholder 3">
            <a:extLst>
              <a:ext uri="{FF2B5EF4-FFF2-40B4-BE49-F238E27FC236}">
                <a16:creationId xmlns:a16="http://schemas.microsoft.com/office/drawing/2014/main" id="{2289DAB1-066A-A6A0-9E69-ACE0A0C37382}"/>
              </a:ext>
            </a:extLst>
          </p:cNvPr>
          <p:cNvPicPr>
            <a:picLocks noChangeAspect="1"/>
          </p:cNvPicPr>
          <p:nvPr/>
        </p:nvPicPr>
        <p:blipFill>
          <a:blip r:embed="rId2"/>
          <a:srcRect t="12158"/>
          <a:stretch/>
        </p:blipFill>
        <p:spPr>
          <a:xfrm>
            <a:off x="296462" y="1006573"/>
            <a:ext cx="2467405" cy="1855448"/>
          </a:xfrm>
          <a:prstGeom prst="rect">
            <a:avLst/>
          </a:prstGeom>
        </p:spPr>
      </p:pic>
      <p:pic>
        <p:nvPicPr>
          <p:cNvPr id="5" name="Picture 4">
            <a:extLst>
              <a:ext uri="{FF2B5EF4-FFF2-40B4-BE49-F238E27FC236}">
                <a16:creationId xmlns:a16="http://schemas.microsoft.com/office/drawing/2014/main" id="{A0161021-AB5E-3E03-0424-9E15DADAFBAA}"/>
              </a:ext>
            </a:extLst>
          </p:cNvPr>
          <p:cNvPicPr>
            <a:picLocks noChangeAspect="1"/>
          </p:cNvPicPr>
          <p:nvPr/>
        </p:nvPicPr>
        <p:blipFill>
          <a:blip r:embed="rId3"/>
          <a:srcRect t="11885"/>
          <a:stretch/>
        </p:blipFill>
        <p:spPr>
          <a:xfrm>
            <a:off x="3002445" y="1006573"/>
            <a:ext cx="2748314" cy="1855448"/>
          </a:xfrm>
          <a:prstGeom prst="rect">
            <a:avLst/>
          </a:prstGeom>
        </p:spPr>
      </p:pic>
      <p:pic>
        <p:nvPicPr>
          <p:cNvPr id="6" name="Picture 5">
            <a:extLst>
              <a:ext uri="{FF2B5EF4-FFF2-40B4-BE49-F238E27FC236}">
                <a16:creationId xmlns:a16="http://schemas.microsoft.com/office/drawing/2014/main" id="{6D5B9A05-6822-D31D-EB7A-5ED1AAFB288E}"/>
              </a:ext>
            </a:extLst>
          </p:cNvPr>
          <p:cNvPicPr>
            <a:picLocks noChangeAspect="1"/>
          </p:cNvPicPr>
          <p:nvPr/>
        </p:nvPicPr>
        <p:blipFill>
          <a:blip r:embed="rId4"/>
          <a:stretch>
            <a:fillRect/>
          </a:stretch>
        </p:blipFill>
        <p:spPr>
          <a:xfrm>
            <a:off x="5989337" y="1006573"/>
            <a:ext cx="2892336" cy="1855448"/>
          </a:xfrm>
          <a:prstGeom prst="rect">
            <a:avLst/>
          </a:prstGeom>
        </p:spPr>
      </p:pic>
      <p:pic>
        <p:nvPicPr>
          <p:cNvPr id="7" name="Picture 6">
            <a:extLst>
              <a:ext uri="{FF2B5EF4-FFF2-40B4-BE49-F238E27FC236}">
                <a16:creationId xmlns:a16="http://schemas.microsoft.com/office/drawing/2014/main" id="{16EA4239-F53D-3A96-C2CC-CB5BB7727568}"/>
              </a:ext>
            </a:extLst>
          </p:cNvPr>
          <p:cNvPicPr>
            <a:picLocks noChangeAspect="1"/>
          </p:cNvPicPr>
          <p:nvPr/>
        </p:nvPicPr>
        <p:blipFill>
          <a:blip r:embed="rId5"/>
          <a:stretch>
            <a:fillRect/>
          </a:stretch>
        </p:blipFill>
        <p:spPr>
          <a:xfrm>
            <a:off x="296462" y="3209204"/>
            <a:ext cx="2986384" cy="1855447"/>
          </a:xfrm>
          <a:prstGeom prst="rect">
            <a:avLst/>
          </a:prstGeom>
        </p:spPr>
      </p:pic>
      <p:sp>
        <p:nvSpPr>
          <p:cNvPr id="9" name="TextBox 8">
            <a:extLst>
              <a:ext uri="{FF2B5EF4-FFF2-40B4-BE49-F238E27FC236}">
                <a16:creationId xmlns:a16="http://schemas.microsoft.com/office/drawing/2014/main" id="{3515FE91-F6DE-6263-B188-B98C7CCD78AF}"/>
              </a:ext>
            </a:extLst>
          </p:cNvPr>
          <p:cNvSpPr txBox="1"/>
          <p:nvPr/>
        </p:nvSpPr>
        <p:spPr>
          <a:xfrm>
            <a:off x="7311047" y="729574"/>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a:t>
            </a:r>
            <a:r>
              <a:rPr lang="en-IN" sz="1200" dirty="0">
                <a:solidFill>
                  <a:srgbClr val="1D1D1D"/>
                </a:solidFill>
                <a:latin typeface="Arial"/>
              </a:rPr>
              <a:t>3</a:t>
            </a:r>
            <a:endParaRPr kumimoji="0" lang="en-IN" sz="1200" b="0" i="0" u="none" strike="noStrike" kern="1200" cap="none" spc="0" normalizeH="0" baseline="0" noProof="0" dirty="0">
              <a:ln>
                <a:noFill/>
              </a:ln>
              <a:solidFill>
                <a:srgbClr val="1D1D1D"/>
              </a:solidFill>
              <a:effectLst/>
              <a:uLnTx/>
              <a:uFillTx/>
              <a:latin typeface="Arial"/>
              <a:ea typeface="+mn-ea"/>
              <a:cs typeface="+mn-cs"/>
            </a:endParaRPr>
          </a:p>
        </p:txBody>
      </p:sp>
      <p:sp>
        <p:nvSpPr>
          <p:cNvPr id="11" name="TextBox 10">
            <a:extLst>
              <a:ext uri="{FF2B5EF4-FFF2-40B4-BE49-F238E27FC236}">
                <a16:creationId xmlns:a16="http://schemas.microsoft.com/office/drawing/2014/main" id="{F2638F91-DA16-0624-D7B6-B0C3421B0526}"/>
              </a:ext>
            </a:extLst>
          </p:cNvPr>
          <p:cNvSpPr txBox="1"/>
          <p:nvPr/>
        </p:nvSpPr>
        <p:spPr>
          <a:xfrm>
            <a:off x="4319901" y="729572"/>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a:t>
            </a:r>
            <a:r>
              <a:rPr lang="en-IN" sz="1200" dirty="0">
                <a:solidFill>
                  <a:srgbClr val="1D1D1D"/>
                </a:solidFill>
                <a:latin typeface="Arial"/>
              </a:rPr>
              <a:t>2</a:t>
            </a:r>
            <a:endParaRPr kumimoji="0" lang="en-IN" sz="1200" b="0" i="0" u="none" strike="noStrike" kern="1200" cap="none" spc="0" normalizeH="0" baseline="0" noProof="0" dirty="0">
              <a:ln>
                <a:noFill/>
              </a:ln>
              <a:solidFill>
                <a:srgbClr val="1D1D1D"/>
              </a:solidFill>
              <a:effectLst/>
              <a:uLnTx/>
              <a:uFillTx/>
              <a:latin typeface="Arial"/>
              <a:ea typeface="+mn-ea"/>
              <a:cs typeface="+mn-cs"/>
            </a:endParaRPr>
          </a:p>
        </p:txBody>
      </p:sp>
      <p:sp>
        <p:nvSpPr>
          <p:cNvPr id="13" name="TextBox 12">
            <a:extLst>
              <a:ext uri="{FF2B5EF4-FFF2-40B4-BE49-F238E27FC236}">
                <a16:creationId xmlns:a16="http://schemas.microsoft.com/office/drawing/2014/main" id="{B8A556BF-E757-370A-340D-46867FA4DBBE}"/>
              </a:ext>
            </a:extLst>
          </p:cNvPr>
          <p:cNvSpPr txBox="1"/>
          <p:nvPr/>
        </p:nvSpPr>
        <p:spPr>
          <a:xfrm>
            <a:off x="1357978" y="729571"/>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a:t>
            </a:r>
            <a:r>
              <a:rPr lang="en-IN" sz="1200" dirty="0">
                <a:solidFill>
                  <a:srgbClr val="1D1D1D"/>
                </a:solidFill>
                <a:latin typeface="Arial"/>
              </a:rPr>
              <a:t>1</a:t>
            </a:r>
            <a:endParaRPr kumimoji="0" lang="en-IN" sz="1200" b="0" i="0" u="none" strike="noStrike" kern="1200" cap="none" spc="0" normalizeH="0" baseline="0" noProof="0" dirty="0">
              <a:ln>
                <a:noFill/>
              </a:ln>
              <a:solidFill>
                <a:srgbClr val="1D1D1D"/>
              </a:solidFill>
              <a:effectLst/>
              <a:uLnTx/>
              <a:uFillTx/>
              <a:latin typeface="Arial"/>
              <a:ea typeface="+mn-ea"/>
              <a:cs typeface="+mn-cs"/>
            </a:endParaRPr>
          </a:p>
        </p:txBody>
      </p:sp>
      <p:sp>
        <p:nvSpPr>
          <p:cNvPr id="15" name="TextBox 14">
            <a:extLst>
              <a:ext uri="{FF2B5EF4-FFF2-40B4-BE49-F238E27FC236}">
                <a16:creationId xmlns:a16="http://schemas.microsoft.com/office/drawing/2014/main" id="{9667BF68-8D15-71B1-7D26-4A5E6714651D}"/>
              </a:ext>
            </a:extLst>
          </p:cNvPr>
          <p:cNvSpPr txBox="1"/>
          <p:nvPr/>
        </p:nvSpPr>
        <p:spPr>
          <a:xfrm>
            <a:off x="1260846" y="2932202"/>
            <a:ext cx="645701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Fig- 34</a:t>
            </a:r>
          </a:p>
        </p:txBody>
      </p:sp>
      <p:pic>
        <p:nvPicPr>
          <p:cNvPr id="16" name="Picture 15">
            <a:extLst>
              <a:ext uri="{FF2B5EF4-FFF2-40B4-BE49-F238E27FC236}">
                <a16:creationId xmlns:a16="http://schemas.microsoft.com/office/drawing/2014/main" id="{E01D2A90-9D9F-7862-64B3-906A4345A137}"/>
              </a:ext>
            </a:extLst>
          </p:cNvPr>
          <p:cNvPicPr>
            <a:picLocks noChangeAspect="1"/>
          </p:cNvPicPr>
          <p:nvPr/>
        </p:nvPicPr>
        <p:blipFill>
          <a:blip r:embed="rId6"/>
          <a:srcRect t="-1338"/>
          <a:stretch/>
        </p:blipFill>
        <p:spPr>
          <a:xfrm>
            <a:off x="5688767" y="3110459"/>
            <a:ext cx="3158771" cy="1954189"/>
          </a:xfrm>
          <a:prstGeom prst="rect">
            <a:avLst/>
          </a:prstGeom>
        </p:spPr>
      </p:pic>
      <p:sp>
        <p:nvSpPr>
          <p:cNvPr id="20" name="TextBox 19">
            <a:extLst>
              <a:ext uri="{FF2B5EF4-FFF2-40B4-BE49-F238E27FC236}">
                <a16:creationId xmlns:a16="http://schemas.microsoft.com/office/drawing/2014/main" id="{74DEC1C4-CD1A-A903-529B-6633D91FF406}"/>
              </a:ext>
            </a:extLst>
          </p:cNvPr>
          <p:cNvSpPr txBox="1"/>
          <p:nvPr/>
        </p:nvSpPr>
        <p:spPr>
          <a:xfrm>
            <a:off x="7072469" y="2866791"/>
            <a:ext cx="645701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Fig- 35</a:t>
            </a:r>
          </a:p>
        </p:txBody>
      </p:sp>
    </p:spTree>
    <p:extLst>
      <p:ext uri="{BB962C8B-B14F-4D97-AF65-F5344CB8AC3E}">
        <p14:creationId xmlns:p14="http://schemas.microsoft.com/office/powerpoint/2010/main" val="966091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C23C3-ECDF-C67E-5A26-0F1942DD79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52C129-A150-9231-C671-47CA8E9B453F}"/>
              </a:ext>
            </a:extLst>
          </p:cNvPr>
          <p:cNvSpPr txBox="1"/>
          <p:nvPr/>
        </p:nvSpPr>
        <p:spPr>
          <a:xfrm>
            <a:off x="0" y="52466"/>
            <a:ext cx="9144000" cy="892552"/>
          </a:xfrm>
          <a:prstGeom prst="rect">
            <a:avLst/>
          </a:prstGeom>
          <a:noFill/>
        </p:spPr>
        <p:txBody>
          <a:bodyPr wrap="square">
            <a:spAutoFit/>
          </a:bodyPr>
          <a:lstStyle/>
          <a:p>
            <a:pPr algn="ctr"/>
            <a:r>
              <a:rPr lang="en-US" sz="2000" b="1" dirty="0">
                <a:latin typeface="IBM Plex Mono" panose="020B0509050203000203" pitchFamily="49" charset="0"/>
              </a:rPr>
              <a:t>TOP 10 STATES TIME SERIES ANALYSIS</a:t>
            </a:r>
            <a:br>
              <a:rPr lang="en-US" sz="2000" b="1" dirty="0"/>
            </a:br>
            <a:r>
              <a:rPr lang="en-US" sz="1400" b="1" dirty="0">
                <a:latin typeface="Calibri" panose="020F0502020204030204" pitchFamily="34" charset="0"/>
                <a:ea typeface="Calibri" panose="020F0502020204030204" pitchFamily="34" charset="0"/>
                <a:cs typeface="Calibri" panose="020F0502020204030204" pitchFamily="34" charset="0"/>
              </a:rPr>
              <a:t>Time series plot of Chhattisgarh, Rajasthan, Tripura, Chandigarh and Haryana.</a:t>
            </a:r>
            <a:br>
              <a:rPr lang="en-US" sz="4400" dirty="0"/>
            </a:br>
            <a:endParaRPr lang="en-IN" dirty="0"/>
          </a:p>
        </p:txBody>
      </p:sp>
      <p:sp>
        <p:nvSpPr>
          <p:cNvPr id="9" name="TextBox 8">
            <a:extLst>
              <a:ext uri="{FF2B5EF4-FFF2-40B4-BE49-F238E27FC236}">
                <a16:creationId xmlns:a16="http://schemas.microsoft.com/office/drawing/2014/main" id="{00D476CA-0DD4-319F-66AC-2ED4678B5200}"/>
              </a:ext>
            </a:extLst>
          </p:cNvPr>
          <p:cNvSpPr txBox="1"/>
          <p:nvPr/>
        </p:nvSpPr>
        <p:spPr>
          <a:xfrm>
            <a:off x="7311047" y="729574"/>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Fig- 38</a:t>
            </a:r>
          </a:p>
        </p:txBody>
      </p:sp>
      <p:sp>
        <p:nvSpPr>
          <p:cNvPr id="11" name="TextBox 10">
            <a:extLst>
              <a:ext uri="{FF2B5EF4-FFF2-40B4-BE49-F238E27FC236}">
                <a16:creationId xmlns:a16="http://schemas.microsoft.com/office/drawing/2014/main" id="{599D530A-BC82-9716-0FC2-E6D0A8FA6842}"/>
              </a:ext>
            </a:extLst>
          </p:cNvPr>
          <p:cNvSpPr txBox="1"/>
          <p:nvPr/>
        </p:nvSpPr>
        <p:spPr>
          <a:xfrm>
            <a:off x="4489352" y="729573"/>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Fig- 37</a:t>
            </a:r>
          </a:p>
        </p:txBody>
      </p:sp>
      <p:sp>
        <p:nvSpPr>
          <p:cNvPr id="13" name="TextBox 12">
            <a:extLst>
              <a:ext uri="{FF2B5EF4-FFF2-40B4-BE49-F238E27FC236}">
                <a16:creationId xmlns:a16="http://schemas.microsoft.com/office/drawing/2014/main" id="{C3FD43A5-0283-4AF7-E1A7-09A3AD1E983E}"/>
              </a:ext>
            </a:extLst>
          </p:cNvPr>
          <p:cNvSpPr txBox="1"/>
          <p:nvPr/>
        </p:nvSpPr>
        <p:spPr>
          <a:xfrm>
            <a:off x="1373079" y="697425"/>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Fig- 36</a:t>
            </a:r>
          </a:p>
        </p:txBody>
      </p:sp>
      <p:sp>
        <p:nvSpPr>
          <p:cNvPr id="15" name="TextBox 14">
            <a:extLst>
              <a:ext uri="{FF2B5EF4-FFF2-40B4-BE49-F238E27FC236}">
                <a16:creationId xmlns:a16="http://schemas.microsoft.com/office/drawing/2014/main" id="{FF423A28-7C27-572C-79EA-A7054EA0DD6F}"/>
              </a:ext>
            </a:extLst>
          </p:cNvPr>
          <p:cNvSpPr txBox="1"/>
          <p:nvPr/>
        </p:nvSpPr>
        <p:spPr>
          <a:xfrm>
            <a:off x="1260846" y="2932202"/>
            <a:ext cx="645701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Fig- 39</a:t>
            </a:r>
          </a:p>
        </p:txBody>
      </p:sp>
      <p:sp>
        <p:nvSpPr>
          <p:cNvPr id="20" name="TextBox 19">
            <a:extLst>
              <a:ext uri="{FF2B5EF4-FFF2-40B4-BE49-F238E27FC236}">
                <a16:creationId xmlns:a16="http://schemas.microsoft.com/office/drawing/2014/main" id="{469507A5-462E-5DC1-0525-CB0B18CA1634}"/>
              </a:ext>
            </a:extLst>
          </p:cNvPr>
          <p:cNvSpPr txBox="1"/>
          <p:nvPr/>
        </p:nvSpPr>
        <p:spPr>
          <a:xfrm>
            <a:off x="7072469" y="2932202"/>
            <a:ext cx="645701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a:t>
            </a:r>
            <a:r>
              <a:rPr lang="en-IN" sz="1200" dirty="0">
                <a:solidFill>
                  <a:srgbClr val="1D1D1D"/>
                </a:solidFill>
                <a:latin typeface="Arial"/>
              </a:rPr>
              <a:t>40</a:t>
            </a:r>
            <a:endParaRPr kumimoji="0" lang="en-IN" sz="1200" b="0" i="0" u="none" strike="noStrike" kern="1200" cap="none" spc="0" normalizeH="0" baseline="0" noProof="0" dirty="0">
              <a:ln>
                <a:noFill/>
              </a:ln>
              <a:solidFill>
                <a:srgbClr val="1D1D1D"/>
              </a:solidFill>
              <a:effectLst/>
              <a:uLnTx/>
              <a:uFillTx/>
              <a:latin typeface="Arial"/>
              <a:ea typeface="+mn-ea"/>
              <a:cs typeface="+mn-cs"/>
            </a:endParaRPr>
          </a:p>
        </p:txBody>
      </p:sp>
      <p:pic>
        <p:nvPicPr>
          <p:cNvPr id="8" name="Picture 7">
            <a:extLst>
              <a:ext uri="{FF2B5EF4-FFF2-40B4-BE49-F238E27FC236}">
                <a16:creationId xmlns:a16="http://schemas.microsoft.com/office/drawing/2014/main" id="{5C7A0F76-B4ED-9C55-CB84-D311C0E1CD5C}"/>
              </a:ext>
            </a:extLst>
          </p:cNvPr>
          <p:cNvPicPr>
            <a:picLocks noChangeAspect="1"/>
          </p:cNvPicPr>
          <p:nvPr/>
        </p:nvPicPr>
        <p:blipFill>
          <a:blip r:embed="rId2"/>
          <a:stretch>
            <a:fillRect/>
          </a:stretch>
        </p:blipFill>
        <p:spPr>
          <a:xfrm>
            <a:off x="135206" y="974424"/>
            <a:ext cx="2844094" cy="1843727"/>
          </a:xfrm>
          <a:prstGeom prst="rect">
            <a:avLst/>
          </a:prstGeom>
        </p:spPr>
      </p:pic>
      <p:pic>
        <p:nvPicPr>
          <p:cNvPr id="10" name="Picture 9">
            <a:extLst>
              <a:ext uri="{FF2B5EF4-FFF2-40B4-BE49-F238E27FC236}">
                <a16:creationId xmlns:a16="http://schemas.microsoft.com/office/drawing/2014/main" id="{6AD12F1A-691F-9869-8577-2CAA1FF77924}"/>
              </a:ext>
            </a:extLst>
          </p:cNvPr>
          <p:cNvPicPr>
            <a:picLocks noChangeAspect="1"/>
          </p:cNvPicPr>
          <p:nvPr/>
        </p:nvPicPr>
        <p:blipFill>
          <a:blip r:embed="rId3"/>
          <a:stretch>
            <a:fillRect/>
          </a:stretch>
        </p:blipFill>
        <p:spPr>
          <a:xfrm>
            <a:off x="3173554" y="1006570"/>
            <a:ext cx="2844094" cy="1811581"/>
          </a:xfrm>
          <a:prstGeom prst="rect">
            <a:avLst/>
          </a:prstGeom>
        </p:spPr>
      </p:pic>
      <p:pic>
        <p:nvPicPr>
          <p:cNvPr id="12" name="Picture 11">
            <a:extLst>
              <a:ext uri="{FF2B5EF4-FFF2-40B4-BE49-F238E27FC236}">
                <a16:creationId xmlns:a16="http://schemas.microsoft.com/office/drawing/2014/main" id="{1026A571-76C9-6060-4DEF-92939621632D}"/>
              </a:ext>
            </a:extLst>
          </p:cNvPr>
          <p:cNvPicPr>
            <a:picLocks noChangeAspect="1"/>
          </p:cNvPicPr>
          <p:nvPr/>
        </p:nvPicPr>
        <p:blipFill>
          <a:blip r:embed="rId4"/>
          <a:stretch>
            <a:fillRect/>
          </a:stretch>
        </p:blipFill>
        <p:spPr>
          <a:xfrm>
            <a:off x="6164700" y="1006570"/>
            <a:ext cx="2844094" cy="1811581"/>
          </a:xfrm>
          <a:prstGeom prst="rect">
            <a:avLst/>
          </a:prstGeom>
        </p:spPr>
      </p:pic>
      <p:pic>
        <p:nvPicPr>
          <p:cNvPr id="14" name="Picture 13">
            <a:extLst>
              <a:ext uri="{FF2B5EF4-FFF2-40B4-BE49-F238E27FC236}">
                <a16:creationId xmlns:a16="http://schemas.microsoft.com/office/drawing/2014/main" id="{81064EDD-22D3-F7BF-ED0B-0A8BEBB3B338}"/>
              </a:ext>
            </a:extLst>
          </p:cNvPr>
          <p:cNvPicPr>
            <a:picLocks noChangeAspect="1"/>
          </p:cNvPicPr>
          <p:nvPr/>
        </p:nvPicPr>
        <p:blipFill>
          <a:blip r:embed="rId5"/>
          <a:stretch>
            <a:fillRect/>
          </a:stretch>
        </p:blipFill>
        <p:spPr>
          <a:xfrm>
            <a:off x="67456" y="3209201"/>
            <a:ext cx="2984355" cy="1843727"/>
          </a:xfrm>
          <a:prstGeom prst="rect">
            <a:avLst/>
          </a:prstGeom>
        </p:spPr>
      </p:pic>
      <p:pic>
        <p:nvPicPr>
          <p:cNvPr id="17" name="Picture 16">
            <a:extLst>
              <a:ext uri="{FF2B5EF4-FFF2-40B4-BE49-F238E27FC236}">
                <a16:creationId xmlns:a16="http://schemas.microsoft.com/office/drawing/2014/main" id="{FF36859F-526B-40CC-9575-565DF86D4F64}"/>
              </a:ext>
            </a:extLst>
          </p:cNvPr>
          <p:cNvPicPr>
            <a:picLocks noChangeAspect="1"/>
          </p:cNvPicPr>
          <p:nvPr/>
        </p:nvPicPr>
        <p:blipFill>
          <a:blip r:embed="rId6"/>
          <a:stretch>
            <a:fillRect/>
          </a:stretch>
        </p:blipFill>
        <p:spPr>
          <a:xfrm>
            <a:off x="6164700" y="3209201"/>
            <a:ext cx="2844094" cy="1811582"/>
          </a:xfrm>
          <a:prstGeom prst="rect">
            <a:avLst/>
          </a:prstGeom>
        </p:spPr>
      </p:pic>
    </p:spTree>
    <p:extLst>
      <p:ext uri="{BB962C8B-B14F-4D97-AF65-F5344CB8AC3E}">
        <p14:creationId xmlns:p14="http://schemas.microsoft.com/office/powerpoint/2010/main" val="2210022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ADB0CA-EAE3-4795-40EE-67A18980784A}"/>
              </a:ext>
            </a:extLst>
          </p:cNvPr>
          <p:cNvPicPr>
            <a:picLocks noChangeAspect="1"/>
          </p:cNvPicPr>
          <p:nvPr/>
        </p:nvPicPr>
        <p:blipFill>
          <a:blip r:embed="rId2"/>
          <a:stretch>
            <a:fillRect/>
          </a:stretch>
        </p:blipFill>
        <p:spPr>
          <a:xfrm>
            <a:off x="246464" y="1229626"/>
            <a:ext cx="3401023" cy="2684248"/>
          </a:xfrm>
          <a:prstGeom prst="rect">
            <a:avLst/>
          </a:prstGeom>
        </p:spPr>
      </p:pic>
      <p:sp>
        <p:nvSpPr>
          <p:cNvPr id="3" name="TextBox 2">
            <a:extLst>
              <a:ext uri="{FF2B5EF4-FFF2-40B4-BE49-F238E27FC236}">
                <a16:creationId xmlns:a16="http://schemas.microsoft.com/office/drawing/2014/main" id="{25FCF275-57B6-F862-2306-55D677482473}"/>
              </a:ext>
            </a:extLst>
          </p:cNvPr>
          <p:cNvSpPr txBox="1"/>
          <p:nvPr/>
        </p:nvSpPr>
        <p:spPr>
          <a:xfrm>
            <a:off x="1598326" y="952627"/>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Fig- 41</a:t>
            </a:r>
          </a:p>
        </p:txBody>
      </p:sp>
      <p:sp>
        <p:nvSpPr>
          <p:cNvPr id="5" name="TextBox 4">
            <a:extLst>
              <a:ext uri="{FF2B5EF4-FFF2-40B4-BE49-F238E27FC236}">
                <a16:creationId xmlns:a16="http://schemas.microsoft.com/office/drawing/2014/main" id="{0424976D-991E-4EC9-EDD6-C45B24211657}"/>
              </a:ext>
            </a:extLst>
          </p:cNvPr>
          <p:cNvSpPr txBox="1"/>
          <p:nvPr/>
        </p:nvSpPr>
        <p:spPr>
          <a:xfrm>
            <a:off x="112426" y="89941"/>
            <a:ext cx="9144000" cy="6155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TIME SERIES ANALYSIS AND MODEL FITTING</a:t>
            </a:r>
            <a:br>
              <a:rPr kumimoji="0" lang="en-IN" sz="2400" b="0" i="0" u="none" strike="noStrike" kern="1200" cap="none" spc="0" normalizeH="0" baseline="0" noProof="0" dirty="0">
                <a:ln>
                  <a:noFill/>
                </a:ln>
                <a:solidFill>
                  <a:srgbClr val="1D1D1D"/>
                </a:solidFill>
                <a:effectLst/>
                <a:uLnTx/>
                <a:uFillTx/>
                <a:latin typeface="Arial"/>
                <a:ea typeface="+mn-ea"/>
                <a:cs typeface="+mn-cs"/>
              </a:rPr>
            </a:b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Model fitting to </a:t>
            </a:r>
            <a:r>
              <a:rPr lang="en-IN" sz="1400" b="1" dirty="0">
                <a:solidFill>
                  <a:srgbClr val="1D1D1D"/>
                </a:solidFill>
                <a:latin typeface="Calibri" panose="020F0502020204030204" pitchFamily="34" charset="0"/>
                <a:ea typeface="Calibri" panose="020F0502020204030204" pitchFamily="34" charset="0"/>
                <a:cs typeface="Calibri" panose="020F0502020204030204" pitchFamily="34" charset="0"/>
              </a:rPr>
              <a:t>Delhi</a:t>
            </a: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’s dataset with the help of Arima model</a:t>
            </a:r>
            <a:endParaRPr kumimoji="0" lang="en-IN" sz="18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83C486D-4F15-99CE-0AC4-72C569CD18E0}"/>
                  </a:ext>
                </a:extLst>
              </p:cNvPr>
              <p:cNvSpPr/>
              <p:nvPr/>
            </p:nvSpPr>
            <p:spPr>
              <a:xfrm>
                <a:off x="3919929" y="1693889"/>
                <a:ext cx="4977607" cy="1663908"/>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4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on</a:t>
                </a:r>
                <a:r>
                  <a:rPr lang="en-IN" sz="1400" kern="0" dirty="0">
                    <a:solidFill>
                      <a:schemeClr val="tx1"/>
                    </a:solidFill>
                    <a:ea typeface="Times New Roman" panose="02020603050405020304" pitchFamily="18" charset="0"/>
                    <a:cs typeface="Times New Roman" panose="02020603050405020304" pitchFamily="18" charset="0"/>
                  </a:rPr>
                  <a:t> Delhi’s time series data is Arima (1,0,0) with zero mean, the model is denoted as;</a:t>
                </a:r>
              </a:p>
              <a:p>
                <a:pPr marL="0" marR="0" lvl="0" indent="0" algn="l" defTabSz="914400" rtl="0" eaLnBrk="1" fontAlgn="auto" latinLnBrk="0" hangingPunct="1">
                  <a:lnSpc>
                    <a:spcPct val="150000"/>
                  </a:lnSpc>
                  <a:spcBef>
                    <a:spcPts val="0"/>
                  </a:spcBef>
                  <a:spcAft>
                    <a:spcPts val="0"/>
                  </a:spcAft>
                  <a:buClrTx/>
                  <a:buSzTx/>
                  <a:buFontTx/>
                  <a:buNone/>
                  <a:tabLst/>
                  <a:defRPr/>
                </a:pPr>
                <a14:m>
                  <m:oMath xmlns:m="http://schemas.openxmlformats.org/officeDocument/2006/math">
                    <m:sSub>
                      <m:sSubPr>
                        <m:ctrlPr>
                          <a:rPr kumimoji="0" lang="en-IN" sz="14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400" b="0" i="1"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=ϕ</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400" b="0" i="1"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𝜖</m:t>
                        </m:r>
                      </m:e>
                      <m:sub>
                        <m: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4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 where</a:t>
                </a:r>
                <a:r>
                  <a:rPr kumimoji="0" lang="en-IN" sz="1400" b="0" i="0" u="none" strike="noStrike" kern="100" cap="none" spc="0" normalizeH="0" baseline="0" noProof="0" dirty="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a:t>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4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is the time series value at time t, ϕ is the AR (auto-regressive) coefficient, </a:t>
                </a:r>
                <a14:m>
                  <m:oMath xmlns:m="http://schemas.openxmlformats.org/officeDocument/2006/math">
                    <m:sSub>
                      <m:sSubPr>
                        <m:ctrlP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4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r>
                      <a:rPr kumimoji="0" lang="en-IN" sz="14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400" b="0" i="0" u="none" strike="noStrike" kern="1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is the previous value </a:t>
                </a:r>
                <a:r>
                  <a:rPr kumimoji="0" lang="en-IN" sz="14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 </a:t>
                </a:r>
                <a14:m>
                  <m:oMath xmlns:m="http://schemas.openxmlformats.org/officeDocument/2006/math">
                    <m:sSub>
                      <m:sSubPr>
                        <m:ctrlPr>
                          <a:rPr kumimoji="0" lang="en-IN" sz="14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m:rPr>
                            <m:sty m:val="p"/>
                          </m:rPr>
                          <a:rPr kumimoji="0" lang="en-IN" sz="14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t</m:t>
                        </m:r>
                      </m:sub>
                    </m:sSub>
                  </m:oMath>
                </a14:m>
                <a:r>
                  <a:rPr kumimoji="0" lang="en-IN" sz="14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IN" sz="1400" b="0" i="0" u="none" strike="noStrike" kern="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Cambria Math" panose="02040503050406030204" pitchFamily="18" charset="0"/>
                  </a:rPr>
                  <a:t>∼</a:t>
                </a:r>
                <a:r>
                  <a:rPr kumimoji="0" lang="en-IN" sz="1400" b="0"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N (0, σ2) is white noise. </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Rectangle 7">
                <a:extLst>
                  <a:ext uri="{FF2B5EF4-FFF2-40B4-BE49-F238E27FC236}">
                    <a16:creationId xmlns:a16="http://schemas.microsoft.com/office/drawing/2014/main" id="{383C486D-4F15-99CE-0AC4-72C569CD18E0}"/>
                  </a:ext>
                </a:extLst>
              </p:cNvPr>
              <p:cNvSpPr>
                <a:spLocks noRot="1" noChangeAspect="1" noMove="1" noResize="1" noEditPoints="1" noAdjustHandles="1" noChangeArrowheads="1" noChangeShapeType="1" noTextEdit="1"/>
              </p:cNvSpPr>
              <p:nvPr/>
            </p:nvSpPr>
            <p:spPr>
              <a:xfrm>
                <a:off x="3919929" y="1693889"/>
                <a:ext cx="4977607" cy="1663908"/>
              </a:xfrm>
              <a:prstGeom prst="rect">
                <a:avLst/>
              </a:prstGeom>
              <a:blipFill>
                <a:blip r:embed="rId3"/>
                <a:stretch>
                  <a:fillRect l="-122" b="-1444"/>
                </a:stretch>
              </a:blipFill>
              <a:ln>
                <a:solidFill>
                  <a:schemeClr val="bg1">
                    <a:lumMod val="25000"/>
                  </a:schemeClr>
                </a:solidFill>
              </a:ln>
            </p:spPr>
            <p:txBody>
              <a:bodyPr/>
              <a:lstStyle/>
              <a:p>
                <a:r>
                  <a:rPr lang="en-IN">
                    <a:noFill/>
                  </a:rPr>
                  <a:t> </a:t>
                </a:r>
              </a:p>
            </p:txBody>
          </p:sp>
        </mc:Fallback>
      </mc:AlternateContent>
    </p:spTree>
    <p:extLst>
      <p:ext uri="{BB962C8B-B14F-4D97-AF65-F5344CB8AC3E}">
        <p14:creationId xmlns:p14="http://schemas.microsoft.com/office/powerpoint/2010/main" val="1699199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72F89-E468-E6EA-6FDC-AACEE8983B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D336CBF-145D-E338-BE24-A8BFFDF20088}"/>
                  </a:ext>
                </a:extLst>
              </p:cNvPr>
              <p:cNvSpPr/>
              <p:nvPr/>
            </p:nvSpPr>
            <p:spPr>
              <a:xfrm>
                <a:off x="352269" y="3395272"/>
                <a:ext cx="8551888" cy="1476531"/>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3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on</a:t>
                </a:r>
                <a:r>
                  <a:rPr lang="en-IN" sz="1300" kern="0" dirty="0">
                    <a:solidFill>
                      <a:schemeClr val="tx1"/>
                    </a:solidFill>
                    <a:ea typeface="Times New Roman" panose="02020603050405020304" pitchFamily="18" charset="0"/>
                    <a:cs typeface="Times New Roman" panose="02020603050405020304" pitchFamily="18" charset="0"/>
                  </a:rPr>
                  <a:t> Tripura and Madhya Pradesh’s time series data is Arima (1,0,0) with non-zero mean, the model is denoted as;</a:t>
                </a:r>
              </a:p>
              <a:p>
                <a:pPr marL="0" marR="0" lvl="0" indent="0" algn="l" defTabSz="914400" rtl="0" eaLnBrk="1" fontAlgn="auto" latinLnBrk="0" hangingPunct="1">
                  <a:lnSpc>
                    <a:spcPct val="150000"/>
                  </a:lnSpc>
                  <a:spcBef>
                    <a:spcPts val="0"/>
                  </a:spcBef>
                  <a:spcAft>
                    <a:spcPts val="0"/>
                  </a:spcAft>
                  <a:buClrTx/>
                  <a:buSzTx/>
                  <a:buFontTx/>
                  <a:buNone/>
                  <a:tabLst/>
                  <a:defRPr/>
                </a:pPr>
                <a14:m>
                  <m:oMath xmlns:m="http://schemas.openxmlformats.org/officeDocument/2006/math">
                    <m:sSub>
                      <m:sSubPr>
                        <m:ctrlPr>
                          <a:rPr kumimoji="0" lang="en-IN" sz="13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300" b="0" i="1"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=μ +ϕ</a:t>
                </a:r>
                <a14:m>
                  <m:oMath xmlns:m="http://schemas.openxmlformats.org/officeDocument/2006/math">
                    <m:sSub>
                      <m:sSubPr>
                        <m:ctrlP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300" b="0" i="1"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a:t>
                </a:r>
                <a14:m>
                  <m:oMath xmlns:m="http://schemas.openxmlformats.org/officeDocument/2006/math">
                    <m:sSub>
                      <m:sSubPr>
                        <m:ctrlP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𝜖</m:t>
                        </m:r>
                      </m:e>
                      <m:sub>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𝑡</m:t>
                        </m:r>
                      </m:sub>
                    </m:sSub>
                  </m:oMath>
                </a14:m>
                <a:r>
                  <a:rPr kumimoji="0" lang="en-IN" sz="13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 where</a:t>
                </a:r>
                <a:r>
                  <a:rPr kumimoji="0" lang="en-IN" sz="1300" b="0" i="0" u="none" strike="noStrike" kern="1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 </a:t>
                </a:r>
                <a14:m>
                  <m:oMath xmlns:m="http://schemas.openxmlformats.org/officeDocument/2006/math">
                    <m:sSub>
                      <m:sSubPr>
                        <m:ctrlP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3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is the time series value at time t, μ is a constant or drift term, ϕ is the AR (auto-regressive) coefficient, </a:t>
                </a:r>
                <a14:m>
                  <m:oMath xmlns:m="http://schemas.openxmlformats.org/officeDocument/2006/math">
                    <m:sSub>
                      <m:sSubPr>
                        <m:ctrlP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3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previous value </a:t>
                </a:r>
                <a:r>
                  <a:rPr kumimoji="0" lang="en-IN" sz="13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and </a:t>
                </a:r>
                <a14:m>
                  <m:oMath xmlns:m="http://schemas.openxmlformats.org/officeDocument/2006/math">
                    <m:sSub>
                      <m:sSubPr>
                        <m:ctrlPr>
                          <a:rPr kumimoji="0" lang="en-IN" sz="13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ϵ</m:t>
                        </m:r>
                      </m:e>
                      <m:sub>
                        <m:r>
                          <m:rPr>
                            <m:sty m:val="p"/>
                          </m:rPr>
                          <a:rPr kumimoji="0" lang="en-IN" sz="13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t</m:t>
                        </m:r>
                      </m:sub>
                    </m:sSub>
                  </m:oMath>
                </a14:m>
                <a:r>
                  <a:rPr kumimoji="0" lang="en-IN" sz="1300" b="0" i="0" u="none" strike="noStrike" kern="100" cap="none" spc="0" normalizeH="0" baseline="0" noProof="0" dirty="0">
                    <a:ln>
                      <a:noFill/>
                    </a:ln>
                    <a:solidFill>
                      <a:prstClr val="black"/>
                    </a:solidFill>
                    <a:effectLst/>
                    <a:uLnTx/>
                    <a:uFillTx/>
                    <a:ea typeface="Calibri" panose="020F0502020204030204" pitchFamily="34" charset="0"/>
                    <a:cs typeface="Cambria Math" panose="02040503050406030204" pitchFamily="18" charset="0"/>
                  </a:rPr>
                  <a:t>∼</a:t>
                </a:r>
                <a:r>
                  <a:rPr kumimoji="0" lang="en-IN" sz="13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N (0, σ2) is white noise. The moving average component with order 0 means that no past forecast errors are included in the prediction.</a:t>
                </a:r>
              </a:p>
            </p:txBody>
          </p:sp>
        </mc:Choice>
        <mc:Fallback xmlns="">
          <p:sp>
            <p:nvSpPr>
              <p:cNvPr id="5" name="Rectangle 4">
                <a:extLst>
                  <a:ext uri="{FF2B5EF4-FFF2-40B4-BE49-F238E27FC236}">
                    <a16:creationId xmlns:a16="http://schemas.microsoft.com/office/drawing/2014/main" id="{7D336CBF-145D-E338-BE24-A8BFFDF20088}"/>
                  </a:ext>
                </a:extLst>
              </p:cNvPr>
              <p:cNvSpPr>
                <a:spLocks noRot="1" noChangeAspect="1" noMove="1" noResize="1" noEditPoints="1" noAdjustHandles="1" noChangeArrowheads="1" noChangeShapeType="1" noTextEdit="1"/>
              </p:cNvSpPr>
              <p:nvPr/>
            </p:nvSpPr>
            <p:spPr>
              <a:xfrm>
                <a:off x="352269" y="3395272"/>
                <a:ext cx="8551888" cy="1476531"/>
              </a:xfrm>
              <a:prstGeom prst="rect">
                <a:avLst/>
              </a:prstGeom>
              <a:blipFill>
                <a:blip r:embed="rId2"/>
                <a:stretch>
                  <a:fillRect r="-284" b="-3659"/>
                </a:stretch>
              </a:blipFill>
              <a:ln>
                <a:solidFill>
                  <a:schemeClr val="bg1">
                    <a:lumMod val="25000"/>
                  </a:schemeClr>
                </a:solidFill>
              </a:ln>
            </p:spPr>
            <p:txBody>
              <a:bodyPr/>
              <a:lstStyle/>
              <a:p>
                <a:r>
                  <a:rPr lang="en-IN">
                    <a:noFill/>
                  </a:rPr>
                  <a:t> </a:t>
                </a:r>
              </a:p>
            </p:txBody>
          </p:sp>
        </mc:Fallback>
      </mc:AlternateContent>
      <p:sp>
        <p:nvSpPr>
          <p:cNvPr id="7" name="TextBox 6">
            <a:extLst>
              <a:ext uri="{FF2B5EF4-FFF2-40B4-BE49-F238E27FC236}">
                <a16:creationId xmlns:a16="http://schemas.microsoft.com/office/drawing/2014/main" id="{40FCC3FC-B664-A7D4-ED2D-9D3477BD47A5}"/>
              </a:ext>
            </a:extLst>
          </p:cNvPr>
          <p:cNvSpPr txBox="1"/>
          <p:nvPr/>
        </p:nvSpPr>
        <p:spPr>
          <a:xfrm>
            <a:off x="234222" y="91815"/>
            <a:ext cx="8909778" cy="615553"/>
          </a:xfrm>
          <a:prstGeom prst="rect">
            <a:avLst/>
          </a:prstGeom>
          <a:noFill/>
        </p:spPr>
        <p:txBody>
          <a:bodyPr wrap="square">
            <a:spAutoFit/>
          </a:bodyPr>
          <a:lstStyle/>
          <a:p>
            <a:pPr algn="ctr"/>
            <a:r>
              <a:rPr lang="en-IN" sz="2000" b="1" dirty="0">
                <a:latin typeface="IBM Plex Mono" panose="020B0509050203000203" pitchFamily="49" charset="0"/>
              </a:rPr>
              <a:t>TIME SERIES ANALYSIS AND MODEL FITTING</a:t>
            </a:r>
            <a:br>
              <a:rPr lang="en-IN" sz="2400" dirty="0"/>
            </a:br>
            <a:r>
              <a:rPr lang="en-IN" sz="1400" b="1" dirty="0">
                <a:latin typeface="Calibri" panose="020F0502020204030204" pitchFamily="34" charset="0"/>
                <a:ea typeface="Calibri" panose="020F0502020204030204" pitchFamily="34" charset="0"/>
                <a:cs typeface="Calibri" panose="020F0502020204030204" pitchFamily="34" charset="0"/>
              </a:rPr>
              <a:t>Model fitting to Tripura and Madhya Pradesh’s dataset with the help of Arima model</a:t>
            </a:r>
            <a:endParaRPr lang="en-IN"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8F097255-C3A3-5A60-E9A3-2F62350B9E95}"/>
              </a:ext>
            </a:extLst>
          </p:cNvPr>
          <p:cNvPicPr>
            <a:picLocks noChangeAspect="1"/>
          </p:cNvPicPr>
          <p:nvPr/>
        </p:nvPicPr>
        <p:blipFill>
          <a:blip r:embed="rId3"/>
          <a:stretch>
            <a:fillRect/>
          </a:stretch>
        </p:blipFill>
        <p:spPr>
          <a:xfrm>
            <a:off x="1094283" y="1028769"/>
            <a:ext cx="2968052" cy="2239172"/>
          </a:xfrm>
          <a:prstGeom prst="rect">
            <a:avLst/>
          </a:prstGeom>
        </p:spPr>
      </p:pic>
      <p:pic>
        <p:nvPicPr>
          <p:cNvPr id="8" name="Picture 7">
            <a:extLst>
              <a:ext uri="{FF2B5EF4-FFF2-40B4-BE49-F238E27FC236}">
                <a16:creationId xmlns:a16="http://schemas.microsoft.com/office/drawing/2014/main" id="{9978CA7A-25DA-9BF0-B5FB-5D98AFBBAF20}"/>
              </a:ext>
            </a:extLst>
          </p:cNvPr>
          <p:cNvPicPr>
            <a:picLocks noChangeAspect="1"/>
          </p:cNvPicPr>
          <p:nvPr/>
        </p:nvPicPr>
        <p:blipFill>
          <a:blip r:embed="rId4"/>
          <a:stretch>
            <a:fillRect/>
          </a:stretch>
        </p:blipFill>
        <p:spPr>
          <a:xfrm>
            <a:off x="5147246" y="1007789"/>
            <a:ext cx="2833142" cy="2239171"/>
          </a:xfrm>
          <a:prstGeom prst="rect">
            <a:avLst/>
          </a:prstGeom>
        </p:spPr>
      </p:pic>
      <p:sp>
        <p:nvSpPr>
          <p:cNvPr id="4" name="TextBox 3">
            <a:extLst>
              <a:ext uri="{FF2B5EF4-FFF2-40B4-BE49-F238E27FC236}">
                <a16:creationId xmlns:a16="http://schemas.microsoft.com/office/drawing/2014/main" id="{D364507F-09CC-D8DB-9E08-CA15923B77A3}"/>
              </a:ext>
            </a:extLst>
          </p:cNvPr>
          <p:cNvSpPr txBox="1"/>
          <p:nvPr/>
        </p:nvSpPr>
        <p:spPr>
          <a:xfrm>
            <a:off x="2167952" y="729569"/>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Fig- 42</a:t>
            </a:r>
          </a:p>
        </p:txBody>
      </p:sp>
      <p:sp>
        <p:nvSpPr>
          <p:cNvPr id="10" name="TextBox 9">
            <a:extLst>
              <a:ext uri="{FF2B5EF4-FFF2-40B4-BE49-F238E27FC236}">
                <a16:creationId xmlns:a16="http://schemas.microsoft.com/office/drawing/2014/main" id="{F473640E-458D-0353-4E61-FD0BE078E72B}"/>
              </a:ext>
            </a:extLst>
          </p:cNvPr>
          <p:cNvSpPr txBox="1"/>
          <p:nvPr/>
        </p:nvSpPr>
        <p:spPr>
          <a:xfrm>
            <a:off x="6312731" y="729568"/>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Fig- 43</a:t>
            </a:r>
          </a:p>
        </p:txBody>
      </p:sp>
    </p:spTree>
    <p:extLst>
      <p:ext uri="{BB962C8B-B14F-4D97-AF65-F5344CB8AC3E}">
        <p14:creationId xmlns:p14="http://schemas.microsoft.com/office/powerpoint/2010/main" val="2463428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C0EB88-CD95-D245-081C-3F05897C735A}"/>
              </a:ext>
            </a:extLst>
          </p:cNvPr>
          <p:cNvPicPr>
            <a:picLocks noChangeAspect="1"/>
          </p:cNvPicPr>
          <p:nvPr/>
        </p:nvPicPr>
        <p:blipFill>
          <a:blip r:embed="rId2"/>
          <a:stretch>
            <a:fillRect/>
          </a:stretch>
        </p:blipFill>
        <p:spPr>
          <a:xfrm>
            <a:off x="178719" y="957781"/>
            <a:ext cx="2789334" cy="2534926"/>
          </a:xfrm>
          <a:prstGeom prst="rect">
            <a:avLst/>
          </a:prstGeom>
        </p:spPr>
      </p:pic>
      <p:pic>
        <p:nvPicPr>
          <p:cNvPr id="3" name="Picture 2">
            <a:extLst>
              <a:ext uri="{FF2B5EF4-FFF2-40B4-BE49-F238E27FC236}">
                <a16:creationId xmlns:a16="http://schemas.microsoft.com/office/drawing/2014/main" id="{7CEBA878-055F-CA86-32D8-408BCA5D13A8}"/>
              </a:ext>
            </a:extLst>
          </p:cNvPr>
          <p:cNvPicPr>
            <a:picLocks noChangeAspect="1"/>
          </p:cNvPicPr>
          <p:nvPr/>
        </p:nvPicPr>
        <p:blipFill>
          <a:blip r:embed="rId3"/>
          <a:stretch>
            <a:fillRect/>
          </a:stretch>
        </p:blipFill>
        <p:spPr>
          <a:xfrm>
            <a:off x="3177333" y="957780"/>
            <a:ext cx="2789334" cy="2534927"/>
          </a:xfrm>
          <a:prstGeom prst="rect">
            <a:avLst/>
          </a:prstGeom>
        </p:spPr>
      </p:pic>
      <p:pic>
        <p:nvPicPr>
          <p:cNvPr id="4" name="Picture 3">
            <a:extLst>
              <a:ext uri="{FF2B5EF4-FFF2-40B4-BE49-F238E27FC236}">
                <a16:creationId xmlns:a16="http://schemas.microsoft.com/office/drawing/2014/main" id="{EDA7039E-43C5-5C55-D976-B9D316B64AF2}"/>
              </a:ext>
            </a:extLst>
          </p:cNvPr>
          <p:cNvPicPr>
            <a:picLocks noChangeAspect="1"/>
          </p:cNvPicPr>
          <p:nvPr/>
        </p:nvPicPr>
        <p:blipFill>
          <a:blip r:embed="rId4"/>
          <a:stretch>
            <a:fillRect/>
          </a:stretch>
        </p:blipFill>
        <p:spPr>
          <a:xfrm>
            <a:off x="6175947" y="957779"/>
            <a:ext cx="2789334" cy="2534925"/>
          </a:xfrm>
          <a:prstGeom prst="rect">
            <a:avLst/>
          </a:prstGeom>
        </p:spPr>
      </p:pic>
      <p:sp>
        <p:nvSpPr>
          <p:cNvPr id="6" name="TextBox 5">
            <a:extLst>
              <a:ext uri="{FF2B5EF4-FFF2-40B4-BE49-F238E27FC236}">
                <a16:creationId xmlns:a16="http://schemas.microsoft.com/office/drawing/2014/main" id="{AA07982D-2D6C-3F7C-B8F6-62361D7D0151}"/>
              </a:ext>
            </a:extLst>
          </p:cNvPr>
          <p:cNvSpPr txBox="1"/>
          <p:nvPr/>
        </p:nvSpPr>
        <p:spPr>
          <a:xfrm>
            <a:off x="0" y="59961"/>
            <a:ext cx="9144000" cy="6155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TIME SERIES ANALYSIS AND MODEL FITTING</a:t>
            </a:r>
            <a:br>
              <a:rPr kumimoji="0" lang="en-IN" sz="2400" b="0" i="0" u="none" strike="noStrike" kern="1200" cap="none" spc="0" normalizeH="0" baseline="0" noProof="0" dirty="0">
                <a:ln>
                  <a:noFill/>
                </a:ln>
                <a:solidFill>
                  <a:srgbClr val="1D1D1D"/>
                </a:solidFill>
                <a:effectLst/>
                <a:uLnTx/>
                <a:uFillTx/>
                <a:latin typeface="Arial"/>
                <a:ea typeface="+mn-ea"/>
                <a:cs typeface="+mn-cs"/>
              </a:rPr>
            </a:b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Model fitting to </a:t>
            </a:r>
            <a:r>
              <a:rPr lang="en-IN" sz="1400" b="1" dirty="0">
                <a:solidFill>
                  <a:srgbClr val="1D1D1D"/>
                </a:solidFill>
                <a:latin typeface="Calibri" panose="020F0502020204030204" pitchFamily="34" charset="0"/>
                <a:ea typeface="Calibri" panose="020F0502020204030204" pitchFamily="34" charset="0"/>
                <a:cs typeface="Calibri" panose="020F0502020204030204" pitchFamily="34" charset="0"/>
              </a:rPr>
              <a:t>Assam, Arunachal Pradesh and Chhattisgarh</a:t>
            </a: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’s dataset with the help of Arima model</a:t>
            </a:r>
            <a:endParaRPr kumimoji="0" lang="en-IN" sz="18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E69399F-A873-8578-F9BC-7FC9A2B88521}"/>
                  </a:ext>
                </a:extLst>
              </p:cNvPr>
              <p:cNvSpPr/>
              <p:nvPr/>
            </p:nvSpPr>
            <p:spPr>
              <a:xfrm>
                <a:off x="648325" y="3695074"/>
                <a:ext cx="7847350" cy="1184223"/>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4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on Assam, Arunachal Pradesh and Chhattisgarh’s </a:t>
                </a:r>
                <a:r>
                  <a:rPr lang="en-IN" sz="1400" kern="0" dirty="0">
                    <a:solidFill>
                      <a:schemeClr val="tx1"/>
                    </a:solidFill>
                    <a:ea typeface="Times New Roman" panose="02020603050405020304" pitchFamily="18" charset="0"/>
                    <a:cs typeface="Times New Roman" panose="02020603050405020304" pitchFamily="18" charset="0"/>
                  </a:rPr>
                  <a:t>time series data is Arima (0,1,0) the model is denoted as;</a:t>
                </a:r>
              </a:p>
              <a:p>
                <a:pPr marL="0" marR="0" lvl="0" indent="0" algn="l" defTabSz="914400" rtl="0" eaLnBrk="1" fontAlgn="auto" latinLnBrk="0" hangingPunct="1">
                  <a:lnSpc>
                    <a:spcPct val="100000"/>
                  </a:lnSpc>
                  <a:spcBef>
                    <a:spcPts val="0"/>
                  </a:spcBef>
                  <a:spcAft>
                    <a:spcPts val="800"/>
                  </a:spcAft>
                  <a:buClrTx/>
                  <a:buSzTx/>
                  <a:buFontTx/>
                  <a:buNone/>
                  <a:tabLst/>
                  <a:defRPr/>
                </a:pPr>
                <a14:m>
                  <m:oMath xmlns:m="http://schemas.openxmlformats.org/officeDocument/2006/math">
                    <m:sSub>
                      <m:sSubPr>
                        <m:ctrlPr>
                          <a:rPr kumimoji="0" lang="en-IN" sz="16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sSub>
                      <m:sSubPr>
                        <m:ctrlP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600" b="0" i="1"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a:t>
                </a:r>
                <a:r>
                  <a:rPr kumimoji="0" lang="en-IN" sz="1600" b="0" i="1" u="none" strike="noStrike" kern="1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 </a:t>
                </a:r>
                <a14:m>
                  <m:oMath xmlns:m="http://schemas.openxmlformats.org/officeDocument/2006/math">
                    <m:sSub>
                      <m:sSubPr>
                        <m:ctrlP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𝜖</m:t>
                        </m:r>
                      </m:e>
                      <m:sub>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600" b="0" i="0"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 where </a:t>
                </a:r>
                <a:r>
                  <a:rPr kumimoji="0" lang="en-IN" sz="16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a:t>
                </a:r>
                <a14:m>
                  <m:oMath xmlns:m="http://schemas.openxmlformats.org/officeDocument/2006/math">
                    <m:sSub>
                      <m:sSubPr>
                        <m:ctrlP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6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is the original time series, </a:t>
                </a:r>
                <a14:m>
                  <m:oMath xmlns:m="http://schemas.openxmlformats.org/officeDocument/2006/math">
                    <m:sSub>
                      <m:sSubPr>
                        <m:ctrlP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600" b="0" i="0"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is the first difference of the time series after which it becomes stationary and </a:t>
                </a:r>
                <a14:m>
                  <m:oMath xmlns:m="http://schemas.openxmlformats.org/officeDocument/2006/math">
                    <m:sSub>
                      <m:sSubPr>
                        <m:ctrlPr>
                          <a:rPr kumimoji="0" lang="en-IN" sz="16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ϵ</m:t>
                        </m:r>
                      </m:e>
                      <m:sub>
                        <m:r>
                          <m:rPr>
                            <m:sty m:val="p"/>
                          </m:rPr>
                          <a:rPr kumimoji="0" lang="en-IN" sz="16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600" b="0" i="0"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is the white noise at time t.</a:t>
                </a:r>
                <a:endParaRPr kumimoji="0" lang="en-IN" sz="16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endParaRPr>
              </a:p>
            </p:txBody>
          </p:sp>
        </mc:Choice>
        <mc:Fallback xmlns="">
          <p:sp>
            <p:nvSpPr>
              <p:cNvPr id="7" name="Rectangle 6">
                <a:extLst>
                  <a:ext uri="{FF2B5EF4-FFF2-40B4-BE49-F238E27FC236}">
                    <a16:creationId xmlns:a16="http://schemas.microsoft.com/office/drawing/2014/main" id="{1E69399F-A873-8578-F9BC-7FC9A2B88521}"/>
                  </a:ext>
                </a:extLst>
              </p:cNvPr>
              <p:cNvSpPr>
                <a:spLocks noRot="1" noChangeAspect="1" noMove="1" noResize="1" noEditPoints="1" noAdjustHandles="1" noChangeArrowheads="1" noChangeShapeType="1" noTextEdit="1"/>
              </p:cNvSpPr>
              <p:nvPr/>
            </p:nvSpPr>
            <p:spPr>
              <a:xfrm>
                <a:off x="648325" y="3695074"/>
                <a:ext cx="7847350" cy="1184223"/>
              </a:xfrm>
              <a:prstGeom prst="rect">
                <a:avLst/>
              </a:prstGeom>
              <a:blipFill>
                <a:blip r:embed="rId5"/>
                <a:stretch>
                  <a:fillRect l="-232" r="-77" b="-5556"/>
                </a:stretch>
              </a:blipFill>
              <a:ln>
                <a:solidFill>
                  <a:schemeClr val="bg1">
                    <a:lumMod val="25000"/>
                  </a:schemeClr>
                </a:solidFill>
              </a:ln>
            </p:spPr>
            <p:txBody>
              <a:bodyPr/>
              <a:lstStyle/>
              <a:p>
                <a:r>
                  <a:rPr lang="en-IN">
                    <a:noFill/>
                  </a:rPr>
                  <a:t> </a:t>
                </a:r>
              </a:p>
            </p:txBody>
          </p:sp>
        </mc:Fallback>
      </mc:AlternateContent>
      <p:sp>
        <p:nvSpPr>
          <p:cNvPr id="9" name="TextBox 8">
            <a:extLst>
              <a:ext uri="{FF2B5EF4-FFF2-40B4-BE49-F238E27FC236}">
                <a16:creationId xmlns:a16="http://schemas.microsoft.com/office/drawing/2014/main" id="{1BABA229-FBFF-677F-C70F-DFE146E3AD3C}"/>
              </a:ext>
            </a:extLst>
          </p:cNvPr>
          <p:cNvSpPr txBox="1"/>
          <p:nvPr/>
        </p:nvSpPr>
        <p:spPr>
          <a:xfrm>
            <a:off x="1141126" y="680781"/>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Fig- 44 </a:t>
            </a:r>
          </a:p>
        </p:txBody>
      </p:sp>
      <p:sp>
        <p:nvSpPr>
          <p:cNvPr id="11" name="TextBox 10">
            <a:extLst>
              <a:ext uri="{FF2B5EF4-FFF2-40B4-BE49-F238E27FC236}">
                <a16:creationId xmlns:a16="http://schemas.microsoft.com/office/drawing/2014/main" id="{1801C9A4-002F-EC12-EBD6-3247EFAF9085}"/>
              </a:ext>
            </a:extLst>
          </p:cNvPr>
          <p:cNvSpPr txBox="1"/>
          <p:nvPr/>
        </p:nvSpPr>
        <p:spPr>
          <a:xfrm>
            <a:off x="4184130" y="675514"/>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a:t>
            </a:r>
            <a:r>
              <a:rPr lang="en-IN" sz="1200" dirty="0">
                <a:solidFill>
                  <a:srgbClr val="1D1D1D"/>
                </a:solidFill>
                <a:latin typeface="Arial"/>
              </a:rPr>
              <a:t>45</a:t>
            </a:r>
            <a:endParaRPr kumimoji="0" lang="en-IN" sz="1200" b="0" i="0" u="none" strike="noStrike" kern="1200" cap="none" spc="0" normalizeH="0" baseline="0" noProof="0" dirty="0">
              <a:ln>
                <a:noFill/>
              </a:ln>
              <a:solidFill>
                <a:srgbClr val="1D1D1D"/>
              </a:solidFill>
              <a:effectLst/>
              <a:uLnTx/>
              <a:uFillTx/>
              <a:latin typeface="Arial"/>
              <a:ea typeface="+mn-ea"/>
              <a:cs typeface="+mn-cs"/>
            </a:endParaRPr>
          </a:p>
        </p:txBody>
      </p:sp>
      <p:sp>
        <p:nvSpPr>
          <p:cNvPr id="13" name="TextBox 12">
            <a:extLst>
              <a:ext uri="{FF2B5EF4-FFF2-40B4-BE49-F238E27FC236}">
                <a16:creationId xmlns:a16="http://schemas.microsoft.com/office/drawing/2014/main" id="{CFD6D693-C703-1685-A082-F81D6557DF1E}"/>
              </a:ext>
            </a:extLst>
          </p:cNvPr>
          <p:cNvSpPr txBox="1"/>
          <p:nvPr/>
        </p:nvSpPr>
        <p:spPr>
          <a:xfrm>
            <a:off x="7298691" y="686580"/>
            <a:ext cx="550513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D1D1D"/>
                </a:solidFill>
                <a:effectLst/>
                <a:uLnTx/>
                <a:uFillTx/>
                <a:latin typeface="Arial"/>
                <a:ea typeface="+mn-ea"/>
                <a:cs typeface="+mn-cs"/>
              </a:rPr>
              <a:t>Fig- </a:t>
            </a:r>
            <a:r>
              <a:rPr lang="en-IN" sz="1200" dirty="0">
                <a:solidFill>
                  <a:srgbClr val="1D1D1D"/>
                </a:solidFill>
                <a:latin typeface="Arial"/>
              </a:rPr>
              <a:t>46</a:t>
            </a:r>
            <a:endParaRPr kumimoji="0" lang="en-IN" sz="1200" b="0" i="0" u="none" strike="noStrike" kern="1200" cap="none" spc="0" normalizeH="0" baseline="0" noProof="0" dirty="0">
              <a:ln>
                <a:noFill/>
              </a:ln>
              <a:solidFill>
                <a:srgbClr val="1D1D1D"/>
              </a:solidFill>
              <a:effectLst/>
              <a:uLnTx/>
              <a:uFillTx/>
              <a:latin typeface="Arial"/>
              <a:ea typeface="+mn-ea"/>
              <a:cs typeface="+mn-cs"/>
            </a:endParaRPr>
          </a:p>
        </p:txBody>
      </p:sp>
    </p:spTree>
    <p:extLst>
      <p:ext uri="{BB962C8B-B14F-4D97-AF65-F5344CB8AC3E}">
        <p14:creationId xmlns:p14="http://schemas.microsoft.com/office/powerpoint/2010/main" val="2189821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33F6FA-6D15-616D-1ED9-321166DDDE59}"/>
              </a:ext>
            </a:extLst>
          </p:cNvPr>
          <p:cNvSpPr txBox="1"/>
          <p:nvPr/>
        </p:nvSpPr>
        <p:spPr>
          <a:xfrm>
            <a:off x="0" y="56453"/>
            <a:ext cx="9144000" cy="6155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TIME SERIES ANALYSIS AND MODEL FITTING</a:t>
            </a:r>
            <a:br>
              <a:rPr kumimoji="0" lang="en-IN" sz="2400" b="0" i="0" u="none" strike="noStrike" kern="1200" cap="none" spc="0" normalizeH="0" baseline="0" noProof="0" dirty="0">
                <a:ln>
                  <a:noFill/>
                </a:ln>
                <a:solidFill>
                  <a:srgbClr val="1D1D1D"/>
                </a:solidFill>
                <a:effectLst/>
                <a:uLnTx/>
                <a:uFillTx/>
                <a:latin typeface="Arial"/>
                <a:ea typeface="+mn-ea"/>
                <a:cs typeface="+mn-cs"/>
              </a:rPr>
            </a:b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Model fitting to </a:t>
            </a:r>
            <a:r>
              <a:rPr lang="en-IN" sz="1400" b="1" dirty="0">
                <a:solidFill>
                  <a:srgbClr val="1D1D1D"/>
                </a:solidFill>
                <a:latin typeface="Calibri" panose="020F0502020204030204" pitchFamily="34" charset="0"/>
                <a:ea typeface="Calibri" panose="020F0502020204030204" pitchFamily="34" charset="0"/>
                <a:cs typeface="Calibri" panose="020F0502020204030204" pitchFamily="34" charset="0"/>
              </a:rPr>
              <a:t>Rajasthan and Haryana</a:t>
            </a: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’s dataset with the help of Arima model</a:t>
            </a:r>
            <a:endParaRPr kumimoji="0" lang="en-IN" sz="18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571FC31-3C61-71CA-FF53-DD3257F557E1}"/>
              </a:ext>
            </a:extLst>
          </p:cNvPr>
          <p:cNvPicPr>
            <a:picLocks noChangeAspect="1"/>
          </p:cNvPicPr>
          <p:nvPr/>
        </p:nvPicPr>
        <p:blipFill>
          <a:blip r:embed="rId2"/>
          <a:stretch>
            <a:fillRect/>
          </a:stretch>
        </p:blipFill>
        <p:spPr>
          <a:xfrm>
            <a:off x="103454" y="872916"/>
            <a:ext cx="3138472" cy="1924122"/>
          </a:xfrm>
          <a:prstGeom prst="rect">
            <a:avLst/>
          </a:prstGeom>
        </p:spPr>
      </p:pic>
      <p:pic>
        <p:nvPicPr>
          <p:cNvPr id="5" name="Picture 4">
            <a:extLst>
              <a:ext uri="{FF2B5EF4-FFF2-40B4-BE49-F238E27FC236}">
                <a16:creationId xmlns:a16="http://schemas.microsoft.com/office/drawing/2014/main" id="{0693D311-3AB8-271B-9C58-0F5811C94C07}"/>
              </a:ext>
            </a:extLst>
          </p:cNvPr>
          <p:cNvPicPr>
            <a:picLocks noChangeAspect="1"/>
          </p:cNvPicPr>
          <p:nvPr/>
        </p:nvPicPr>
        <p:blipFill>
          <a:blip r:embed="rId3"/>
          <a:stretch>
            <a:fillRect/>
          </a:stretch>
        </p:blipFill>
        <p:spPr>
          <a:xfrm>
            <a:off x="103454" y="3080436"/>
            <a:ext cx="3138472" cy="1924122"/>
          </a:xfrm>
          <a:prstGeom prst="rect">
            <a:avLst/>
          </a:prstGeom>
        </p:spPr>
      </p:pic>
      <p:sp>
        <p:nvSpPr>
          <p:cNvPr id="9" name="TextBox 8">
            <a:extLst>
              <a:ext uri="{FF2B5EF4-FFF2-40B4-BE49-F238E27FC236}">
                <a16:creationId xmlns:a16="http://schemas.microsoft.com/office/drawing/2014/main" id="{EB6B4762-787C-D79D-4883-5E819A7B4112}"/>
              </a:ext>
            </a:extLst>
          </p:cNvPr>
          <p:cNvSpPr txBox="1"/>
          <p:nvPr/>
        </p:nvSpPr>
        <p:spPr>
          <a:xfrm>
            <a:off x="1283533" y="611306"/>
            <a:ext cx="550513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1D1D1D"/>
                </a:solidFill>
                <a:effectLst/>
                <a:uLnTx/>
                <a:uFillTx/>
                <a:latin typeface="Arial"/>
                <a:ea typeface="+mn-ea"/>
                <a:cs typeface="+mn-cs"/>
              </a:rPr>
              <a:t>Fig- </a:t>
            </a:r>
            <a:r>
              <a:rPr lang="en-IN" sz="1100" dirty="0">
                <a:solidFill>
                  <a:srgbClr val="1D1D1D"/>
                </a:solidFill>
                <a:latin typeface="Arial"/>
              </a:rPr>
              <a:t>47</a:t>
            </a:r>
            <a:endParaRPr kumimoji="0" lang="en-IN" sz="1100" b="0" i="0" u="none" strike="noStrike" kern="1200" cap="none" spc="0" normalizeH="0" baseline="0" noProof="0" dirty="0">
              <a:ln>
                <a:noFill/>
              </a:ln>
              <a:solidFill>
                <a:srgbClr val="1D1D1D"/>
              </a:solidFill>
              <a:effectLst/>
              <a:uLnTx/>
              <a:uFillTx/>
              <a:latin typeface="Arial"/>
              <a:ea typeface="+mn-ea"/>
              <a:cs typeface="+mn-cs"/>
            </a:endParaRPr>
          </a:p>
        </p:txBody>
      </p:sp>
      <p:sp>
        <p:nvSpPr>
          <p:cNvPr id="11" name="TextBox 10">
            <a:extLst>
              <a:ext uri="{FF2B5EF4-FFF2-40B4-BE49-F238E27FC236}">
                <a16:creationId xmlns:a16="http://schemas.microsoft.com/office/drawing/2014/main" id="{E9F4A7C6-4F73-C2D7-89B7-9ED5B972A796}"/>
              </a:ext>
            </a:extLst>
          </p:cNvPr>
          <p:cNvSpPr txBox="1"/>
          <p:nvPr/>
        </p:nvSpPr>
        <p:spPr>
          <a:xfrm>
            <a:off x="1365979" y="2818826"/>
            <a:ext cx="550513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1D1D1D"/>
                </a:solidFill>
                <a:effectLst/>
                <a:uLnTx/>
                <a:uFillTx/>
                <a:latin typeface="Arial"/>
                <a:ea typeface="+mn-ea"/>
                <a:cs typeface="+mn-cs"/>
              </a:rPr>
              <a:t>Fig- </a:t>
            </a:r>
            <a:r>
              <a:rPr lang="en-IN" sz="1100" dirty="0">
                <a:solidFill>
                  <a:srgbClr val="1D1D1D"/>
                </a:solidFill>
                <a:latin typeface="Arial"/>
              </a:rPr>
              <a:t>48</a:t>
            </a:r>
            <a:endParaRPr kumimoji="0" lang="en-IN" sz="1100" b="0" i="0" u="none" strike="noStrike" kern="1200" cap="none" spc="0" normalizeH="0" baseline="0" noProof="0" dirty="0">
              <a:ln>
                <a:noFill/>
              </a:ln>
              <a:solidFill>
                <a:srgbClr val="1D1D1D"/>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8B17E38-8A82-28E9-2572-F8CC0F212DA3}"/>
                  </a:ext>
                </a:extLst>
              </p:cNvPr>
              <p:cNvSpPr/>
              <p:nvPr/>
            </p:nvSpPr>
            <p:spPr>
              <a:xfrm>
                <a:off x="3432748" y="2303765"/>
                <a:ext cx="5240349" cy="1280083"/>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For the states Rajasthan and Haryana, the best fitted model for the given time series data for each of these states is Arima(0,1,0) with drift and is denoted by:</a:t>
                </a:r>
              </a:p>
              <a:p>
                <a:pPr marL="0" marR="0" lvl="0" indent="0" algn="l" defTabSz="914400" rtl="0" eaLnBrk="1" fontAlgn="auto" latinLnBrk="0" hangingPunct="1">
                  <a:lnSpc>
                    <a:spcPct val="100000"/>
                  </a:lnSpc>
                  <a:spcBef>
                    <a:spcPts val="0"/>
                  </a:spcBef>
                  <a:spcAft>
                    <a:spcPts val="800"/>
                  </a:spcAft>
                  <a:buClrTx/>
                  <a:buSzTx/>
                  <a:buFontTx/>
                  <a:buNone/>
                  <a:tabLst/>
                  <a:defRPr/>
                </a:pPr>
                <a14:m>
                  <m:oMath xmlns:m="http://schemas.openxmlformats.org/officeDocument/2006/math">
                    <m:sSub>
                      <m:sSubPr>
                        <m:ctrlPr>
                          <a:rPr kumimoji="0" lang="en-IN" sz="12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sSub>
                      <m:sSubPr>
                        <m:ctrlP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200" b="0" i="1"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+µ</a:t>
                </a:r>
                <a:r>
                  <a:rPr kumimoji="0" lang="en-IN" sz="1200" b="0" i="1" u="none" strike="noStrike" kern="1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 </a:t>
                </a:r>
                <a14:m>
                  <m:oMath xmlns:m="http://schemas.openxmlformats.org/officeDocument/2006/math">
                    <m:sSub>
                      <m:sSubPr>
                        <m:ctrlP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𝜖</m:t>
                        </m:r>
                      </m:e>
                      <m: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200" b="0" i="1" u="none" strike="noStrike" kern="100" cap="none" spc="0" normalizeH="0" baseline="0" noProof="0" dirty="0">
                    <a:ln>
                      <a:noFill/>
                    </a:ln>
                    <a:solidFill>
                      <a:prstClr val="black"/>
                    </a:solidFill>
                    <a:effectLst/>
                    <a:uLnTx/>
                    <a:uFillTx/>
                    <a:ea typeface="Times New Roman" panose="02020603050405020304" pitchFamily="18" charset="0"/>
                    <a:cs typeface="Calibri" panose="020F0502020204030204" pitchFamily="34" charset="0"/>
                  </a:rPr>
                  <a:t> </a:t>
                </a:r>
                <a:r>
                  <a:rPr kumimoji="0" lang="en-IN" sz="1200" b="0" i="0" u="none" strike="noStrike" kern="100" cap="none" spc="0" normalizeH="0" baseline="0" noProof="0" dirty="0">
                    <a:ln>
                      <a:noFill/>
                    </a:ln>
                    <a:solidFill>
                      <a:prstClr val="black"/>
                    </a:solidFill>
                    <a:effectLst/>
                    <a:uLnTx/>
                    <a:uFillTx/>
                    <a:latin typeface="Arial"/>
                    <a:ea typeface="Times New Roman" panose="02020603050405020304" pitchFamily="18" charset="0"/>
                    <a:cs typeface="Calibri" panose="020F0502020204030204" pitchFamily="34" charset="0"/>
                  </a:rPr>
                  <a:t>, where </a:t>
                </a:r>
                <a:r>
                  <a:rPr kumimoji="0" lang="en-IN" sz="1200" b="0" i="0" u="none" strike="noStrike" kern="100" cap="none" spc="0" normalizeH="0" baseline="0" noProof="0" dirty="0">
                    <a:ln>
                      <a:noFill/>
                    </a:ln>
                    <a:solidFill>
                      <a:prstClr val="black"/>
                    </a:solidFill>
                    <a:effectLst/>
                    <a:uLnTx/>
                    <a:uFillTx/>
                    <a:latin typeface="Arial"/>
                    <a:ea typeface="Calibri" panose="020F0502020204030204" pitchFamily="34" charset="0"/>
                    <a:cs typeface="Times New Roman" panose="02020603050405020304" pitchFamily="18" charset="0"/>
                  </a:rPr>
                  <a:t> </a:t>
                </a:r>
                <a14:m>
                  <m:oMath xmlns:m="http://schemas.openxmlformats.org/officeDocument/2006/math">
                    <m:sSub>
                      <m:sSubPr>
                        <m:ctrlP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200" b="0" i="0" u="none" strike="noStrike" kern="100" cap="none" spc="0" normalizeH="0" baseline="0" noProof="0" dirty="0">
                    <a:ln>
                      <a:noFill/>
                    </a:ln>
                    <a:solidFill>
                      <a:prstClr val="black"/>
                    </a:solidFill>
                    <a:effectLst/>
                    <a:uLnTx/>
                    <a:uFillTx/>
                    <a:latin typeface="Arial"/>
                    <a:ea typeface="Calibri" panose="020F0502020204030204" pitchFamily="34" charset="0"/>
                    <a:cs typeface="Times New Roman" panose="02020603050405020304" pitchFamily="18" charset="0"/>
                  </a:rPr>
                  <a:t> is the original time series, </a:t>
                </a:r>
                <a14:m>
                  <m:oMath xmlns:m="http://schemas.openxmlformats.org/officeDocument/2006/math">
                    <m:sSub>
                      <m:sSubPr>
                        <m:ctrlP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200" b="0" i="0" u="none" strike="noStrike" kern="100" cap="none" spc="0" normalizeH="0" baseline="0" noProof="0" dirty="0">
                    <a:ln>
                      <a:noFill/>
                    </a:ln>
                    <a:solidFill>
                      <a:prstClr val="black"/>
                    </a:solidFill>
                    <a:effectLst/>
                    <a:uLnTx/>
                    <a:uFillTx/>
                    <a:latin typeface="Arial"/>
                    <a:ea typeface="Times New Roman" panose="02020603050405020304" pitchFamily="18" charset="0"/>
                    <a:cs typeface="Calibri" panose="020F0502020204030204" pitchFamily="34" charset="0"/>
                  </a:rPr>
                  <a:t> is the first difference of the time series after which it becomes stationary and </a:t>
                </a:r>
                <a14:m>
                  <m:oMath xmlns:m="http://schemas.openxmlformats.org/officeDocument/2006/math">
                    <m:sSub>
                      <m:sSubPr>
                        <m:ctrlP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ϵ</m:t>
                        </m:r>
                      </m:e>
                      <m:sub>
                        <m:r>
                          <m:rPr>
                            <m:sty m:val="p"/>
                          </m:rPr>
                          <a:rPr kumimoji="0" lang="en-IN" sz="12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200" b="0" i="0" u="none" strike="noStrike" kern="100" cap="none" spc="0" normalizeH="0" baseline="0" noProof="0" dirty="0">
                    <a:ln>
                      <a:noFill/>
                    </a:ln>
                    <a:solidFill>
                      <a:prstClr val="black"/>
                    </a:solidFill>
                    <a:effectLst/>
                    <a:uLnTx/>
                    <a:uFillTx/>
                    <a:latin typeface="Arial"/>
                    <a:ea typeface="Times New Roman" panose="02020603050405020304" pitchFamily="18" charset="0"/>
                    <a:cs typeface="Calibri" panose="020F0502020204030204" pitchFamily="34" charset="0"/>
                  </a:rPr>
                  <a:t> is the white noise at time t.</a:t>
                </a:r>
                <a:endParaRPr kumimoji="0" lang="en-IN" sz="1200" b="0" i="0" u="none" strike="noStrike" kern="100" cap="none" spc="0" normalizeH="0" baseline="0" noProof="0" dirty="0">
                  <a:ln>
                    <a:noFill/>
                  </a:ln>
                  <a:solidFill>
                    <a:prstClr val="black"/>
                  </a:solidFill>
                  <a:effectLst/>
                  <a:uLnTx/>
                  <a:uFillTx/>
                  <a:latin typeface="Arial"/>
                  <a:ea typeface="Calibri" panose="020F0502020204030204" pitchFamily="34"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78B17E38-8A82-28E9-2572-F8CC0F212DA3}"/>
                  </a:ext>
                </a:extLst>
              </p:cNvPr>
              <p:cNvSpPr>
                <a:spLocks noRot="1" noChangeAspect="1" noMove="1" noResize="1" noEditPoints="1" noAdjustHandles="1" noChangeArrowheads="1" noChangeShapeType="1" noTextEdit="1"/>
              </p:cNvSpPr>
              <p:nvPr/>
            </p:nvSpPr>
            <p:spPr>
              <a:xfrm>
                <a:off x="3432748" y="2303765"/>
                <a:ext cx="5240349" cy="1280083"/>
              </a:xfrm>
              <a:prstGeom prst="rect">
                <a:avLst/>
              </a:prstGeom>
              <a:blipFill>
                <a:blip r:embed="rId4"/>
                <a:stretch>
                  <a:fillRect/>
                </a:stretch>
              </a:blipFill>
              <a:ln>
                <a:solidFill>
                  <a:schemeClr val="bg1">
                    <a:lumMod val="25000"/>
                  </a:schemeClr>
                </a:solidFill>
              </a:ln>
            </p:spPr>
            <p:txBody>
              <a:bodyPr/>
              <a:lstStyle/>
              <a:p>
                <a:r>
                  <a:rPr lang="en-IN">
                    <a:noFill/>
                  </a:rPr>
                  <a:t> </a:t>
                </a:r>
              </a:p>
            </p:txBody>
          </p:sp>
        </mc:Fallback>
      </mc:AlternateContent>
    </p:spTree>
    <p:extLst>
      <p:ext uri="{BB962C8B-B14F-4D97-AF65-F5344CB8AC3E}">
        <p14:creationId xmlns:p14="http://schemas.microsoft.com/office/powerpoint/2010/main" val="1340448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B15F9-268E-5470-98FD-15E394EB1B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6769B4-5003-D54A-CA1D-2A893ED8C312}"/>
              </a:ext>
            </a:extLst>
          </p:cNvPr>
          <p:cNvSpPr txBox="1"/>
          <p:nvPr/>
        </p:nvSpPr>
        <p:spPr>
          <a:xfrm>
            <a:off x="0" y="56453"/>
            <a:ext cx="9144000" cy="6155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TIME SERIES ANALYSIS AND MODEL FITTING</a:t>
            </a:r>
            <a:br>
              <a:rPr kumimoji="0" lang="en-IN" sz="2400" b="0" i="0" u="none" strike="noStrike" kern="1200" cap="none" spc="0" normalizeH="0" baseline="0" noProof="0" dirty="0">
                <a:ln>
                  <a:noFill/>
                </a:ln>
                <a:solidFill>
                  <a:srgbClr val="1D1D1D"/>
                </a:solidFill>
                <a:effectLst/>
                <a:uLnTx/>
                <a:uFillTx/>
                <a:latin typeface="Arial"/>
                <a:ea typeface="+mn-ea"/>
                <a:cs typeface="+mn-cs"/>
              </a:rPr>
            </a:b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Model fitting to </a:t>
            </a:r>
            <a:r>
              <a:rPr lang="en-IN" sz="1400" b="1" dirty="0">
                <a:solidFill>
                  <a:srgbClr val="1D1D1D"/>
                </a:solidFill>
                <a:latin typeface="Calibri" panose="020F0502020204030204" pitchFamily="34" charset="0"/>
                <a:ea typeface="Calibri" panose="020F0502020204030204" pitchFamily="34" charset="0"/>
                <a:cs typeface="Calibri" panose="020F0502020204030204" pitchFamily="34" charset="0"/>
              </a:rPr>
              <a:t>Rajasthan and Haryana</a:t>
            </a:r>
            <a:r>
              <a:rPr kumimoji="0" lang="en-IN" sz="14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rPr>
              <a:t>’s dataset with the help of Arima model</a:t>
            </a:r>
            <a:endParaRPr kumimoji="0" lang="en-IN" sz="1800" b="1" i="0" u="none" strike="noStrike" kern="120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4FD40FB-7BC3-DDEC-87B7-73E744865A19}"/>
              </a:ext>
            </a:extLst>
          </p:cNvPr>
          <p:cNvSpPr txBox="1"/>
          <p:nvPr/>
        </p:nvSpPr>
        <p:spPr>
          <a:xfrm>
            <a:off x="1412732" y="749247"/>
            <a:ext cx="550513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1D1D1D"/>
                </a:solidFill>
                <a:effectLst/>
                <a:uLnTx/>
                <a:uFillTx/>
                <a:latin typeface="Arial"/>
                <a:ea typeface="+mn-ea"/>
                <a:cs typeface="+mn-cs"/>
              </a:rPr>
              <a:t>Fig- </a:t>
            </a:r>
            <a:r>
              <a:rPr lang="en-IN" sz="1100" dirty="0">
                <a:solidFill>
                  <a:srgbClr val="1D1D1D"/>
                </a:solidFill>
                <a:latin typeface="Arial"/>
              </a:rPr>
              <a:t>49</a:t>
            </a:r>
            <a:endParaRPr kumimoji="0" lang="en-IN" sz="1100" b="0" i="0" u="none" strike="noStrike" kern="1200" cap="none" spc="0" normalizeH="0" baseline="0" noProof="0" dirty="0">
              <a:ln>
                <a:noFill/>
              </a:ln>
              <a:solidFill>
                <a:srgbClr val="1D1D1D"/>
              </a:solidFill>
              <a:effectLst/>
              <a:uLnTx/>
              <a:uFillTx/>
              <a:latin typeface="Arial"/>
              <a:ea typeface="+mn-ea"/>
              <a:cs typeface="+mn-cs"/>
            </a:endParaRPr>
          </a:p>
        </p:txBody>
      </p:sp>
      <p:sp>
        <p:nvSpPr>
          <p:cNvPr id="11" name="TextBox 10">
            <a:extLst>
              <a:ext uri="{FF2B5EF4-FFF2-40B4-BE49-F238E27FC236}">
                <a16:creationId xmlns:a16="http://schemas.microsoft.com/office/drawing/2014/main" id="{22A7F406-1FF4-F04B-96DA-39FA99F48025}"/>
              </a:ext>
            </a:extLst>
          </p:cNvPr>
          <p:cNvSpPr txBox="1"/>
          <p:nvPr/>
        </p:nvSpPr>
        <p:spPr>
          <a:xfrm>
            <a:off x="6917868" y="2549102"/>
            <a:ext cx="550513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1D1D1D"/>
                </a:solidFill>
                <a:effectLst/>
                <a:uLnTx/>
                <a:uFillTx/>
                <a:latin typeface="Arial"/>
                <a:ea typeface="+mn-ea"/>
                <a:cs typeface="+mn-cs"/>
              </a:rPr>
              <a:t>Fig- 50</a:t>
            </a:r>
          </a:p>
        </p:txBody>
      </p:sp>
      <p:pic>
        <p:nvPicPr>
          <p:cNvPr id="2" name="Picture 1">
            <a:extLst>
              <a:ext uri="{FF2B5EF4-FFF2-40B4-BE49-F238E27FC236}">
                <a16:creationId xmlns:a16="http://schemas.microsoft.com/office/drawing/2014/main" id="{26A1C186-30BA-0B48-444C-BD7824DF3467}"/>
              </a:ext>
            </a:extLst>
          </p:cNvPr>
          <p:cNvPicPr>
            <a:picLocks noChangeAspect="1"/>
          </p:cNvPicPr>
          <p:nvPr/>
        </p:nvPicPr>
        <p:blipFill>
          <a:blip r:embed="rId2"/>
          <a:stretch>
            <a:fillRect/>
          </a:stretch>
        </p:blipFill>
        <p:spPr>
          <a:xfrm>
            <a:off x="187376" y="1029347"/>
            <a:ext cx="3327817" cy="2160777"/>
          </a:xfrm>
          <a:prstGeom prst="rect">
            <a:avLst/>
          </a:prstGeom>
        </p:spPr>
      </p:pic>
      <p:pic>
        <p:nvPicPr>
          <p:cNvPr id="6" name="Picture 5">
            <a:extLst>
              <a:ext uri="{FF2B5EF4-FFF2-40B4-BE49-F238E27FC236}">
                <a16:creationId xmlns:a16="http://schemas.microsoft.com/office/drawing/2014/main" id="{B229170A-0BBE-8E4F-B3CA-9B294D60E1EE}"/>
              </a:ext>
            </a:extLst>
          </p:cNvPr>
          <p:cNvPicPr>
            <a:picLocks noChangeAspect="1"/>
          </p:cNvPicPr>
          <p:nvPr/>
        </p:nvPicPr>
        <p:blipFill>
          <a:blip r:embed="rId3"/>
          <a:stretch>
            <a:fillRect/>
          </a:stretch>
        </p:blipFill>
        <p:spPr>
          <a:xfrm>
            <a:off x="5299023" y="2772480"/>
            <a:ext cx="3537679" cy="2234429"/>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2F5A2FC-AE8A-4CC7-F33E-190C9F369C92}"/>
                  </a:ext>
                </a:extLst>
              </p:cNvPr>
              <p:cNvSpPr/>
              <p:nvPr/>
            </p:nvSpPr>
            <p:spPr>
              <a:xfrm>
                <a:off x="307298" y="3665236"/>
                <a:ext cx="4856814" cy="1341673"/>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1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on Chandigarh’s </a:t>
                </a:r>
                <a:r>
                  <a:rPr lang="en-IN" sz="1100" kern="0" dirty="0">
                    <a:solidFill>
                      <a:schemeClr val="tx1"/>
                    </a:solidFill>
                    <a:ea typeface="Times New Roman" panose="02020603050405020304" pitchFamily="18" charset="0"/>
                    <a:cs typeface="Times New Roman" panose="02020603050405020304" pitchFamily="18" charset="0"/>
                  </a:rPr>
                  <a:t>time series data is Arima (0,1,1) with drift and the model is denoted as;</a:t>
                </a:r>
              </a:p>
              <a:p>
                <a:pPr marL="0" marR="0" lvl="0" indent="0" algn="l" defTabSz="914400" rtl="0" eaLnBrk="1" fontAlgn="auto" latinLnBrk="0" hangingPunct="1">
                  <a:lnSpc>
                    <a:spcPct val="115000"/>
                  </a:lnSpc>
                  <a:spcBef>
                    <a:spcPts val="0"/>
                  </a:spcBef>
                  <a:spcAft>
                    <a:spcPts val="800"/>
                  </a:spcAft>
                  <a:buClrTx/>
                  <a:buSzTx/>
                  <a:buFontTx/>
                  <a:buNone/>
                  <a:tabLst/>
                  <a:defRPr/>
                </a:pPr>
                <a14:m>
                  <m:oMath xmlns:m="http://schemas.openxmlformats.org/officeDocument/2006/math">
                    <m:sSub>
                      <m:sSubPr>
                        <m:ctrlPr>
                          <a:rPr kumimoji="0" lang="en-IN" sz="11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oMath>
                </a14:m>
                <a:r>
                  <a:rPr kumimoji="0" lang="en-IN" sz="11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oMath>
                </a14:m>
                <a:r>
                  <a:rPr kumimoji="0" lang="en-IN" sz="11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μ+</a:t>
                </a:r>
                <a14:m>
                  <m:oMath xmlns:m="http://schemas.openxmlformats.org/officeDocument/2006/math">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sSub>
                      <m:sSubPr>
                        <m:ctrlP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1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 ​+</a:t>
                </a:r>
                <a14:m>
                  <m:oMath xmlns:m="http://schemas.openxmlformats.org/officeDocument/2006/math">
                    <m:sSub>
                      <m:sSubPr>
                        <m:ctrlP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θ</m:t>
                        </m:r>
                      </m:e>
                      <m:sub>
                        <m: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100" b="0" i="1"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1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 where </a:t>
                </a:r>
                <a14:m>
                  <m:oMath xmlns:m="http://schemas.openxmlformats.org/officeDocument/2006/math">
                    <m:sSub>
                      <m:sSubPr>
                        <m:ctrlP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1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1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sub>
                    </m:sSub>
                  </m:oMath>
                </a14:m>
                <a:r>
                  <a:rPr kumimoji="0" lang="en-IN" sz="11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time series </a:t>
                </a:r>
                <a:r>
                  <a:rPr kumimoji="0" lang="en-IN" sz="11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value, </a:t>
                </a:r>
                <a14:m>
                  <m:oMath xmlns:m="http://schemas.openxmlformats.org/officeDocument/2006/math">
                    <m:sSub>
                      <m:sSubPr>
                        <m:ctrlP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m:rPr>
                            <m:sty m:val="p"/>
                          </m:rPr>
                          <a:rPr kumimoji="0" lang="en-IN" sz="11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y</m:t>
                        </m:r>
                      </m:e>
                      <m:sub>
                        <m:r>
                          <m:rPr>
                            <m:sty m:val="p"/>
                          </m:rPr>
                          <a:rPr kumimoji="0" lang="en-IN" sz="11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t</m:t>
                        </m:r>
                        <m:r>
                          <a:rPr kumimoji="0" lang="en-IN" sz="11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m:t>
                        </m:r>
                        <m:r>
                          <a:rPr kumimoji="0" lang="en-IN" sz="11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1</m:t>
                        </m:r>
                      </m:sub>
                    </m:sSub>
                    <m:r>
                      <a:rPr kumimoji="0" lang="en-IN" sz="1100" b="0" i="0"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100" b="0" i="0" u="none" strike="noStrike" kern="10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previous value, </a:t>
                </a:r>
                <a:r>
                  <a:rPr kumimoji="0" lang="en-IN" sz="11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μ</a:t>
                </a:r>
                <a:r>
                  <a:rPr kumimoji="0" lang="en-IN" sz="11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constant or drift term, </a:t>
                </a:r>
                <a14:m>
                  <m:oMath xmlns:m="http://schemas.openxmlformats.org/officeDocument/2006/math">
                    <m:sSub>
                      <m:sSubPr>
                        <m:ctrlP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t</m:t>
                        </m:r>
                      </m:sub>
                    </m:sSub>
                  </m:oMath>
                </a14:m>
                <a:r>
                  <a:rPr kumimoji="0" lang="en-IN" sz="1100" b="0" i="0" u="none" strike="noStrike" kern="0" cap="none" spc="0" normalizeH="0" baseline="0" noProof="0" dirty="0">
                    <a:ln>
                      <a:noFill/>
                    </a:ln>
                    <a:solidFill>
                      <a:prstClr val="black"/>
                    </a:solidFill>
                    <a:effectLst/>
                    <a:uLnTx/>
                    <a:uFillTx/>
                    <a:ea typeface="Times New Roman" panose="02020603050405020304" pitchFamily="18" charset="0"/>
                    <a:cs typeface="Cambria Math" panose="02040503050406030204" pitchFamily="18" charset="0"/>
                  </a:rPr>
                  <a:t>∼</a:t>
                </a:r>
                <a:r>
                  <a:rPr kumimoji="0" lang="en-IN" sz="11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N (0, σ2) is the white noise, </a:t>
                </a:r>
                <a14:m>
                  <m:oMath xmlns:m="http://schemas.openxmlformats.org/officeDocument/2006/math">
                    <m:sSub>
                      <m:sSubPr>
                        <m:ctrlP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θ</m:t>
                        </m:r>
                      </m:e>
                      <m:sub>
                        <m: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kumimoji="0" lang="en-IN" sz="11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the MA (1) coefficient with impact of the previous period’s error on the current value and </a:t>
                </a:r>
                <a14:m>
                  <m:oMath xmlns:m="http://schemas.openxmlformats.org/officeDocument/2006/math">
                    <m:sSub>
                      <m:sSubPr>
                        <m:ctrlP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m:rPr>
                            <m:sty m:val="p"/>
                          </m:rP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t</m:t>
                        </m:r>
                        <m:r>
                          <a:rPr kumimoji="0" lang="en-IN" sz="11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en-IN" sz="11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IN" sz="11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MA(1) introduces short-term memory in errors.</a:t>
                </a:r>
              </a:p>
            </p:txBody>
          </p:sp>
        </mc:Choice>
        <mc:Fallback xmlns="">
          <p:sp>
            <p:nvSpPr>
              <p:cNvPr id="8" name="Rectangle 7">
                <a:extLst>
                  <a:ext uri="{FF2B5EF4-FFF2-40B4-BE49-F238E27FC236}">
                    <a16:creationId xmlns:a16="http://schemas.microsoft.com/office/drawing/2014/main" id="{12F5A2FC-AE8A-4CC7-F33E-190C9F369C92}"/>
                  </a:ext>
                </a:extLst>
              </p:cNvPr>
              <p:cNvSpPr>
                <a:spLocks noRot="1" noChangeAspect="1" noMove="1" noResize="1" noEditPoints="1" noAdjustHandles="1" noChangeArrowheads="1" noChangeShapeType="1" noTextEdit="1"/>
              </p:cNvSpPr>
              <p:nvPr/>
            </p:nvSpPr>
            <p:spPr>
              <a:xfrm>
                <a:off x="307298" y="3665236"/>
                <a:ext cx="4856814" cy="1341673"/>
              </a:xfrm>
              <a:prstGeom prst="rect">
                <a:avLst/>
              </a:prstGeom>
              <a:blipFill>
                <a:blip r:embed="rId4"/>
                <a:stretch>
                  <a:fillRect b="-2232"/>
                </a:stretch>
              </a:blipFill>
              <a:ln>
                <a:solidFill>
                  <a:schemeClr val="bg1">
                    <a:lumMod val="2500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D5D979C-67E1-ACEE-339C-B6EC065F9E59}"/>
                  </a:ext>
                </a:extLst>
              </p:cNvPr>
              <p:cNvSpPr/>
              <p:nvPr/>
            </p:nvSpPr>
            <p:spPr>
              <a:xfrm>
                <a:off x="3682583" y="1029347"/>
                <a:ext cx="4856814" cy="1414050"/>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IN" sz="1200" b="0" u="none" strike="noStrike" kern="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The best model fitted on Mizoram’s </a:t>
                </a:r>
                <a:r>
                  <a:rPr lang="en-IN" sz="1200" kern="0" dirty="0">
                    <a:solidFill>
                      <a:schemeClr val="tx1"/>
                    </a:solidFill>
                    <a:ea typeface="Times New Roman" panose="02020603050405020304" pitchFamily="18" charset="0"/>
                    <a:cs typeface="Times New Roman" panose="02020603050405020304" pitchFamily="18" charset="0"/>
                  </a:rPr>
                  <a:t>time series data is Arima (0,0,0) with non-zero mean and the model is denoted as;</a:t>
                </a:r>
              </a:p>
              <a:p>
                <a:pPr marL="0" marR="0" lvl="0" indent="0" algn="l" defTabSz="914400" rtl="0" eaLnBrk="1" fontAlgn="auto" latinLnBrk="0" hangingPunct="1">
                  <a:lnSpc>
                    <a:spcPct val="115000"/>
                  </a:lnSpc>
                  <a:spcBef>
                    <a:spcPts val="0"/>
                  </a:spcBef>
                  <a:spcAft>
                    <a:spcPts val="800"/>
                  </a:spcAft>
                  <a:buClrTx/>
                  <a:buSzTx/>
                  <a:buFontTx/>
                  <a:buNone/>
                  <a:tabLst/>
                  <a:defRPr/>
                </a:pPr>
                <a14:m>
                  <m:oMath xmlns:m="http://schemas.openxmlformats.org/officeDocument/2006/math">
                    <m:sSub>
                      <m:sSubPr>
                        <m:ctrlPr>
                          <a:rPr kumimoji="0" lang="en-IN" sz="1200" b="0" i="1" u="none" strike="noStrike" kern="1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𝑦</m:t>
                        </m:r>
                      </m:e>
                      <m: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𝑡</m:t>
                        </m:r>
                      </m:sub>
                    </m:sSub>
                  </m:oMath>
                </a14:m>
                <a:r>
                  <a:rPr kumimoji="0" lang="en-IN" sz="1200" b="0" i="1"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rPr>
                  <a:t>=μ+</a:t>
                </a:r>
                <a:r>
                  <a:rPr kumimoji="0" lang="en-IN" sz="1200" b="0" i="1"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en-IN" sz="12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IN" sz="12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𝜖</m:t>
                        </m:r>
                      </m:e>
                      <m:sub>
                        <m:r>
                          <a:rPr kumimoji="0" lang="en-IN" sz="12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2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 where</a:t>
                </a:r>
                <a:r>
                  <a:rPr kumimoji="0" lang="en-IN" sz="1200" b="0" i="1" u="none" strike="noStrike" kern="1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 </a:t>
                </a:r>
                <a14:m>
                  <m:oMath xmlns:m="http://schemas.openxmlformats.org/officeDocument/2006/math">
                    <m:sSub>
                      <m:sSubPr>
                        <m:ctrlP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ctrlPr>
                      </m:sSubPr>
                      <m:e>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𝑦</m:t>
                        </m:r>
                      </m:e>
                      <m: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𝑡</m:t>
                        </m:r>
                      </m:sub>
                    </m:sSub>
                    <m:r>
                      <a:rPr kumimoji="0" lang="en-IN" sz="1200" b="0" i="1" u="none" strike="noStrike" kern="1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Calibri" panose="020F0502020204030204" pitchFamily="34" charset="0"/>
                      </a:rPr>
                      <m:t> </m:t>
                    </m:r>
                  </m:oMath>
                </a14:m>
                <a:r>
                  <a:rPr kumimoji="0" lang="en-IN" sz="12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is the time series value at time t, μ is constant mean (non-zero as specified) and </a:t>
                </a:r>
                <a14:m>
                  <m:oMath xmlns:m="http://schemas.openxmlformats.org/officeDocument/2006/math">
                    <m:sSub>
                      <m:sSubPr>
                        <m:ctrlPr>
                          <a:rPr kumimoji="0" lang="en-IN" sz="12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kumimoji="0" lang="en-IN" sz="1200" b="0" i="0"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ϵ</m:t>
                        </m:r>
                      </m:e>
                      <m:sub>
                        <m:r>
                          <a:rPr kumimoji="0" lang="en-IN" sz="1200" b="0" i="1" u="none" strike="noStrike" kern="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sub>
                    </m:sSub>
                  </m:oMath>
                </a14:m>
                <a:r>
                  <a:rPr kumimoji="0" lang="en-IN" sz="1200" b="0" i="0" u="none" strike="noStrike" kern="0" cap="none" spc="0" normalizeH="0" baseline="0" noProof="0" dirty="0">
                    <a:ln>
                      <a:noFill/>
                    </a:ln>
                    <a:solidFill>
                      <a:prstClr val="black"/>
                    </a:solidFill>
                    <a:effectLst/>
                    <a:uLnTx/>
                    <a:uFillTx/>
                    <a:ea typeface="Times New Roman" panose="02020603050405020304" pitchFamily="18" charset="0"/>
                    <a:cs typeface="Times New Roman" panose="02020603050405020304" pitchFamily="18" charset="0"/>
                  </a:rPr>
                  <a:t> is random white noise.</a:t>
                </a:r>
                <a:endParaRPr kumimoji="0" lang="en-IN" sz="1200" b="0" i="0" u="none" strike="noStrike" kern="100" cap="none" spc="0" normalizeH="0" baseline="0" noProof="0" dirty="0">
                  <a:ln>
                    <a:noFill/>
                  </a:ln>
                  <a:solidFill>
                    <a:prstClr val="black"/>
                  </a:solidFill>
                  <a:effectLst/>
                  <a:uLnTx/>
                  <a:uFillTx/>
                  <a:ea typeface="Calibri" panose="020F0502020204030204" pitchFamily="34" charset="0"/>
                  <a:cs typeface="Times New Roman" panose="02020603050405020304" pitchFamily="18" charset="0"/>
                </a:endParaRPr>
              </a:p>
            </p:txBody>
          </p:sp>
        </mc:Choice>
        <mc:Fallback xmlns="">
          <p:sp>
            <p:nvSpPr>
              <p:cNvPr id="10" name="Rectangle 9">
                <a:extLst>
                  <a:ext uri="{FF2B5EF4-FFF2-40B4-BE49-F238E27FC236}">
                    <a16:creationId xmlns:a16="http://schemas.microsoft.com/office/drawing/2014/main" id="{5D5D979C-67E1-ACEE-339C-B6EC065F9E59}"/>
                  </a:ext>
                </a:extLst>
              </p:cNvPr>
              <p:cNvSpPr>
                <a:spLocks noRot="1" noChangeAspect="1" noMove="1" noResize="1" noEditPoints="1" noAdjustHandles="1" noChangeArrowheads="1" noChangeShapeType="1" noTextEdit="1"/>
              </p:cNvSpPr>
              <p:nvPr/>
            </p:nvSpPr>
            <p:spPr>
              <a:xfrm>
                <a:off x="3682583" y="1029347"/>
                <a:ext cx="4856814" cy="1414050"/>
              </a:xfrm>
              <a:prstGeom prst="rect">
                <a:avLst/>
              </a:prstGeom>
              <a:blipFill>
                <a:blip r:embed="rId5"/>
                <a:stretch>
                  <a:fillRect/>
                </a:stretch>
              </a:blipFill>
              <a:ln>
                <a:solidFill>
                  <a:schemeClr val="bg1">
                    <a:lumMod val="25000"/>
                  </a:schemeClr>
                </a:solidFill>
              </a:ln>
            </p:spPr>
            <p:txBody>
              <a:bodyPr/>
              <a:lstStyle/>
              <a:p>
                <a:r>
                  <a:rPr lang="en-IN">
                    <a:noFill/>
                  </a:rPr>
                  <a:t> </a:t>
                </a:r>
              </a:p>
            </p:txBody>
          </p:sp>
        </mc:Fallback>
      </mc:AlternateContent>
    </p:spTree>
    <p:extLst>
      <p:ext uri="{BB962C8B-B14F-4D97-AF65-F5344CB8AC3E}">
        <p14:creationId xmlns:p14="http://schemas.microsoft.com/office/powerpoint/2010/main" val="3269921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2EB6193-A9F0-65C8-062C-6DCB191AE752}"/>
              </a:ext>
            </a:extLst>
          </p:cNvPr>
          <p:cNvGraphicFramePr/>
          <p:nvPr>
            <p:extLst>
              <p:ext uri="{D42A27DB-BD31-4B8C-83A1-F6EECF244321}">
                <p14:modId xmlns:p14="http://schemas.microsoft.com/office/powerpoint/2010/main" val="1899677724"/>
              </p:ext>
            </p:extLst>
          </p:nvPr>
        </p:nvGraphicFramePr>
        <p:xfrm>
          <a:off x="298693" y="774648"/>
          <a:ext cx="8478047" cy="321945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7FE3775-6C8C-2535-C9A0-DEBAA053A8F8}"/>
              </a:ext>
            </a:extLst>
          </p:cNvPr>
          <p:cNvSpPr txBox="1"/>
          <p:nvPr/>
        </p:nvSpPr>
        <p:spPr>
          <a:xfrm>
            <a:off x="82446" y="159095"/>
            <a:ext cx="8979108" cy="615553"/>
          </a:xfrm>
          <a:prstGeom prst="rect">
            <a:avLst/>
          </a:prstGeom>
          <a:noFill/>
        </p:spPr>
        <p:txBody>
          <a:bodyPr wrap="square">
            <a:spAutoFit/>
          </a:bodyPr>
          <a:lstStyle/>
          <a:p>
            <a:pPr algn="ctr"/>
            <a:r>
              <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PREDICTIVE RANKING</a:t>
            </a:r>
          </a:p>
          <a:p>
            <a:pPr algn="ctr"/>
            <a:r>
              <a:rPr kumimoji="0" lang="en-IN" sz="1400" i="0" u="none" strike="noStrike" kern="1200" cap="none" spc="0" normalizeH="0" baseline="0" noProof="0" dirty="0">
                <a:ln>
                  <a:noFill/>
                </a:ln>
                <a:solidFill>
                  <a:srgbClr val="1D1D1D"/>
                </a:solidFill>
                <a:effectLst/>
                <a:uLnTx/>
                <a:uFillTx/>
              </a:rPr>
              <a:t>Comparing and ranking the past top 10 states in </a:t>
            </a:r>
            <a:r>
              <a:rPr lang="en-IN" sz="1400" dirty="0">
                <a:solidFill>
                  <a:srgbClr val="1D1D1D"/>
                </a:solidFill>
              </a:rPr>
              <a:t>I</a:t>
            </a:r>
            <a:r>
              <a:rPr kumimoji="0" lang="en-IN" sz="1400" i="0" u="none" strike="noStrike" kern="1200" cap="none" spc="0" normalizeH="0" baseline="0" noProof="0" dirty="0">
                <a:ln>
                  <a:noFill/>
                </a:ln>
                <a:solidFill>
                  <a:srgbClr val="1D1D1D"/>
                </a:solidFill>
                <a:effectLst/>
                <a:uLnTx/>
                <a:uFillTx/>
              </a:rPr>
              <a:t>ndia based on their forecasted values for upcoming 10 years</a:t>
            </a:r>
            <a:endParaRPr lang="en-IN" sz="1400" dirty="0"/>
          </a:p>
        </p:txBody>
      </p:sp>
      <p:sp>
        <p:nvSpPr>
          <p:cNvPr id="6" name="Rectangle 5">
            <a:extLst>
              <a:ext uri="{FF2B5EF4-FFF2-40B4-BE49-F238E27FC236}">
                <a16:creationId xmlns:a16="http://schemas.microsoft.com/office/drawing/2014/main" id="{2974D6F0-5F03-48EC-6DFB-A5E38B7FD8FD}"/>
              </a:ext>
            </a:extLst>
          </p:cNvPr>
          <p:cNvSpPr/>
          <p:nvPr/>
        </p:nvSpPr>
        <p:spPr>
          <a:xfrm>
            <a:off x="367259" y="4130708"/>
            <a:ext cx="6012165" cy="839308"/>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chemeClr val="tx1"/>
                </a:solidFill>
                <a:effectLst/>
                <a:uLnTx/>
                <a:uFillTx/>
                <a:ea typeface="+mn-ea"/>
                <a:cs typeface="+mn-cs"/>
              </a:rPr>
              <a:t>Line diagram representing the top 10 states in India for the next upcoming 10 years (2023-2032).</a:t>
            </a:r>
          </a:p>
        </p:txBody>
      </p:sp>
      <p:sp>
        <p:nvSpPr>
          <p:cNvPr id="8" name="Rectangle 7">
            <a:extLst>
              <a:ext uri="{FF2B5EF4-FFF2-40B4-BE49-F238E27FC236}">
                <a16:creationId xmlns:a16="http://schemas.microsoft.com/office/drawing/2014/main" id="{A2254C4E-90E7-2B9C-E5E2-9F987A6591CC}"/>
              </a:ext>
            </a:extLst>
          </p:cNvPr>
          <p:cNvSpPr/>
          <p:nvPr/>
        </p:nvSpPr>
        <p:spPr>
          <a:xfrm>
            <a:off x="6596781" y="4130708"/>
            <a:ext cx="2179960" cy="615554"/>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chemeClr val="tx1"/>
                </a:solidFill>
                <a:effectLst/>
                <a:uLnTx/>
                <a:uFillTx/>
                <a:ea typeface="+mn-ea"/>
                <a:cs typeface="+mn-cs"/>
              </a:rPr>
              <a:t>To view the comparison table click </a:t>
            </a:r>
            <a:r>
              <a:rPr kumimoji="0" lang="en-IN" sz="1400" b="1" i="0" u="none" strike="noStrike" kern="1200" cap="none" spc="0" normalizeH="0" baseline="0" noProof="0" dirty="0">
                <a:ln>
                  <a:noFill/>
                </a:ln>
                <a:solidFill>
                  <a:schemeClr val="tx1"/>
                </a:solidFill>
                <a:effectLst/>
                <a:uLnTx/>
                <a:uFillTx/>
                <a:ea typeface="+mn-ea"/>
                <a:cs typeface="+mn-cs"/>
                <a:hlinkClick r:id="rId3" action="ppaction://hlinksldjump"/>
              </a:rPr>
              <a:t>here </a:t>
            </a:r>
            <a:endParaRPr kumimoji="0" lang="en-IN" sz="1400" b="1" i="0" u="none" strike="noStrike" kern="1200" cap="none" spc="0" normalizeH="0" baseline="0" noProof="0" dirty="0">
              <a:ln>
                <a:noFill/>
              </a:ln>
              <a:solidFill>
                <a:schemeClr val="tx1"/>
              </a:solidFill>
              <a:effectLst/>
              <a:uLnTx/>
              <a:uFillTx/>
              <a:ea typeface="+mn-ea"/>
              <a:cs typeface="+mn-cs"/>
            </a:endParaRPr>
          </a:p>
        </p:txBody>
      </p:sp>
    </p:spTree>
    <p:extLst>
      <p:ext uri="{BB962C8B-B14F-4D97-AF65-F5344CB8AC3E}">
        <p14:creationId xmlns:p14="http://schemas.microsoft.com/office/powerpoint/2010/main" val="766309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D19AEE-D8CF-526A-69D7-EEDDDF5EDEE1}"/>
              </a:ext>
            </a:extLst>
          </p:cNvPr>
          <p:cNvSpPr txBox="1"/>
          <p:nvPr/>
        </p:nvSpPr>
        <p:spPr>
          <a:xfrm>
            <a:off x="33083" y="426696"/>
            <a:ext cx="5505136" cy="400110"/>
          </a:xfrm>
          <a:prstGeom prst="rect">
            <a:avLst/>
          </a:prstGeom>
          <a:noFill/>
        </p:spPr>
        <p:txBody>
          <a:bodyPr wrap="square">
            <a:spAutoFit/>
          </a:bodyPr>
          <a:lstStyle/>
          <a:p>
            <a:r>
              <a:rPr lang="en-IN" sz="2000" b="1" dirty="0">
                <a:latin typeface="IBM Plex Mono" panose="020B0509050203000203" pitchFamily="49" charset="0"/>
              </a:rPr>
              <a:t>CONCLUSION</a:t>
            </a:r>
          </a:p>
        </p:txBody>
      </p:sp>
      <p:sp>
        <p:nvSpPr>
          <p:cNvPr id="5" name="TextBox 4">
            <a:extLst>
              <a:ext uri="{FF2B5EF4-FFF2-40B4-BE49-F238E27FC236}">
                <a16:creationId xmlns:a16="http://schemas.microsoft.com/office/drawing/2014/main" id="{3782C52A-F51A-F739-8474-6CB12BCA6BCB}"/>
              </a:ext>
            </a:extLst>
          </p:cNvPr>
          <p:cNvSpPr txBox="1"/>
          <p:nvPr/>
        </p:nvSpPr>
        <p:spPr>
          <a:xfrm>
            <a:off x="33083" y="876498"/>
            <a:ext cx="8917273" cy="2739211"/>
          </a:xfrm>
          <a:prstGeom prst="rect">
            <a:avLst/>
          </a:prstGeom>
          <a:noFill/>
        </p:spPr>
        <p:txBody>
          <a:bodyPr wrap="square">
            <a:spAutoFit/>
          </a:bodyPr>
          <a:lstStyle/>
          <a:p>
            <a:r>
              <a:rPr lang="en-US" sz="1400" dirty="0"/>
              <a:t>Living in the 21st century and through statistical analysis we observe that a heinous crime like rape still prevails against women in the society globally.</a:t>
            </a:r>
          </a:p>
          <a:p>
            <a:pPr marL="285750" indent="-285750">
              <a:buFont typeface="Arial" panose="020B0604020202020204" pitchFamily="34" charset="0"/>
              <a:buChar char="•"/>
            </a:pPr>
            <a:r>
              <a:rPr lang="en-US" sz="1400" dirty="0"/>
              <a:t>We observe that a developed country like Germany might see an increase in rape crime rate in the nearest future.</a:t>
            </a:r>
          </a:p>
          <a:p>
            <a:pPr marL="285750" indent="-285750">
              <a:buFont typeface="Arial" panose="020B0604020202020204" pitchFamily="34" charset="0"/>
              <a:buChar char="•"/>
            </a:pPr>
            <a:r>
              <a:rPr lang="en-US" sz="1400" dirty="0"/>
              <a:t>Under developed countries like India and Kenya saw a stable growth for the upcoming years.</a:t>
            </a:r>
          </a:p>
          <a:p>
            <a:pPr marL="285750" indent="-285750">
              <a:buFont typeface="Arial" panose="020B0604020202020204" pitchFamily="34" charset="0"/>
              <a:buChar char="•"/>
            </a:pPr>
            <a:r>
              <a:rPr lang="en-IN" sz="1400" kern="100" dirty="0">
                <a:effectLst/>
                <a:ea typeface="Calibri" panose="020F0502020204030204" pitchFamily="34" charset="0"/>
                <a:cs typeface="Arial" panose="020B0604020202020204" pitchFamily="34" charset="0"/>
              </a:rPr>
              <a:t>Within, India based on the forecasted values for Delhi and Mizoram we observe high decline in the rape crime rate for the upcoming next ten years.</a:t>
            </a:r>
          </a:p>
          <a:p>
            <a:pPr marL="285750" indent="-285750">
              <a:buFont typeface="Arial" panose="020B0604020202020204" pitchFamily="34" charset="0"/>
              <a:buChar char="•"/>
            </a:pPr>
            <a:r>
              <a:rPr lang="en-IN" sz="1400" kern="100" dirty="0">
                <a:effectLst/>
                <a:ea typeface="Calibri" panose="020F0502020204030204" pitchFamily="34" charset="0"/>
                <a:cs typeface="Arial" panose="020B0604020202020204" pitchFamily="34" charset="0"/>
              </a:rPr>
              <a:t>In case of Chandigarh, Rajasthan and Haryana we observe high increase in the rape crime rate for the upcoming next ten years.</a:t>
            </a:r>
          </a:p>
          <a:p>
            <a:endParaRPr lang="en-IN" sz="1400" kern="100" dirty="0">
              <a:effectLst/>
              <a:ea typeface="Calibri" panose="020F0502020204030204" pitchFamily="34" charset="0"/>
              <a:cs typeface="Arial" panose="020B0604020202020204" pitchFamily="34" charset="0"/>
            </a:endParaRPr>
          </a:p>
          <a:p>
            <a:r>
              <a:rPr lang="en-US" sz="1400" dirty="0"/>
              <a:t>Addressing rape requires a united global and national effort through education, stronger law enforcement, survivor support, and cultural change to ensure safety, justice and dignity for all</a:t>
            </a:r>
            <a:r>
              <a:rPr lang="en-US" sz="1600" dirty="0"/>
              <a:t>.</a:t>
            </a:r>
            <a:endParaRPr lang="en-IN" sz="1600" dirty="0"/>
          </a:p>
        </p:txBody>
      </p:sp>
      <p:grpSp>
        <p:nvGrpSpPr>
          <p:cNvPr id="6" name="Google Shape;1533;p39">
            <a:extLst>
              <a:ext uri="{FF2B5EF4-FFF2-40B4-BE49-F238E27FC236}">
                <a16:creationId xmlns:a16="http://schemas.microsoft.com/office/drawing/2014/main" id="{DDF47767-9916-2D8D-51D9-C4643EEA1A32}"/>
              </a:ext>
            </a:extLst>
          </p:cNvPr>
          <p:cNvGrpSpPr/>
          <p:nvPr/>
        </p:nvGrpSpPr>
        <p:grpSpPr>
          <a:xfrm>
            <a:off x="0" y="2256"/>
            <a:ext cx="4558680" cy="1140480"/>
            <a:chOff x="-123840" y="4132440"/>
            <a:chExt cx="4558680" cy="1140480"/>
          </a:xfrm>
        </p:grpSpPr>
        <p:grpSp>
          <p:nvGrpSpPr>
            <p:cNvPr id="7" name="Google Shape;1534;p39">
              <a:extLst>
                <a:ext uri="{FF2B5EF4-FFF2-40B4-BE49-F238E27FC236}">
                  <a16:creationId xmlns:a16="http://schemas.microsoft.com/office/drawing/2014/main" id="{AAF2EBB0-6289-B37C-0D65-1E4214C2A9D5}"/>
                </a:ext>
              </a:extLst>
            </p:cNvPr>
            <p:cNvGrpSpPr/>
            <p:nvPr/>
          </p:nvGrpSpPr>
          <p:grpSpPr>
            <a:xfrm>
              <a:off x="360" y="4132440"/>
              <a:ext cx="2307960" cy="1140480"/>
              <a:chOff x="360" y="4132440"/>
              <a:chExt cx="2307960" cy="1140480"/>
            </a:xfrm>
          </p:grpSpPr>
          <p:sp>
            <p:nvSpPr>
              <p:cNvPr id="12" name="Google Shape;1535;p39">
                <a:extLst>
                  <a:ext uri="{FF2B5EF4-FFF2-40B4-BE49-F238E27FC236}">
                    <a16:creationId xmlns:a16="http://schemas.microsoft.com/office/drawing/2014/main" id="{A8C3D86C-43A9-CCE4-4257-D7D2DD4A6BEB}"/>
                  </a:ext>
                </a:extLst>
              </p:cNvPr>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1536;p39">
                <a:extLst>
                  <a:ext uri="{FF2B5EF4-FFF2-40B4-BE49-F238E27FC236}">
                    <a16:creationId xmlns:a16="http://schemas.microsoft.com/office/drawing/2014/main" id="{726DF908-6252-75B8-9D7F-D1FB4150AE57}"/>
                  </a:ext>
                </a:extLst>
              </p:cNvPr>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8" name="Google Shape;1537;p39">
              <a:extLst>
                <a:ext uri="{FF2B5EF4-FFF2-40B4-BE49-F238E27FC236}">
                  <a16:creationId xmlns:a16="http://schemas.microsoft.com/office/drawing/2014/main" id="{905F7388-5716-E62D-EF81-D9689760C0BB}"/>
                </a:ext>
              </a:extLst>
            </p:cNvPr>
            <p:cNvGrpSpPr/>
            <p:nvPr/>
          </p:nvGrpSpPr>
          <p:grpSpPr>
            <a:xfrm>
              <a:off x="-123840" y="4386240"/>
              <a:ext cx="4558680" cy="133920"/>
              <a:chOff x="-123840" y="4386240"/>
              <a:chExt cx="4558680" cy="133920"/>
            </a:xfrm>
          </p:grpSpPr>
          <p:sp>
            <p:nvSpPr>
              <p:cNvPr id="9" name="Google Shape;1538;p39">
                <a:extLst>
                  <a:ext uri="{FF2B5EF4-FFF2-40B4-BE49-F238E27FC236}">
                    <a16:creationId xmlns:a16="http://schemas.microsoft.com/office/drawing/2014/main" id="{5522AE9F-7C78-1E78-2E5C-61C3A766449A}"/>
                  </a:ext>
                </a:extLst>
              </p:cNvPr>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0" name="Google Shape;1539;p39">
                <a:extLst>
                  <a:ext uri="{FF2B5EF4-FFF2-40B4-BE49-F238E27FC236}">
                    <a16:creationId xmlns:a16="http://schemas.microsoft.com/office/drawing/2014/main" id="{CA6516E6-3478-D53B-98F8-DAFADAA88305}"/>
                  </a:ext>
                </a:extLst>
              </p:cNvPr>
              <p:cNvCxnSpPr/>
              <p:nvPr/>
            </p:nvCxnSpPr>
            <p:spPr>
              <a:xfrm>
                <a:off x="-123840" y="4453200"/>
                <a:ext cx="4462920" cy="360"/>
              </a:xfrm>
              <a:prstGeom prst="straightConnector1">
                <a:avLst/>
              </a:prstGeom>
              <a:ln w="9525">
                <a:solidFill>
                  <a:srgbClr val="0C0A9E"/>
                </a:solidFill>
                <a:round/>
              </a:ln>
            </p:spPr>
          </p:cxnSp>
          <p:sp>
            <p:nvSpPr>
              <p:cNvPr id="11" name="Google Shape;1540;p39">
                <a:extLst>
                  <a:ext uri="{FF2B5EF4-FFF2-40B4-BE49-F238E27FC236}">
                    <a16:creationId xmlns:a16="http://schemas.microsoft.com/office/drawing/2014/main" id="{38FC979F-0F52-C256-3314-0C48109B1E76}"/>
                  </a:ext>
                </a:extLst>
              </p:cNvPr>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Tree>
    <p:extLst>
      <p:ext uri="{BB962C8B-B14F-4D97-AF65-F5344CB8AC3E}">
        <p14:creationId xmlns:p14="http://schemas.microsoft.com/office/powerpoint/2010/main" val="4165516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60DE6-EC16-635E-5DB0-79EABB408D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C5A33D-8E91-3E7A-A5DB-053453635A72}"/>
              </a:ext>
            </a:extLst>
          </p:cNvPr>
          <p:cNvSpPr txBox="1"/>
          <p:nvPr/>
        </p:nvSpPr>
        <p:spPr>
          <a:xfrm>
            <a:off x="61835" y="161376"/>
            <a:ext cx="5505136" cy="677108"/>
          </a:xfrm>
          <a:prstGeom prst="rect">
            <a:avLst/>
          </a:prstGeom>
          <a:noFill/>
        </p:spPr>
        <p:txBody>
          <a:bodyPr wrap="square">
            <a:spAutoFit/>
          </a:bodyPr>
          <a:lstStyle/>
          <a:p>
            <a:endParaRPr lang="en-IN" b="1" dirty="0">
              <a:latin typeface="IBM Plex Mono" panose="020B0509050203000203" pitchFamily="49" charset="0"/>
            </a:endParaRPr>
          </a:p>
          <a:p>
            <a:r>
              <a:rPr lang="en-IN" sz="2000" b="1" dirty="0">
                <a:latin typeface="IBM Plex Mono" panose="020B0509050203000203" pitchFamily="49" charset="0"/>
              </a:rPr>
              <a:t>LIMITATIONS</a:t>
            </a:r>
          </a:p>
        </p:txBody>
      </p:sp>
      <p:grpSp>
        <p:nvGrpSpPr>
          <p:cNvPr id="4" name="Google Shape;1533;p39">
            <a:extLst>
              <a:ext uri="{FF2B5EF4-FFF2-40B4-BE49-F238E27FC236}">
                <a16:creationId xmlns:a16="http://schemas.microsoft.com/office/drawing/2014/main" id="{16D5F627-BB14-C408-B793-841C4D83C10C}"/>
              </a:ext>
            </a:extLst>
          </p:cNvPr>
          <p:cNvGrpSpPr/>
          <p:nvPr/>
        </p:nvGrpSpPr>
        <p:grpSpPr>
          <a:xfrm>
            <a:off x="0" y="2256"/>
            <a:ext cx="4558680" cy="1140480"/>
            <a:chOff x="-123840" y="4132440"/>
            <a:chExt cx="4558680" cy="1140480"/>
          </a:xfrm>
        </p:grpSpPr>
        <p:grpSp>
          <p:nvGrpSpPr>
            <p:cNvPr id="5" name="Google Shape;1534;p39">
              <a:extLst>
                <a:ext uri="{FF2B5EF4-FFF2-40B4-BE49-F238E27FC236}">
                  <a16:creationId xmlns:a16="http://schemas.microsoft.com/office/drawing/2014/main" id="{732A4D63-EDDA-CB43-7A9F-185463E45637}"/>
                </a:ext>
              </a:extLst>
            </p:cNvPr>
            <p:cNvGrpSpPr/>
            <p:nvPr/>
          </p:nvGrpSpPr>
          <p:grpSpPr>
            <a:xfrm>
              <a:off x="360" y="4132440"/>
              <a:ext cx="2307960" cy="1140480"/>
              <a:chOff x="360" y="4132440"/>
              <a:chExt cx="2307960" cy="1140480"/>
            </a:xfrm>
          </p:grpSpPr>
          <p:sp>
            <p:nvSpPr>
              <p:cNvPr id="10" name="Google Shape;1535;p39">
                <a:extLst>
                  <a:ext uri="{FF2B5EF4-FFF2-40B4-BE49-F238E27FC236}">
                    <a16:creationId xmlns:a16="http://schemas.microsoft.com/office/drawing/2014/main" id="{8E54C01B-CEC7-61EA-B8B0-3993A957323D}"/>
                  </a:ext>
                </a:extLst>
              </p:cNvPr>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1536;p39">
                <a:extLst>
                  <a:ext uri="{FF2B5EF4-FFF2-40B4-BE49-F238E27FC236}">
                    <a16:creationId xmlns:a16="http://schemas.microsoft.com/office/drawing/2014/main" id="{8A43BB6D-C112-7A48-6D3D-01750D29BCA0}"/>
                  </a:ext>
                </a:extLst>
              </p:cNvPr>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 name="Google Shape;1537;p39">
              <a:extLst>
                <a:ext uri="{FF2B5EF4-FFF2-40B4-BE49-F238E27FC236}">
                  <a16:creationId xmlns:a16="http://schemas.microsoft.com/office/drawing/2014/main" id="{688CD3D7-4001-2220-0AA4-913007FBC50F}"/>
                </a:ext>
              </a:extLst>
            </p:cNvPr>
            <p:cNvGrpSpPr/>
            <p:nvPr/>
          </p:nvGrpSpPr>
          <p:grpSpPr>
            <a:xfrm>
              <a:off x="-123840" y="4386240"/>
              <a:ext cx="4558680" cy="133920"/>
              <a:chOff x="-123840" y="4386240"/>
              <a:chExt cx="4558680" cy="133920"/>
            </a:xfrm>
          </p:grpSpPr>
          <p:sp>
            <p:nvSpPr>
              <p:cNvPr id="7" name="Google Shape;1538;p39">
                <a:extLst>
                  <a:ext uri="{FF2B5EF4-FFF2-40B4-BE49-F238E27FC236}">
                    <a16:creationId xmlns:a16="http://schemas.microsoft.com/office/drawing/2014/main" id="{BB4BFFA1-2CB7-CDF6-E2E4-1EFCAAC3A1B3}"/>
                  </a:ext>
                </a:extLst>
              </p:cNvPr>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8" name="Google Shape;1539;p39">
                <a:extLst>
                  <a:ext uri="{FF2B5EF4-FFF2-40B4-BE49-F238E27FC236}">
                    <a16:creationId xmlns:a16="http://schemas.microsoft.com/office/drawing/2014/main" id="{ACD027DC-BFB7-BF73-FDCB-5CA8D803ED12}"/>
                  </a:ext>
                </a:extLst>
              </p:cNvPr>
              <p:cNvCxnSpPr/>
              <p:nvPr/>
            </p:nvCxnSpPr>
            <p:spPr>
              <a:xfrm>
                <a:off x="-123840" y="4453200"/>
                <a:ext cx="4462920" cy="360"/>
              </a:xfrm>
              <a:prstGeom prst="straightConnector1">
                <a:avLst/>
              </a:prstGeom>
              <a:ln w="9525">
                <a:solidFill>
                  <a:srgbClr val="0C0A9E"/>
                </a:solidFill>
                <a:round/>
              </a:ln>
            </p:spPr>
          </p:cxnSp>
          <p:sp>
            <p:nvSpPr>
              <p:cNvPr id="9" name="Google Shape;1540;p39">
                <a:extLst>
                  <a:ext uri="{FF2B5EF4-FFF2-40B4-BE49-F238E27FC236}">
                    <a16:creationId xmlns:a16="http://schemas.microsoft.com/office/drawing/2014/main" id="{BF377D0B-B0C1-B865-49CA-A37B1A8DD428}"/>
                  </a:ext>
                </a:extLst>
              </p:cNvPr>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
        <p:nvSpPr>
          <p:cNvPr id="13" name="TextBox 12">
            <a:extLst>
              <a:ext uri="{FF2B5EF4-FFF2-40B4-BE49-F238E27FC236}">
                <a16:creationId xmlns:a16="http://schemas.microsoft.com/office/drawing/2014/main" id="{4C238780-65BB-AF52-F767-615D3BE6EF28}"/>
              </a:ext>
            </a:extLst>
          </p:cNvPr>
          <p:cNvSpPr txBox="1"/>
          <p:nvPr/>
        </p:nvSpPr>
        <p:spPr>
          <a:xfrm>
            <a:off x="61835" y="1041980"/>
            <a:ext cx="8957965" cy="2761205"/>
          </a:xfrm>
          <a:prstGeom prst="rect">
            <a:avLst/>
          </a:prstGeom>
          <a:noFill/>
        </p:spPr>
        <p:txBody>
          <a:bodyPr wrap="square">
            <a:spAutoFit/>
          </a:bodyPr>
          <a:lstStyle/>
          <a:p>
            <a:pPr marL="342900" lvl="0" indent="-342900">
              <a:lnSpc>
                <a:spcPct val="115000"/>
              </a:lnSpc>
              <a:buFont typeface="Arial" panose="020B0604020202020204" pitchFamily="34" charset="0"/>
              <a:buChar char="•"/>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 Availability and Reliability: </a:t>
            </a:r>
            <a:r>
              <a:rPr lang="en-IN" sz="1400" kern="100" dirty="0">
                <a:effectLst/>
                <a:ea typeface="Calibri" panose="020F0502020204030204" pitchFamily="34" charset="0"/>
                <a:cs typeface="Times New Roman" panose="02020603050405020304" pitchFamily="18" charset="0"/>
              </a:rPr>
              <a:t>This study is heavily dependent on secondary data from government and international sources. In many countries, underreporting of rape cases due to stigma, fear, or lack of legal support affects the reliability of available statistics.</a:t>
            </a:r>
          </a:p>
          <a:p>
            <a:pPr marL="342900" lvl="0" indent="-342900">
              <a:lnSpc>
                <a:spcPct val="115000"/>
              </a:lnSpc>
              <a:buFont typeface="Arial" panose="020B0604020202020204" pitchFamily="34" charset="0"/>
              <a:buChar char="•"/>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Differences in Legal Definitions</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a:effectLst/>
                <a:ea typeface="Calibri" panose="020F0502020204030204" pitchFamily="34" charset="0"/>
                <a:cs typeface="Times New Roman" panose="02020603050405020304" pitchFamily="18" charset="0"/>
              </a:rPr>
              <a:t>The definition of rape and sexual assault varies significantly across different countries and jurisdictions. </a:t>
            </a:r>
          </a:p>
          <a:p>
            <a:pPr marL="342900" lvl="0" indent="-342900">
              <a:lnSpc>
                <a:spcPct val="115000"/>
              </a:lnSpc>
              <a:buFont typeface="Arial" panose="020B0604020202020204" pitchFamily="34" charset="0"/>
              <a:buChar char="•"/>
            </a:pPr>
            <a:r>
              <a:rPr lang="en-IN" sz="1800" b="1" dirty="0">
                <a:effectLst/>
                <a:latin typeface="Calibri" panose="020F0502020204030204" pitchFamily="34" charset="0"/>
                <a:ea typeface="Calibri" panose="020F0502020204030204" pitchFamily="34" charset="0"/>
                <a:cs typeface="Times New Roman" panose="02020603050405020304" pitchFamily="18" charset="0"/>
              </a:rPr>
              <a:t>Sample Size: </a:t>
            </a:r>
            <a:r>
              <a:rPr lang="en-IN" sz="1400" kern="100" dirty="0">
                <a:effectLst/>
                <a:ea typeface="Calibri" panose="020F0502020204030204" pitchFamily="34" charset="0"/>
                <a:cs typeface="Times New Roman" panose="02020603050405020304" pitchFamily="18" charset="0"/>
              </a:rPr>
              <a:t>In this project sample size was a problem as to be a perfect fit for Arima model we minimum require a sample size of 50-100</a:t>
            </a:r>
            <a:r>
              <a:rPr lang="en-IN" sz="1400" kern="100" dirty="0">
                <a:ea typeface="Calibri" panose="020F0502020204030204" pitchFamily="34" charset="0"/>
                <a:cs typeface="Times New Roman" panose="02020603050405020304" pitchFamily="18" charset="0"/>
              </a:rPr>
              <a:t>.</a:t>
            </a:r>
            <a:endParaRPr lang="en-IN" sz="1400" kern="100" dirty="0">
              <a:effectLst/>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pPr>
            <a:r>
              <a:rPr lang="en-IN" sz="1400" kern="100" dirty="0">
                <a:effectLst/>
                <a:ea typeface="Calibri" panose="020F0502020204030204" pitchFamily="34" charset="0"/>
                <a:cs typeface="Times New Roman" panose="02020603050405020304" pitchFamily="18" charset="0"/>
              </a:rPr>
              <a:t>Being a B.sc student my knowledge was limited, also because of time and resource constraints, only basic comparative techniques, time series model and graphical representations were used, rather than more sophisticated model approaches.</a:t>
            </a:r>
          </a:p>
        </p:txBody>
      </p:sp>
    </p:spTree>
    <p:extLst>
      <p:ext uri="{BB962C8B-B14F-4D97-AF65-F5344CB8AC3E}">
        <p14:creationId xmlns:p14="http://schemas.microsoft.com/office/powerpoint/2010/main" val="153380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108EC6-2396-02FC-217F-7590F572D50C}"/>
              </a:ext>
            </a:extLst>
          </p:cNvPr>
          <p:cNvSpPr txBox="1"/>
          <p:nvPr/>
        </p:nvSpPr>
        <p:spPr>
          <a:xfrm>
            <a:off x="159269" y="399546"/>
            <a:ext cx="5505136" cy="400110"/>
          </a:xfrm>
          <a:prstGeom prst="rect">
            <a:avLst/>
          </a:prstGeom>
          <a:noFill/>
        </p:spPr>
        <p:txBody>
          <a:bodyPr wrap="square">
            <a:spAutoFit/>
          </a:bodyPr>
          <a:lstStyle/>
          <a:p>
            <a:r>
              <a:rPr lang="en-IN" sz="2000" b="1" dirty="0">
                <a:latin typeface="IBM Plex Mono" panose="020B0509050203000203" pitchFamily="49" charset="0"/>
              </a:rPr>
              <a:t>REFERENCES</a:t>
            </a:r>
          </a:p>
        </p:txBody>
      </p:sp>
      <p:sp>
        <p:nvSpPr>
          <p:cNvPr id="5" name="TextBox 4">
            <a:extLst>
              <a:ext uri="{FF2B5EF4-FFF2-40B4-BE49-F238E27FC236}">
                <a16:creationId xmlns:a16="http://schemas.microsoft.com/office/drawing/2014/main" id="{73675F6C-2526-68BA-61AE-0E79A93A879E}"/>
              </a:ext>
            </a:extLst>
          </p:cNvPr>
          <p:cNvSpPr txBox="1"/>
          <p:nvPr/>
        </p:nvSpPr>
        <p:spPr>
          <a:xfrm>
            <a:off x="10815403" y="1014785"/>
            <a:ext cx="4616033" cy="646331"/>
          </a:xfrm>
          <a:prstGeom prst="rect">
            <a:avLst/>
          </a:prstGeom>
          <a:noFill/>
        </p:spPr>
        <p:txBody>
          <a:bodyPr wrap="square">
            <a:spAutoFit/>
          </a:bodyPr>
          <a:lstStyle/>
          <a:p>
            <a:endParaRPr lang="en-IN" dirty="0"/>
          </a:p>
          <a:p>
            <a:endParaRPr lang="en-IN" dirty="0"/>
          </a:p>
        </p:txBody>
      </p:sp>
      <p:sp>
        <p:nvSpPr>
          <p:cNvPr id="7" name="TextBox 6">
            <a:extLst>
              <a:ext uri="{FF2B5EF4-FFF2-40B4-BE49-F238E27FC236}">
                <a16:creationId xmlns:a16="http://schemas.microsoft.com/office/drawing/2014/main" id="{F5477720-1DDE-34C3-2094-1ECCE1DE5BA2}"/>
              </a:ext>
            </a:extLst>
          </p:cNvPr>
          <p:cNvSpPr txBox="1"/>
          <p:nvPr/>
        </p:nvSpPr>
        <p:spPr>
          <a:xfrm>
            <a:off x="159269" y="830801"/>
            <a:ext cx="8145281" cy="3112647"/>
          </a:xfrm>
          <a:prstGeom prst="rect">
            <a:avLst/>
          </a:prstGeom>
          <a:noFill/>
        </p:spPr>
        <p:txBody>
          <a:bodyPr wrap="square">
            <a:spAutoFit/>
          </a:bodyPr>
          <a:lstStyle/>
          <a:p>
            <a:pPr marL="285750" indent="-285750">
              <a:buFont typeface="Arial" panose="020B0604020202020204" pitchFamily="34" charset="0"/>
              <a:buChar char="•"/>
            </a:pPr>
            <a:r>
              <a:rPr lang="en-US" sz="1400" dirty="0"/>
              <a:t>Rape crime rate for Germany and Kenya for the years 2004-2003 was taken from </a:t>
            </a:r>
            <a:r>
              <a:rPr lang="en-IN" sz="1400" dirty="0">
                <a:hlinkClick r:id="rId2"/>
              </a:rPr>
              <a:t>https://dataunodc.un.org/dp-crime-violent-offences</a:t>
            </a:r>
            <a:endParaRPr lang="en-IN" sz="1400" dirty="0"/>
          </a:p>
          <a:p>
            <a:endParaRPr lang="en-IN" sz="1400" dirty="0"/>
          </a:p>
          <a:p>
            <a:pPr marL="285750" indent="-285750">
              <a:buFont typeface="Arial" panose="020B0604020202020204" pitchFamily="34" charset="0"/>
              <a:buChar char="•"/>
            </a:pPr>
            <a:r>
              <a:rPr lang="en-US" sz="1400" dirty="0"/>
              <a:t>Rape crime rate for and Indian states the years 2004-2003 was taken from </a:t>
            </a:r>
            <a:r>
              <a:rPr lang="en-IN" sz="1400" dirty="0">
                <a:hlinkClick r:id="rId3"/>
              </a:rPr>
              <a:t>https://www.ncrb.gov.in/crime-in-india-table-content.html</a:t>
            </a:r>
            <a:endParaRPr lang="en-IN" sz="1400" dirty="0"/>
          </a:p>
          <a:p>
            <a:endParaRPr lang="en-IN" sz="1400" dirty="0"/>
          </a:p>
          <a:p>
            <a:pPr marL="342900" lvl="0" indent="-342900">
              <a:lnSpc>
                <a:spcPct val="115000"/>
              </a:lnSpc>
              <a:buFont typeface="+mj-lt"/>
              <a:buAutoNum type="romanUcPeriod"/>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Fundamentals of Statistics (Vol II) - A.K. Gun, M.K Gupta, B Dasgupta.</a:t>
            </a:r>
          </a:p>
          <a:p>
            <a:pPr marL="342900" lvl="0" indent="-342900">
              <a:lnSpc>
                <a:spcPct val="115000"/>
              </a:lnSpc>
              <a:buFont typeface="+mj-lt"/>
              <a:buAutoNum type="romanUcPeriod"/>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An Outline of Statistical Analysis Theory (Voll II) - A.K. Gun, M.K Gupta, B Dasgupta.</a:t>
            </a:r>
          </a:p>
          <a:p>
            <a:pPr marL="342900" lvl="0" indent="-342900">
              <a:lnSpc>
                <a:spcPct val="115000"/>
              </a:lnSpc>
              <a:spcAft>
                <a:spcPts val="800"/>
              </a:spcAft>
              <a:buFont typeface="+mj-lt"/>
              <a:buAutoNum type="romanUcPeriod"/>
            </a:pPr>
            <a:r>
              <a:rPr lang="en-IN" sz="1600" kern="100" dirty="0">
                <a:effectLst/>
                <a:latin typeface="Calibri" panose="020F0502020204030204" pitchFamily="34" charset="0"/>
                <a:ea typeface="Calibri" panose="020F0502020204030204" pitchFamily="34" charset="0"/>
                <a:cs typeface="Calibri" panose="020F0502020204030204" pitchFamily="34" charset="0"/>
              </a:rPr>
              <a:t>Introduction to Time Series Analysis and Forecasting- Douglas C. Montgomery, Chery L. Jennings, Murat Kulach.</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grpSp>
        <p:nvGrpSpPr>
          <p:cNvPr id="9" name="Google Shape;1533;p39">
            <a:extLst>
              <a:ext uri="{FF2B5EF4-FFF2-40B4-BE49-F238E27FC236}">
                <a16:creationId xmlns:a16="http://schemas.microsoft.com/office/drawing/2014/main" id="{968F4617-D4DB-1770-A9C0-5CCB764A34DC}"/>
              </a:ext>
            </a:extLst>
          </p:cNvPr>
          <p:cNvGrpSpPr/>
          <p:nvPr/>
        </p:nvGrpSpPr>
        <p:grpSpPr>
          <a:xfrm>
            <a:off x="0" y="2256"/>
            <a:ext cx="4558680" cy="1140480"/>
            <a:chOff x="-123840" y="4132440"/>
            <a:chExt cx="4558680" cy="1140480"/>
          </a:xfrm>
        </p:grpSpPr>
        <p:grpSp>
          <p:nvGrpSpPr>
            <p:cNvPr id="10" name="Google Shape;1534;p39">
              <a:extLst>
                <a:ext uri="{FF2B5EF4-FFF2-40B4-BE49-F238E27FC236}">
                  <a16:creationId xmlns:a16="http://schemas.microsoft.com/office/drawing/2014/main" id="{C2556684-BE60-BAD1-8388-B7FDDF82A82D}"/>
                </a:ext>
              </a:extLst>
            </p:cNvPr>
            <p:cNvGrpSpPr/>
            <p:nvPr/>
          </p:nvGrpSpPr>
          <p:grpSpPr>
            <a:xfrm>
              <a:off x="360" y="4132440"/>
              <a:ext cx="2307960" cy="1140480"/>
              <a:chOff x="360" y="4132440"/>
              <a:chExt cx="2307960" cy="1140480"/>
            </a:xfrm>
          </p:grpSpPr>
          <p:sp>
            <p:nvSpPr>
              <p:cNvPr id="15" name="Google Shape;1535;p39">
                <a:extLst>
                  <a:ext uri="{FF2B5EF4-FFF2-40B4-BE49-F238E27FC236}">
                    <a16:creationId xmlns:a16="http://schemas.microsoft.com/office/drawing/2014/main" id="{91D76B43-7A3E-8EF5-3D0F-FF95E7C18117}"/>
                  </a:ext>
                </a:extLst>
              </p:cNvPr>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1536;p39">
                <a:extLst>
                  <a:ext uri="{FF2B5EF4-FFF2-40B4-BE49-F238E27FC236}">
                    <a16:creationId xmlns:a16="http://schemas.microsoft.com/office/drawing/2014/main" id="{0E8DE03C-91B7-6A98-A279-93B5451CC729}"/>
                  </a:ext>
                </a:extLst>
              </p:cNvPr>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1" name="Google Shape;1537;p39">
              <a:extLst>
                <a:ext uri="{FF2B5EF4-FFF2-40B4-BE49-F238E27FC236}">
                  <a16:creationId xmlns:a16="http://schemas.microsoft.com/office/drawing/2014/main" id="{4CF88407-774A-3491-BB66-EEA9467F84AA}"/>
                </a:ext>
              </a:extLst>
            </p:cNvPr>
            <p:cNvGrpSpPr/>
            <p:nvPr/>
          </p:nvGrpSpPr>
          <p:grpSpPr>
            <a:xfrm>
              <a:off x="-123840" y="4386240"/>
              <a:ext cx="4558680" cy="133920"/>
              <a:chOff x="-123840" y="4386240"/>
              <a:chExt cx="4558680" cy="133920"/>
            </a:xfrm>
          </p:grpSpPr>
          <p:sp>
            <p:nvSpPr>
              <p:cNvPr id="12" name="Google Shape;1538;p39">
                <a:extLst>
                  <a:ext uri="{FF2B5EF4-FFF2-40B4-BE49-F238E27FC236}">
                    <a16:creationId xmlns:a16="http://schemas.microsoft.com/office/drawing/2014/main" id="{39357DE6-172A-9AC8-AA00-A102341C3D79}"/>
                  </a:ext>
                </a:extLst>
              </p:cNvPr>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 name="Google Shape;1539;p39">
                <a:extLst>
                  <a:ext uri="{FF2B5EF4-FFF2-40B4-BE49-F238E27FC236}">
                    <a16:creationId xmlns:a16="http://schemas.microsoft.com/office/drawing/2014/main" id="{AC17751A-3ADA-BA44-BDD4-5EE090AB93A8}"/>
                  </a:ext>
                </a:extLst>
              </p:cNvPr>
              <p:cNvCxnSpPr/>
              <p:nvPr/>
            </p:nvCxnSpPr>
            <p:spPr>
              <a:xfrm>
                <a:off x="-123840" y="4453200"/>
                <a:ext cx="4462920" cy="360"/>
              </a:xfrm>
              <a:prstGeom prst="straightConnector1">
                <a:avLst/>
              </a:prstGeom>
              <a:ln w="9525">
                <a:solidFill>
                  <a:srgbClr val="0C0A9E"/>
                </a:solidFill>
                <a:round/>
              </a:ln>
            </p:spPr>
          </p:cxnSp>
          <p:sp>
            <p:nvSpPr>
              <p:cNvPr id="14" name="Google Shape;1540;p39">
                <a:extLst>
                  <a:ext uri="{FF2B5EF4-FFF2-40B4-BE49-F238E27FC236}">
                    <a16:creationId xmlns:a16="http://schemas.microsoft.com/office/drawing/2014/main" id="{B0B904E0-CBA6-B1F4-4CEC-328D5B7CC8F5}"/>
                  </a:ext>
                </a:extLst>
              </p:cNvPr>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spTree>
    <p:extLst>
      <p:ext uri="{BB962C8B-B14F-4D97-AF65-F5344CB8AC3E}">
        <p14:creationId xmlns:p14="http://schemas.microsoft.com/office/powerpoint/2010/main" val="1062443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F3785-3843-202C-5BF9-0C75E3ECB6E6}"/>
              </a:ext>
            </a:extLst>
          </p:cNvPr>
          <p:cNvSpPr>
            <a:spLocks noGrp="1"/>
          </p:cNvSpPr>
          <p:nvPr>
            <p:ph type="title"/>
          </p:nvPr>
        </p:nvSpPr>
        <p:spPr>
          <a:xfrm flipH="1">
            <a:off x="9144000" y="1056771"/>
            <a:ext cx="799052" cy="45719"/>
          </a:xfrm>
        </p:spPr>
        <p:txBody>
          <a:bodyPr/>
          <a:lstStyle/>
          <a:p>
            <a:endParaRPr lang="en-IN" dirty="0"/>
          </a:p>
        </p:txBody>
      </p:sp>
      <p:sp>
        <p:nvSpPr>
          <p:cNvPr id="3" name="Subtitle 2">
            <a:extLst>
              <a:ext uri="{FF2B5EF4-FFF2-40B4-BE49-F238E27FC236}">
                <a16:creationId xmlns:a16="http://schemas.microsoft.com/office/drawing/2014/main" id="{68440706-AA46-C97B-12F8-6ADAA5C287C4}"/>
              </a:ext>
            </a:extLst>
          </p:cNvPr>
          <p:cNvSpPr>
            <a:spLocks noGrp="1"/>
          </p:cNvSpPr>
          <p:nvPr>
            <p:ph type="subTitle"/>
          </p:nvPr>
        </p:nvSpPr>
        <p:spPr>
          <a:xfrm>
            <a:off x="457380" y="596379"/>
            <a:ext cx="8229240" cy="2982960"/>
          </a:xfrm>
        </p:spPr>
        <p:txBody>
          <a:bodyPr/>
          <a:lstStyle/>
          <a:p>
            <a:pPr marL="0" indent="0" algn="ctr">
              <a:buNone/>
            </a:pPr>
            <a:r>
              <a:rPr lang="en-IN" sz="2400" b="1" dirty="0">
                <a:latin typeface="IBM Plex Mono" panose="020B0509050203000203" pitchFamily="49" charset="0"/>
              </a:rPr>
              <a:t>THANK YOU</a:t>
            </a:r>
          </a:p>
        </p:txBody>
      </p:sp>
    </p:spTree>
    <p:extLst>
      <p:ext uri="{BB962C8B-B14F-4D97-AF65-F5344CB8AC3E}">
        <p14:creationId xmlns:p14="http://schemas.microsoft.com/office/powerpoint/2010/main" val="1596467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975DAF8-1250-F7D4-DA8C-D2E1B6ECEED1}"/>
              </a:ext>
            </a:extLst>
          </p:cNvPr>
          <p:cNvGraphicFramePr>
            <a:graphicFrameLocks noGrp="1"/>
          </p:cNvGraphicFramePr>
          <p:nvPr>
            <p:extLst>
              <p:ext uri="{D42A27DB-BD31-4B8C-83A1-F6EECF244321}">
                <p14:modId xmlns:p14="http://schemas.microsoft.com/office/powerpoint/2010/main" val="765627455"/>
              </p:ext>
            </p:extLst>
          </p:nvPr>
        </p:nvGraphicFramePr>
        <p:xfrm>
          <a:off x="223444" y="611634"/>
          <a:ext cx="2684648" cy="4148750"/>
        </p:xfrm>
        <a:graphic>
          <a:graphicData uri="http://schemas.openxmlformats.org/drawingml/2006/table">
            <a:tbl>
              <a:tblPr firstRow="1" firstCol="1" bandRow="1">
                <a:tableStyleId>{5C22544A-7EE6-4342-B048-85BDC9FD1C3A}</a:tableStyleId>
              </a:tblPr>
              <a:tblGrid>
                <a:gridCol w="1124697">
                  <a:extLst>
                    <a:ext uri="{9D8B030D-6E8A-4147-A177-3AD203B41FA5}">
                      <a16:colId xmlns:a16="http://schemas.microsoft.com/office/drawing/2014/main" val="3241522660"/>
                    </a:ext>
                  </a:extLst>
                </a:gridCol>
                <a:gridCol w="1559951">
                  <a:extLst>
                    <a:ext uri="{9D8B030D-6E8A-4147-A177-3AD203B41FA5}">
                      <a16:colId xmlns:a16="http://schemas.microsoft.com/office/drawing/2014/main" val="2054773212"/>
                    </a:ext>
                  </a:extLst>
                </a:gridCol>
              </a:tblGrid>
              <a:tr h="404408">
                <a:tc>
                  <a:txBody>
                    <a:bodyPr/>
                    <a:lstStyle/>
                    <a:p>
                      <a:pPr algn="l">
                        <a:lnSpc>
                          <a:spcPct val="115000"/>
                        </a:lnSpc>
                        <a:spcAft>
                          <a:spcPts val="800"/>
                        </a:spcAft>
                        <a:buNone/>
                      </a:pPr>
                      <a:r>
                        <a:rPr lang="en-IN" sz="1200" kern="100" dirty="0">
                          <a:effectLst/>
                        </a:rPr>
                        <a:t>Years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Rape Crime Rate of India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279877571"/>
                  </a:ext>
                </a:extLst>
              </a:tr>
              <a:tr h="196929">
                <a:tc>
                  <a:txBody>
                    <a:bodyPr/>
                    <a:lstStyle/>
                    <a:p>
                      <a:pPr algn="l">
                        <a:lnSpc>
                          <a:spcPct val="115000"/>
                        </a:lnSpc>
                        <a:spcAft>
                          <a:spcPts val="800"/>
                        </a:spcAft>
                        <a:buNone/>
                      </a:pPr>
                      <a:r>
                        <a:rPr lang="en-IN" sz="1200" kern="100" dirty="0">
                          <a:effectLst/>
                        </a:rPr>
                        <a:t>2004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431827322"/>
                  </a:ext>
                </a:extLst>
              </a:tr>
              <a:tr h="196929">
                <a:tc>
                  <a:txBody>
                    <a:bodyPr/>
                    <a:lstStyle/>
                    <a:p>
                      <a:pPr algn="l">
                        <a:lnSpc>
                          <a:spcPct val="115000"/>
                        </a:lnSpc>
                        <a:spcAft>
                          <a:spcPts val="800"/>
                        </a:spcAft>
                        <a:buNone/>
                      </a:pPr>
                      <a:r>
                        <a:rPr lang="en-IN" sz="1200" kern="100">
                          <a:effectLst/>
                        </a:rPr>
                        <a:t>2005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373290396"/>
                  </a:ext>
                </a:extLst>
              </a:tr>
              <a:tr h="196929">
                <a:tc>
                  <a:txBody>
                    <a:bodyPr/>
                    <a:lstStyle/>
                    <a:p>
                      <a:pPr algn="l">
                        <a:lnSpc>
                          <a:spcPct val="115000"/>
                        </a:lnSpc>
                        <a:spcAft>
                          <a:spcPts val="800"/>
                        </a:spcAft>
                        <a:buNone/>
                      </a:pPr>
                      <a:r>
                        <a:rPr lang="en-IN" sz="1200" kern="100" dirty="0">
                          <a:effectLst/>
                        </a:rPr>
                        <a:t>2006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351247569"/>
                  </a:ext>
                </a:extLst>
              </a:tr>
              <a:tr h="196929">
                <a:tc>
                  <a:txBody>
                    <a:bodyPr/>
                    <a:lstStyle/>
                    <a:p>
                      <a:pPr algn="l">
                        <a:lnSpc>
                          <a:spcPct val="115000"/>
                        </a:lnSpc>
                        <a:spcAft>
                          <a:spcPts val="800"/>
                        </a:spcAft>
                        <a:buNone/>
                      </a:pPr>
                      <a:r>
                        <a:rPr lang="en-IN" sz="1200" kern="100" dirty="0">
                          <a:effectLst/>
                        </a:rPr>
                        <a:t>2007</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082231304"/>
                  </a:ext>
                </a:extLst>
              </a:tr>
              <a:tr h="196929">
                <a:tc>
                  <a:txBody>
                    <a:bodyPr/>
                    <a:lstStyle/>
                    <a:p>
                      <a:pPr algn="l">
                        <a:lnSpc>
                          <a:spcPct val="115000"/>
                        </a:lnSpc>
                        <a:spcAft>
                          <a:spcPts val="800"/>
                        </a:spcAft>
                        <a:buNone/>
                      </a:pPr>
                      <a:r>
                        <a:rPr lang="en-IN" sz="1200" kern="100" dirty="0">
                          <a:effectLst/>
                        </a:rPr>
                        <a:t>2008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1.9</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605030757"/>
                  </a:ext>
                </a:extLst>
              </a:tr>
              <a:tr h="196929">
                <a:tc>
                  <a:txBody>
                    <a:bodyPr/>
                    <a:lstStyle/>
                    <a:p>
                      <a:pPr algn="l">
                        <a:lnSpc>
                          <a:spcPct val="115000"/>
                        </a:lnSpc>
                        <a:spcAft>
                          <a:spcPts val="800"/>
                        </a:spcAft>
                        <a:buNone/>
                      </a:pPr>
                      <a:r>
                        <a:rPr lang="en-IN" sz="1200" kern="100">
                          <a:effectLst/>
                        </a:rPr>
                        <a:t>2009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583304731"/>
                  </a:ext>
                </a:extLst>
              </a:tr>
              <a:tr h="196929">
                <a:tc>
                  <a:txBody>
                    <a:bodyPr/>
                    <a:lstStyle/>
                    <a:p>
                      <a:pPr algn="l">
                        <a:lnSpc>
                          <a:spcPct val="115000"/>
                        </a:lnSpc>
                        <a:spcAft>
                          <a:spcPts val="800"/>
                        </a:spcAft>
                        <a:buNone/>
                      </a:pPr>
                      <a:r>
                        <a:rPr lang="en-IN" sz="1200" kern="100">
                          <a:effectLst/>
                        </a:rPr>
                        <a:t>2010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1.9</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466789847"/>
                  </a:ext>
                </a:extLst>
              </a:tr>
              <a:tr h="196929">
                <a:tc>
                  <a:txBody>
                    <a:bodyPr/>
                    <a:lstStyle/>
                    <a:p>
                      <a:pPr algn="l">
                        <a:lnSpc>
                          <a:spcPct val="115000"/>
                        </a:lnSpc>
                        <a:spcAft>
                          <a:spcPts val="800"/>
                        </a:spcAft>
                        <a:buNone/>
                      </a:pPr>
                      <a:r>
                        <a:rPr lang="en-IN" sz="1200" kern="100">
                          <a:effectLst/>
                        </a:rPr>
                        <a:t>2011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505431343"/>
                  </a:ext>
                </a:extLst>
              </a:tr>
              <a:tr h="196929">
                <a:tc>
                  <a:txBody>
                    <a:bodyPr/>
                    <a:lstStyle/>
                    <a:p>
                      <a:pPr algn="l">
                        <a:lnSpc>
                          <a:spcPct val="115000"/>
                        </a:lnSpc>
                        <a:spcAft>
                          <a:spcPts val="800"/>
                        </a:spcAft>
                        <a:buNone/>
                      </a:pPr>
                      <a:r>
                        <a:rPr lang="en-IN" sz="1200" kern="100">
                          <a:effectLst/>
                        </a:rPr>
                        <a:t>2012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4.26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220728697"/>
                  </a:ext>
                </a:extLst>
              </a:tr>
              <a:tr h="196929">
                <a:tc>
                  <a:txBody>
                    <a:bodyPr/>
                    <a:lstStyle/>
                    <a:p>
                      <a:pPr algn="l">
                        <a:lnSpc>
                          <a:spcPct val="115000"/>
                        </a:lnSpc>
                        <a:spcAft>
                          <a:spcPts val="800"/>
                        </a:spcAft>
                        <a:buNone/>
                      </a:pPr>
                      <a:r>
                        <a:rPr lang="en-IN" sz="1200" kern="100">
                          <a:effectLst/>
                        </a:rPr>
                        <a:t>2013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5.69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368962704"/>
                  </a:ext>
                </a:extLst>
              </a:tr>
              <a:tr h="196929">
                <a:tc>
                  <a:txBody>
                    <a:bodyPr/>
                    <a:lstStyle/>
                    <a:p>
                      <a:pPr algn="l">
                        <a:lnSpc>
                          <a:spcPct val="115000"/>
                        </a:lnSpc>
                        <a:spcAft>
                          <a:spcPts val="800"/>
                        </a:spcAft>
                        <a:buNone/>
                      </a:pPr>
                      <a:r>
                        <a:rPr lang="en-IN" sz="1200" kern="100">
                          <a:effectLst/>
                        </a:rPr>
                        <a:t>2014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6.1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365021076"/>
                  </a:ext>
                </a:extLst>
              </a:tr>
              <a:tr h="196929">
                <a:tc>
                  <a:txBody>
                    <a:bodyPr/>
                    <a:lstStyle/>
                    <a:p>
                      <a:pPr algn="l">
                        <a:lnSpc>
                          <a:spcPct val="115000"/>
                        </a:lnSpc>
                        <a:spcAft>
                          <a:spcPts val="800"/>
                        </a:spcAft>
                        <a:buNone/>
                      </a:pPr>
                      <a:r>
                        <a:rPr lang="en-IN" sz="1200" kern="100">
                          <a:effectLst/>
                        </a:rPr>
                        <a:t>2015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5.7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405519724"/>
                  </a:ext>
                </a:extLst>
              </a:tr>
              <a:tr h="196929">
                <a:tc>
                  <a:txBody>
                    <a:bodyPr/>
                    <a:lstStyle/>
                    <a:p>
                      <a:pPr algn="l">
                        <a:lnSpc>
                          <a:spcPct val="115000"/>
                        </a:lnSpc>
                        <a:spcAft>
                          <a:spcPts val="800"/>
                        </a:spcAft>
                        <a:buNone/>
                      </a:pPr>
                      <a:r>
                        <a:rPr lang="en-IN" sz="1200" kern="100">
                          <a:effectLst/>
                        </a:rPr>
                        <a:t>2016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6.3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4154373379"/>
                  </a:ext>
                </a:extLst>
              </a:tr>
              <a:tr h="196929">
                <a:tc>
                  <a:txBody>
                    <a:bodyPr/>
                    <a:lstStyle/>
                    <a:p>
                      <a:pPr algn="l">
                        <a:lnSpc>
                          <a:spcPct val="115000"/>
                        </a:lnSpc>
                        <a:spcAft>
                          <a:spcPts val="800"/>
                        </a:spcAft>
                        <a:buNone/>
                      </a:pPr>
                      <a:r>
                        <a:rPr lang="en-IN" sz="1200" kern="100">
                          <a:effectLst/>
                        </a:rPr>
                        <a:t>2017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5.2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437691434"/>
                  </a:ext>
                </a:extLst>
              </a:tr>
              <a:tr h="196929">
                <a:tc>
                  <a:txBody>
                    <a:bodyPr/>
                    <a:lstStyle/>
                    <a:p>
                      <a:pPr algn="l">
                        <a:lnSpc>
                          <a:spcPct val="115000"/>
                        </a:lnSpc>
                        <a:spcAft>
                          <a:spcPts val="800"/>
                        </a:spcAft>
                        <a:buNone/>
                      </a:pPr>
                      <a:r>
                        <a:rPr lang="en-IN" sz="1200" kern="100">
                          <a:effectLst/>
                        </a:rPr>
                        <a:t>2018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5.2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364819489"/>
                  </a:ext>
                </a:extLst>
              </a:tr>
              <a:tr h="196929">
                <a:tc>
                  <a:txBody>
                    <a:bodyPr/>
                    <a:lstStyle/>
                    <a:p>
                      <a:pPr algn="l">
                        <a:lnSpc>
                          <a:spcPct val="115000"/>
                        </a:lnSpc>
                        <a:spcAft>
                          <a:spcPts val="800"/>
                        </a:spcAft>
                        <a:buNone/>
                      </a:pPr>
                      <a:r>
                        <a:rPr lang="en-IN" sz="12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4.3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660801567"/>
                  </a:ext>
                </a:extLst>
              </a:tr>
              <a:tr h="196929">
                <a:tc>
                  <a:txBody>
                    <a:bodyPr/>
                    <a:lstStyle/>
                    <a:p>
                      <a:pPr algn="l">
                        <a:lnSpc>
                          <a:spcPct val="115000"/>
                        </a:lnSpc>
                        <a:spcAft>
                          <a:spcPts val="800"/>
                        </a:spcAft>
                        <a:buNone/>
                      </a:pPr>
                      <a:r>
                        <a:rPr lang="en-IN" sz="12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4.3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836178814"/>
                  </a:ext>
                </a:extLst>
              </a:tr>
              <a:tr h="196929">
                <a:tc>
                  <a:txBody>
                    <a:bodyPr/>
                    <a:lstStyle/>
                    <a:p>
                      <a:pPr algn="l">
                        <a:lnSpc>
                          <a:spcPct val="115000"/>
                        </a:lnSpc>
                        <a:spcAft>
                          <a:spcPts val="800"/>
                        </a:spcAft>
                        <a:buNone/>
                      </a:pPr>
                      <a:r>
                        <a:rPr lang="en-IN" sz="1200" kern="100">
                          <a:effectLst/>
                        </a:rPr>
                        <a:t>2021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4.8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444246981"/>
                  </a:ext>
                </a:extLst>
              </a:tr>
              <a:tr h="196929">
                <a:tc>
                  <a:txBody>
                    <a:bodyPr/>
                    <a:lstStyle/>
                    <a:p>
                      <a:pPr algn="l">
                        <a:lnSpc>
                          <a:spcPct val="115000"/>
                        </a:lnSpc>
                        <a:spcAft>
                          <a:spcPts val="800"/>
                        </a:spcAft>
                        <a:buNone/>
                      </a:pPr>
                      <a:r>
                        <a:rPr lang="en-IN" sz="1200" kern="100">
                          <a:effectLst/>
                        </a:rPr>
                        <a:t>2022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4.7</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52845675"/>
                  </a:ext>
                </a:extLst>
              </a:tr>
            </a:tbl>
          </a:graphicData>
        </a:graphic>
      </p:graphicFrame>
      <p:graphicFrame>
        <p:nvGraphicFramePr>
          <p:cNvPr id="4" name="Table 3">
            <a:extLst>
              <a:ext uri="{FF2B5EF4-FFF2-40B4-BE49-F238E27FC236}">
                <a16:creationId xmlns:a16="http://schemas.microsoft.com/office/drawing/2014/main" id="{90957B2B-31D6-720F-D117-A798FF396800}"/>
              </a:ext>
            </a:extLst>
          </p:cNvPr>
          <p:cNvGraphicFramePr>
            <a:graphicFrameLocks noGrp="1"/>
          </p:cNvGraphicFramePr>
          <p:nvPr>
            <p:extLst>
              <p:ext uri="{D42A27DB-BD31-4B8C-83A1-F6EECF244321}">
                <p14:modId xmlns:p14="http://schemas.microsoft.com/office/powerpoint/2010/main" val="2384593832"/>
              </p:ext>
            </p:extLst>
          </p:nvPr>
        </p:nvGraphicFramePr>
        <p:xfrm>
          <a:off x="3057034" y="618212"/>
          <a:ext cx="2969011" cy="4146052"/>
        </p:xfrm>
        <a:graphic>
          <a:graphicData uri="http://schemas.openxmlformats.org/drawingml/2006/table">
            <a:tbl>
              <a:tblPr firstRow="1" firstCol="1" bandRow="1">
                <a:tableStyleId>{5C22544A-7EE6-4342-B048-85BDC9FD1C3A}</a:tableStyleId>
              </a:tblPr>
              <a:tblGrid>
                <a:gridCol w="1356432">
                  <a:extLst>
                    <a:ext uri="{9D8B030D-6E8A-4147-A177-3AD203B41FA5}">
                      <a16:colId xmlns:a16="http://schemas.microsoft.com/office/drawing/2014/main" val="3035831933"/>
                    </a:ext>
                  </a:extLst>
                </a:gridCol>
                <a:gridCol w="1612579">
                  <a:extLst>
                    <a:ext uri="{9D8B030D-6E8A-4147-A177-3AD203B41FA5}">
                      <a16:colId xmlns:a16="http://schemas.microsoft.com/office/drawing/2014/main" val="3298551787"/>
                    </a:ext>
                  </a:extLst>
                </a:gridCol>
              </a:tblGrid>
              <a:tr h="387584">
                <a:tc>
                  <a:txBody>
                    <a:bodyPr/>
                    <a:lstStyle/>
                    <a:p>
                      <a:pPr algn="l">
                        <a:lnSpc>
                          <a:spcPct val="115000"/>
                        </a:lnSpc>
                        <a:spcAft>
                          <a:spcPts val="800"/>
                        </a:spcAft>
                        <a:buNone/>
                      </a:pPr>
                      <a:r>
                        <a:rPr lang="en-IN" sz="1200" kern="100" dirty="0">
                          <a:effectLst/>
                        </a:rPr>
                        <a:t>Years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Rape Crime Rate of Germany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600381033"/>
                  </a:ext>
                </a:extLst>
              </a:tr>
              <a:tr h="187353">
                <a:tc>
                  <a:txBody>
                    <a:bodyPr/>
                    <a:lstStyle/>
                    <a:p>
                      <a:pPr algn="l">
                        <a:lnSpc>
                          <a:spcPct val="115000"/>
                        </a:lnSpc>
                        <a:spcAft>
                          <a:spcPts val="800"/>
                        </a:spcAft>
                        <a:buNone/>
                      </a:pPr>
                      <a:r>
                        <a:rPr lang="en-IN" sz="1200" kern="100">
                          <a:effectLst/>
                        </a:rPr>
                        <a:t>2004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10.87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1976952553"/>
                  </a:ext>
                </a:extLst>
              </a:tr>
              <a:tr h="187353">
                <a:tc>
                  <a:txBody>
                    <a:bodyPr/>
                    <a:lstStyle/>
                    <a:p>
                      <a:pPr algn="l">
                        <a:lnSpc>
                          <a:spcPct val="115000"/>
                        </a:lnSpc>
                        <a:spcAft>
                          <a:spcPts val="800"/>
                        </a:spcAft>
                        <a:buNone/>
                      </a:pPr>
                      <a:r>
                        <a:rPr lang="en-IN" sz="1200" kern="100" dirty="0">
                          <a:effectLst/>
                        </a:rPr>
                        <a:t>2005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10.01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3733200503"/>
                  </a:ext>
                </a:extLst>
              </a:tr>
              <a:tr h="187353">
                <a:tc>
                  <a:txBody>
                    <a:bodyPr/>
                    <a:lstStyle/>
                    <a:p>
                      <a:pPr algn="l">
                        <a:lnSpc>
                          <a:spcPct val="115000"/>
                        </a:lnSpc>
                        <a:spcAft>
                          <a:spcPts val="800"/>
                        </a:spcAft>
                        <a:buNone/>
                      </a:pPr>
                      <a:r>
                        <a:rPr lang="en-IN" sz="1200" kern="100">
                          <a:effectLst/>
                        </a:rPr>
                        <a:t>2006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10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186114739"/>
                  </a:ext>
                </a:extLst>
              </a:tr>
              <a:tr h="187353">
                <a:tc>
                  <a:txBody>
                    <a:bodyPr/>
                    <a:lstStyle/>
                    <a:p>
                      <a:pPr algn="l">
                        <a:lnSpc>
                          <a:spcPct val="115000"/>
                        </a:lnSpc>
                        <a:spcAft>
                          <a:spcPts val="800"/>
                        </a:spcAft>
                        <a:buNone/>
                      </a:pPr>
                      <a:r>
                        <a:rPr lang="en-IN" sz="1200" kern="100">
                          <a:effectLst/>
                        </a:rPr>
                        <a:t>2007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9.25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2446940446"/>
                  </a:ext>
                </a:extLst>
              </a:tr>
              <a:tr h="187353">
                <a:tc>
                  <a:txBody>
                    <a:bodyPr/>
                    <a:lstStyle/>
                    <a:p>
                      <a:pPr algn="l">
                        <a:lnSpc>
                          <a:spcPct val="115000"/>
                        </a:lnSpc>
                        <a:spcAft>
                          <a:spcPts val="800"/>
                        </a:spcAft>
                        <a:buNone/>
                      </a:pPr>
                      <a:r>
                        <a:rPr lang="en-IN" sz="1200" kern="100">
                          <a:effectLst/>
                        </a:rPr>
                        <a:t>2008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8.98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2929540301"/>
                  </a:ext>
                </a:extLst>
              </a:tr>
              <a:tr h="187353">
                <a:tc>
                  <a:txBody>
                    <a:bodyPr/>
                    <a:lstStyle/>
                    <a:p>
                      <a:pPr algn="l">
                        <a:lnSpc>
                          <a:spcPct val="115000"/>
                        </a:lnSpc>
                        <a:spcAft>
                          <a:spcPts val="800"/>
                        </a:spcAft>
                        <a:buNone/>
                      </a:pPr>
                      <a:r>
                        <a:rPr lang="en-IN" sz="1200" kern="100">
                          <a:effectLst/>
                        </a:rPr>
                        <a:t>2009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1540666120"/>
                  </a:ext>
                </a:extLst>
              </a:tr>
              <a:tr h="187353">
                <a:tc>
                  <a:txBody>
                    <a:bodyPr/>
                    <a:lstStyle/>
                    <a:p>
                      <a:pPr algn="l">
                        <a:lnSpc>
                          <a:spcPct val="115000"/>
                        </a:lnSpc>
                        <a:spcAft>
                          <a:spcPts val="800"/>
                        </a:spcAft>
                        <a:buNone/>
                      </a:pPr>
                      <a:r>
                        <a:rPr lang="en-IN" sz="1200" kern="100" dirty="0">
                          <a:effectLst/>
                        </a:rPr>
                        <a:t>2010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9.5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2777923582"/>
                  </a:ext>
                </a:extLst>
              </a:tr>
              <a:tr h="187353">
                <a:tc>
                  <a:txBody>
                    <a:bodyPr/>
                    <a:lstStyle/>
                    <a:p>
                      <a:pPr algn="l">
                        <a:lnSpc>
                          <a:spcPct val="115000"/>
                        </a:lnSpc>
                        <a:spcAft>
                          <a:spcPts val="800"/>
                        </a:spcAft>
                        <a:buNone/>
                      </a:pPr>
                      <a:r>
                        <a:rPr lang="en-IN" sz="1200" kern="100">
                          <a:effectLst/>
                        </a:rPr>
                        <a:t>2011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9.26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828336047"/>
                  </a:ext>
                </a:extLst>
              </a:tr>
              <a:tr h="187353">
                <a:tc>
                  <a:txBody>
                    <a:bodyPr/>
                    <a:lstStyle/>
                    <a:p>
                      <a:pPr algn="l">
                        <a:lnSpc>
                          <a:spcPct val="115000"/>
                        </a:lnSpc>
                        <a:spcAft>
                          <a:spcPts val="800"/>
                        </a:spcAft>
                        <a:buNone/>
                      </a:pPr>
                      <a:r>
                        <a:rPr lang="en-IN" sz="1200" kern="100" dirty="0">
                          <a:effectLst/>
                        </a:rPr>
                        <a:t>2012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9.85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904052586"/>
                  </a:ext>
                </a:extLst>
              </a:tr>
              <a:tr h="187353">
                <a:tc>
                  <a:txBody>
                    <a:bodyPr/>
                    <a:lstStyle/>
                    <a:p>
                      <a:pPr algn="l">
                        <a:lnSpc>
                          <a:spcPct val="115000"/>
                        </a:lnSpc>
                        <a:spcAft>
                          <a:spcPts val="800"/>
                        </a:spcAft>
                        <a:buNone/>
                      </a:pPr>
                      <a:r>
                        <a:rPr lang="en-IN" sz="1200" kern="100" dirty="0">
                          <a:effectLst/>
                        </a:rPr>
                        <a:t>2013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9.07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2761431544"/>
                  </a:ext>
                </a:extLst>
              </a:tr>
              <a:tr h="187353">
                <a:tc>
                  <a:txBody>
                    <a:bodyPr/>
                    <a:lstStyle/>
                    <a:p>
                      <a:pPr algn="l">
                        <a:lnSpc>
                          <a:spcPct val="115000"/>
                        </a:lnSpc>
                        <a:spcAft>
                          <a:spcPts val="800"/>
                        </a:spcAft>
                        <a:buNone/>
                      </a:pPr>
                      <a:r>
                        <a:rPr lang="en-IN" sz="1200" kern="100">
                          <a:effectLst/>
                        </a:rPr>
                        <a:t>2014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8.97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661476741"/>
                  </a:ext>
                </a:extLst>
              </a:tr>
              <a:tr h="187353">
                <a:tc>
                  <a:txBody>
                    <a:bodyPr/>
                    <a:lstStyle/>
                    <a:p>
                      <a:pPr algn="l">
                        <a:lnSpc>
                          <a:spcPct val="115000"/>
                        </a:lnSpc>
                        <a:spcAft>
                          <a:spcPts val="800"/>
                        </a:spcAft>
                        <a:buNone/>
                      </a:pPr>
                      <a:r>
                        <a:rPr lang="en-IN" sz="1200" kern="100">
                          <a:effectLst/>
                        </a:rPr>
                        <a:t>2015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8.56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4036901361"/>
                  </a:ext>
                </a:extLst>
              </a:tr>
              <a:tr h="187353">
                <a:tc>
                  <a:txBody>
                    <a:bodyPr/>
                    <a:lstStyle/>
                    <a:p>
                      <a:pPr algn="l">
                        <a:lnSpc>
                          <a:spcPct val="115000"/>
                        </a:lnSpc>
                        <a:spcAft>
                          <a:spcPts val="800"/>
                        </a:spcAft>
                        <a:buNone/>
                      </a:pPr>
                      <a:r>
                        <a:rPr lang="en-IN" sz="1200" kern="100">
                          <a:effectLst/>
                        </a:rPr>
                        <a:t>2016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dirty="0">
                          <a:effectLst/>
                        </a:rPr>
                        <a:t>9.62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1373259987"/>
                  </a:ext>
                </a:extLst>
              </a:tr>
              <a:tr h="187353">
                <a:tc>
                  <a:txBody>
                    <a:bodyPr/>
                    <a:lstStyle/>
                    <a:p>
                      <a:pPr algn="l">
                        <a:lnSpc>
                          <a:spcPct val="115000"/>
                        </a:lnSpc>
                        <a:spcAft>
                          <a:spcPts val="800"/>
                        </a:spcAft>
                        <a:buNone/>
                      </a:pPr>
                      <a:r>
                        <a:rPr lang="en-IN" sz="1200" kern="100">
                          <a:effectLst/>
                        </a:rPr>
                        <a:t>2017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10.06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3628781826"/>
                  </a:ext>
                </a:extLst>
              </a:tr>
              <a:tr h="187353">
                <a:tc>
                  <a:txBody>
                    <a:bodyPr/>
                    <a:lstStyle/>
                    <a:p>
                      <a:pPr algn="l">
                        <a:lnSpc>
                          <a:spcPct val="115000"/>
                        </a:lnSpc>
                        <a:spcAft>
                          <a:spcPts val="800"/>
                        </a:spcAft>
                        <a:buNone/>
                      </a:pPr>
                      <a:r>
                        <a:rPr lang="en-IN" sz="1200" kern="100">
                          <a:effectLst/>
                        </a:rPr>
                        <a:t>2018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10.9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2614162263"/>
                  </a:ext>
                </a:extLst>
              </a:tr>
              <a:tr h="187353">
                <a:tc>
                  <a:txBody>
                    <a:bodyPr/>
                    <a:lstStyle/>
                    <a:p>
                      <a:pPr algn="l">
                        <a:lnSpc>
                          <a:spcPct val="115000"/>
                        </a:lnSpc>
                        <a:spcAft>
                          <a:spcPts val="800"/>
                        </a:spcAft>
                        <a:buNone/>
                      </a:pPr>
                      <a:r>
                        <a:rPr lang="en-IN" sz="12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a:effectLst/>
                        </a:rPr>
                        <a:t>11.52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1712949130"/>
                  </a:ext>
                </a:extLst>
              </a:tr>
              <a:tr h="187353">
                <a:tc>
                  <a:txBody>
                    <a:bodyPr/>
                    <a:lstStyle/>
                    <a:p>
                      <a:pPr algn="l">
                        <a:lnSpc>
                          <a:spcPct val="115000"/>
                        </a:lnSpc>
                        <a:spcAft>
                          <a:spcPts val="800"/>
                        </a:spcAft>
                        <a:buNone/>
                      </a:pPr>
                      <a:r>
                        <a:rPr lang="en-IN" sz="12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dirty="0">
                          <a:effectLst/>
                        </a:rPr>
                        <a:t>12.15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3199438544"/>
                  </a:ext>
                </a:extLst>
              </a:tr>
              <a:tr h="187353">
                <a:tc>
                  <a:txBody>
                    <a:bodyPr/>
                    <a:lstStyle/>
                    <a:p>
                      <a:pPr algn="l">
                        <a:lnSpc>
                          <a:spcPct val="115000"/>
                        </a:lnSpc>
                        <a:spcAft>
                          <a:spcPts val="800"/>
                        </a:spcAft>
                        <a:buNone/>
                      </a:pPr>
                      <a:r>
                        <a:rPr lang="en-IN" sz="1200" kern="100">
                          <a:effectLst/>
                        </a:rPr>
                        <a:t>2021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dirty="0">
                          <a:effectLst/>
                        </a:rPr>
                        <a:t>12.48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2220491502"/>
                  </a:ext>
                </a:extLst>
              </a:tr>
              <a:tr h="187353">
                <a:tc>
                  <a:txBody>
                    <a:bodyPr/>
                    <a:lstStyle/>
                    <a:p>
                      <a:pPr algn="l">
                        <a:lnSpc>
                          <a:spcPct val="115000"/>
                        </a:lnSpc>
                        <a:spcAft>
                          <a:spcPts val="800"/>
                        </a:spcAft>
                        <a:buNone/>
                      </a:pPr>
                      <a:r>
                        <a:rPr lang="en-IN" sz="1200" kern="100">
                          <a:effectLst/>
                        </a:rPr>
                        <a:t>2022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tc>
                  <a:txBody>
                    <a:bodyPr/>
                    <a:lstStyle/>
                    <a:p>
                      <a:pPr algn="l">
                        <a:lnSpc>
                          <a:spcPct val="115000"/>
                        </a:lnSpc>
                        <a:spcAft>
                          <a:spcPts val="800"/>
                        </a:spcAft>
                        <a:buNone/>
                      </a:pPr>
                      <a:r>
                        <a:rPr lang="en-IN" sz="1200" kern="100" dirty="0">
                          <a:effectLst/>
                        </a:rPr>
                        <a:t>15.06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715" marR="49715" marT="0" marB="0"/>
                </a:tc>
                <a:extLst>
                  <a:ext uri="{0D108BD9-81ED-4DB2-BD59-A6C34878D82A}">
                    <a16:rowId xmlns:a16="http://schemas.microsoft.com/office/drawing/2014/main" val="3710072062"/>
                  </a:ext>
                </a:extLst>
              </a:tr>
            </a:tbl>
          </a:graphicData>
        </a:graphic>
      </p:graphicFrame>
      <p:graphicFrame>
        <p:nvGraphicFramePr>
          <p:cNvPr id="5" name="Table 4">
            <a:extLst>
              <a:ext uri="{FF2B5EF4-FFF2-40B4-BE49-F238E27FC236}">
                <a16:creationId xmlns:a16="http://schemas.microsoft.com/office/drawing/2014/main" id="{B40E96DA-B0AD-14E7-2CAB-ACB277760932}"/>
              </a:ext>
            </a:extLst>
          </p:cNvPr>
          <p:cNvGraphicFramePr>
            <a:graphicFrameLocks noGrp="1"/>
          </p:cNvGraphicFramePr>
          <p:nvPr>
            <p:extLst>
              <p:ext uri="{D42A27DB-BD31-4B8C-83A1-F6EECF244321}">
                <p14:modId xmlns:p14="http://schemas.microsoft.com/office/powerpoint/2010/main" val="688946559"/>
              </p:ext>
            </p:extLst>
          </p:nvPr>
        </p:nvGraphicFramePr>
        <p:xfrm>
          <a:off x="6146415" y="618212"/>
          <a:ext cx="2871577" cy="4146052"/>
        </p:xfrm>
        <a:graphic>
          <a:graphicData uri="http://schemas.openxmlformats.org/drawingml/2006/table">
            <a:tbl>
              <a:tblPr firstRow="1" firstCol="1" bandRow="1">
                <a:tableStyleId>{5C22544A-7EE6-4342-B048-85BDC9FD1C3A}</a:tableStyleId>
              </a:tblPr>
              <a:tblGrid>
                <a:gridCol w="1295945">
                  <a:extLst>
                    <a:ext uri="{9D8B030D-6E8A-4147-A177-3AD203B41FA5}">
                      <a16:colId xmlns:a16="http://schemas.microsoft.com/office/drawing/2014/main" val="4203768557"/>
                    </a:ext>
                  </a:extLst>
                </a:gridCol>
                <a:gridCol w="1575632">
                  <a:extLst>
                    <a:ext uri="{9D8B030D-6E8A-4147-A177-3AD203B41FA5}">
                      <a16:colId xmlns:a16="http://schemas.microsoft.com/office/drawing/2014/main" val="4171515997"/>
                    </a:ext>
                  </a:extLst>
                </a:gridCol>
              </a:tblGrid>
              <a:tr h="193542">
                <a:tc>
                  <a:txBody>
                    <a:bodyPr/>
                    <a:lstStyle/>
                    <a:p>
                      <a:pPr algn="l">
                        <a:lnSpc>
                          <a:spcPct val="115000"/>
                        </a:lnSpc>
                        <a:spcAft>
                          <a:spcPts val="800"/>
                        </a:spcAft>
                        <a:buNone/>
                      </a:pPr>
                      <a:r>
                        <a:rPr lang="en-IN" sz="1200" kern="100" dirty="0">
                          <a:effectLst/>
                        </a:rPr>
                        <a:t>Years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Rape Crime Rate of Kenya</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580662362"/>
                  </a:ext>
                </a:extLst>
              </a:tr>
              <a:tr h="193542">
                <a:tc>
                  <a:txBody>
                    <a:bodyPr/>
                    <a:lstStyle/>
                    <a:p>
                      <a:pPr algn="l">
                        <a:lnSpc>
                          <a:spcPct val="115000"/>
                        </a:lnSpc>
                        <a:spcAft>
                          <a:spcPts val="800"/>
                        </a:spcAft>
                        <a:buNone/>
                      </a:pPr>
                      <a:r>
                        <a:rPr lang="en-IN" sz="1200" kern="100" dirty="0">
                          <a:effectLst/>
                        </a:rPr>
                        <a:t>2004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4.14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895247605"/>
                  </a:ext>
                </a:extLst>
              </a:tr>
              <a:tr h="193542">
                <a:tc>
                  <a:txBody>
                    <a:bodyPr/>
                    <a:lstStyle/>
                    <a:p>
                      <a:pPr algn="l">
                        <a:lnSpc>
                          <a:spcPct val="115000"/>
                        </a:lnSpc>
                        <a:spcAft>
                          <a:spcPts val="800"/>
                        </a:spcAft>
                        <a:buNone/>
                      </a:pPr>
                      <a:r>
                        <a:rPr lang="en-IN" sz="1200" kern="100">
                          <a:effectLst/>
                        </a:rPr>
                        <a:t>2005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3.81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4081765429"/>
                  </a:ext>
                </a:extLst>
              </a:tr>
              <a:tr h="193542">
                <a:tc>
                  <a:txBody>
                    <a:bodyPr/>
                    <a:lstStyle/>
                    <a:p>
                      <a:pPr algn="l">
                        <a:lnSpc>
                          <a:spcPct val="115000"/>
                        </a:lnSpc>
                        <a:spcAft>
                          <a:spcPts val="800"/>
                        </a:spcAft>
                        <a:buNone/>
                      </a:pPr>
                      <a:r>
                        <a:rPr lang="en-IN" sz="1200" kern="100" dirty="0">
                          <a:effectLst/>
                        </a:rPr>
                        <a:t>2006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3.5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885423878"/>
                  </a:ext>
                </a:extLst>
              </a:tr>
              <a:tr h="193542">
                <a:tc>
                  <a:txBody>
                    <a:bodyPr/>
                    <a:lstStyle/>
                    <a:p>
                      <a:pPr algn="l">
                        <a:lnSpc>
                          <a:spcPct val="115000"/>
                        </a:lnSpc>
                        <a:spcAft>
                          <a:spcPts val="800"/>
                        </a:spcAft>
                        <a:buNone/>
                      </a:pPr>
                      <a:r>
                        <a:rPr lang="en-IN" sz="1200" kern="100">
                          <a:effectLst/>
                        </a:rPr>
                        <a:t>2007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2.3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930345112"/>
                  </a:ext>
                </a:extLst>
              </a:tr>
              <a:tr h="193542">
                <a:tc>
                  <a:txBody>
                    <a:bodyPr/>
                    <a:lstStyle/>
                    <a:p>
                      <a:pPr algn="l">
                        <a:lnSpc>
                          <a:spcPct val="115000"/>
                        </a:lnSpc>
                        <a:spcAft>
                          <a:spcPts val="800"/>
                        </a:spcAft>
                        <a:buNone/>
                      </a:pPr>
                      <a:r>
                        <a:rPr lang="en-IN" sz="1200" kern="100" dirty="0">
                          <a:effectLst/>
                        </a:rPr>
                        <a:t>2008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1.88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535896830"/>
                  </a:ext>
                </a:extLst>
              </a:tr>
              <a:tr h="193542">
                <a:tc>
                  <a:txBody>
                    <a:bodyPr/>
                    <a:lstStyle/>
                    <a:p>
                      <a:pPr algn="l">
                        <a:lnSpc>
                          <a:spcPct val="115000"/>
                        </a:lnSpc>
                        <a:spcAft>
                          <a:spcPts val="800"/>
                        </a:spcAft>
                        <a:buNone/>
                      </a:pPr>
                      <a:r>
                        <a:rPr lang="en-IN" sz="1200" kern="100">
                          <a:effectLst/>
                        </a:rPr>
                        <a:t>2009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293483873"/>
                  </a:ext>
                </a:extLst>
              </a:tr>
              <a:tr h="193542">
                <a:tc>
                  <a:txBody>
                    <a:bodyPr/>
                    <a:lstStyle/>
                    <a:p>
                      <a:pPr algn="l">
                        <a:lnSpc>
                          <a:spcPct val="115000"/>
                        </a:lnSpc>
                        <a:spcAft>
                          <a:spcPts val="800"/>
                        </a:spcAft>
                        <a:buNone/>
                      </a:pPr>
                      <a:r>
                        <a:rPr lang="en-IN" sz="1200" kern="100" dirty="0">
                          <a:effectLst/>
                        </a:rPr>
                        <a:t>2010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2.22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326623161"/>
                  </a:ext>
                </a:extLst>
              </a:tr>
              <a:tr h="193542">
                <a:tc>
                  <a:txBody>
                    <a:bodyPr/>
                    <a:lstStyle/>
                    <a:p>
                      <a:pPr algn="l">
                        <a:lnSpc>
                          <a:spcPct val="115000"/>
                        </a:lnSpc>
                        <a:spcAft>
                          <a:spcPts val="800"/>
                        </a:spcAft>
                        <a:buNone/>
                      </a:pPr>
                      <a:r>
                        <a:rPr lang="en-IN" sz="1200" kern="100">
                          <a:effectLst/>
                        </a:rPr>
                        <a:t>2011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2.19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695108583"/>
                  </a:ext>
                </a:extLst>
              </a:tr>
              <a:tr h="193542">
                <a:tc>
                  <a:txBody>
                    <a:bodyPr/>
                    <a:lstStyle/>
                    <a:p>
                      <a:pPr algn="l">
                        <a:lnSpc>
                          <a:spcPct val="115000"/>
                        </a:lnSpc>
                        <a:spcAft>
                          <a:spcPts val="800"/>
                        </a:spcAft>
                        <a:buNone/>
                      </a:pPr>
                      <a:r>
                        <a:rPr lang="en-IN" sz="1200" kern="100" dirty="0">
                          <a:effectLst/>
                        </a:rPr>
                        <a:t>2012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115211329"/>
                  </a:ext>
                </a:extLst>
              </a:tr>
              <a:tr h="193542">
                <a:tc>
                  <a:txBody>
                    <a:bodyPr/>
                    <a:lstStyle/>
                    <a:p>
                      <a:pPr algn="l">
                        <a:lnSpc>
                          <a:spcPct val="115000"/>
                        </a:lnSpc>
                        <a:spcAft>
                          <a:spcPts val="800"/>
                        </a:spcAft>
                        <a:buNone/>
                      </a:pPr>
                      <a:r>
                        <a:rPr lang="en-IN" sz="1200" kern="100">
                          <a:effectLst/>
                        </a:rPr>
                        <a:t>2013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2.13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465981713"/>
                  </a:ext>
                </a:extLst>
              </a:tr>
              <a:tr h="193542">
                <a:tc>
                  <a:txBody>
                    <a:bodyPr/>
                    <a:lstStyle/>
                    <a:p>
                      <a:pPr algn="l">
                        <a:lnSpc>
                          <a:spcPct val="115000"/>
                        </a:lnSpc>
                        <a:spcAft>
                          <a:spcPts val="800"/>
                        </a:spcAft>
                        <a:buNone/>
                      </a:pPr>
                      <a:r>
                        <a:rPr lang="en-IN" sz="1200" kern="100">
                          <a:effectLst/>
                        </a:rPr>
                        <a:t>2014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1.95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377305870"/>
                  </a:ext>
                </a:extLst>
              </a:tr>
              <a:tr h="193542">
                <a:tc>
                  <a:txBody>
                    <a:bodyPr/>
                    <a:lstStyle/>
                    <a:p>
                      <a:pPr algn="l">
                        <a:lnSpc>
                          <a:spcPct val="115000"/>
                        </a:lnSpc>
                        <a:spcAft>
                          <a:spcPts val="800"/>
                        </a:spcAft>
                        <a:buNone/>
                      </a:pPr>
                      <a:r>
                        <a:rPr lang="en-IN" sz="1200" kern="100" dirty="0">
                          <a:effectLst/>
                        </a:rPr>
                        <a:t>2015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1.82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65755760"/>
                  </a:ext>
                </a:extLst>
              </a:tr>
              <a:tr h="193542">
                <a:tc>
                  <a:txBody>
                    <a:bodyPr/>
                    <a:lstStyle/>
                    <a:p>
                      <a:pPr algn="l">
                        <a:lnSpc>
                          <a:spcPct val="115000"/>
                        </a:lnSpc>
                        <a:spcAft>
                          <a:spcPts val="800"/>
                        </a:spcAft>
                        <a:buNone/>
                      </a:pPr>
                      <a:r>
                        <a:rPr lang="en-IN" sz="1200" kern="100">
                          <a:effectLst/>
                        </a:rPr>
                        <a:t>2016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1.86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86976401"/>
                  </a:ext>
                </a:extLst>
              </a:tr>
              <a:tr h="193542">
                <a:tc>
                  <a:txBody>
                    <a:bodyPr/>
                    <a:lstStyle/>
                    <a:p>
                      <a:pPr algn="l">
                        <a:lnSpc>
                          <a:spcPct val="115000"/>
                        </a:lnSpc>
                        <a:spcAft>
                          <a:spcPts val="800"/>
                        </a:spcAft>
                        <a:buNone/>
                      </a:pPr>
                      <a:r>
                        <a:rPr lang="en-IN" sz="1200" kern="100">
                          <a:effectLst/>
                        </a:rPr>
                        <a:t>2017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a:effectLst/>
                        </a:rPr>
                        <a:t>1.67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719292123"/>
                  </a:ext>
                </a:extLst>
              </a:tr>
              <a:tr h="193542">
                <a:tc>
                  <a:txBody>
                    <a:bodyPr/>
                    <a:lstStyle/>
                    <a:p>
                      <a:pPr algn="l">
                        <a:lnSpc>
                          <a:spcPct val="115000"/>
                        </a:lnSpc>
                        <a:spcAft>
                          <a:spcPts val="800"/>
                        </a:spcAft>
                        <a:buNone/>
                      </a:pPr>
                      <a:r>
                        <a:rPr lang="en-IN" sz="1200" kern="100">
                          <a:effectLst/>
                        </a:rPr>
                        <a:t>2018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1.96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3718285800"/>
                  </a:ext>
                </a:extLst>
              </a:tr>
              <a:tr h="193542">
                <a:tc>
                  <a:txBody>
                    <a:bodyPr/>
                    <a:lstStyle/>
                    <a:p>
                      <a:pPr algn="l">
                        <a:lnSpc>
                          <a:spcPct val="115000"/>
                        </a:lnSpc>
                        <a:spcAft>
                          <a:spcPts val="800"/>
                        </a:spcAft>
                        <a:buNone/>
                      </a:pPr>
                      <a:r>
                        <a:rPr lang="en-IN" sz="12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2.06</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373671937"/>
                  </a:ext>
                </a:extLst>
              </a:tr>
              <a:tr h="193542">
                <a:tc>
                  <a:txBody>
                    <a:bodyPr/>
                    <a:lstStyle/>
                    <a:p>
                      <a:pPr algn="l">
                        <a:lnSpc>
                          <a:spcPct val="115000"/>
                        </a:lnSpc>
                        <a:spcAft>
                          <a:spcPts val="800"/>
                        </a:spcAft>
                        <a:buNone/>
                      </a:pPr>
                      <a:r>
                        <a:rPr lang="en-IN" sz="12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1.81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2151047753"/>
                  </a:ext>
                </a:extLst>
              </a:tr>
              <a:tr h="193542">
                <a:tc>
                  <a:txBody>
                    <a:bodyPr/>
                    <a:lstStyle/>
                    <a:p>
                      <a:pPr algn="l">
                        <a:lnSpc>
                          <a:spcPct val="115000"/>
                        </a:lnSpc>
                        <a:spcAft>
                          <a:spcPts val="800"/>
                        </a:spcAft>
                        <a:buNone/>
                      </a:pPr>
                      <a:r>
                        <a:rPr lang="en-IN" sz="1200" kern="100">
                          <a:effectLst/>
                        </a:rPr>
                        <a:t>2021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1.78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1889772487"/>
                  </a:ext>
                </a:extLst>
              </a:tr>
              <a:tr h="193542">
                <a:tc>
                  <a:txBody>
                    <a:bodyPr/>
                    <a:lstStyle/>
                    <a:p>
                      <a:pPr algn="l">
                        <a:lnSpc>
                          <a:spcPct val="115000"/>
                        </a:lnSpc>
                        <a:spcAft>
                          <a:spcPts val="800"/>
                        </a:spcAft>
                        <a:buNone/>
                      </a:pPr>
                      <a:r>
                        <a:rPr lang="en-IN" sz="1200" kern="100">
                          <a:effectLst/>
                        </a:rPr>
                        <a:t>2022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tc>
                  <a:txBody>
                    <a:bodyPr/>
                    <a:lstStyle/>
                    <a:p>
                      <a:pPr algn="l">
                        <a:lnSpc>
                          <a:spcPct val="115000"/>
                        </a:lnSpc>
                        <a:spcAft>
                          <a:spcPts val="800"/>
                        </a:spcAft>
                        <a:buNone/>
                      </a:pPr>
                      <a:r>
                        <a:rPr lang="en-IN" sz="1200" kern="100" dirty="0">
                          <a:effectLst/>
                        </a:rPr>
                        <a:t>1.52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1673" marR="51673" marT="0" marB="0"/>
                </a:tc>
                <a:extLst>
                  <a:ext uri="{0D108BD9-81ED-4DB2-BD59-A6C34878D82A}">
                    <a16:rowId xmlns:a16="http://schemas.microsoft.com/office/drawing/2014/main" val="753707152"/>
                  </a:ext>
                </a:extLst>
              </a:tr>
            </a:tbl>
          </a:graphicData>
        </a:graphic>
      </p:graphicFrame>
      <p:sp>
        <p:nvSpPr>
          <p:cNvPr id="7" name="TextBox 6">
            <a:extLst>
              <a:ext uri="{FF2B5EF4-FFF2-40B4-BE49-F238E27FC236}">
                <a16:creationId xmlns:a16="http://schemas.microsoft.com/office/drawing/2014/main" id="{F574914D-3303-0B6C-2AFF-BD1491A8092E}"/>
              </a:ext>
            </a:extLst>
          </p:cNvPr>
          <p:cNvSpPr txBox="1"/>
          <p:nvPr/>
        </p:nvSpPr>
        <p:spPr>
          <a:xfrm>
            <a:off x="0" y="104931"/>
            <a:ext cx="9144000" cy="369332"/>
          </a:xfrm>
          <a:prstGeom prst="rect">
            <a:avLst/>
          </a:prstGeom>
          <a:noFill/>
        </p:spPr>
        <p:txBody>
          <a:bodyPr wrap="square">
            <a:spAutoFit/>
          </a:bodyPr>
          <a:lstStyle/>
          <a:p>
            <a:pPr algn="ctr"/>
            <a:r>
              <a:rPr kumimoji="0" lang="en-IN"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ORI</a:t>
            </a:r>
            <a:r>
              <a:rPr lang="en-IN" b="1" dirty="0">
                <a:solidFill>
                  <a:srgbClr val="1D1D1D"/>
                </a:solidFill>
                <a:latin typeface="IBM Plex Mono" panose="020B0509050203000203" pitchFamily="49" charset="0"/>
              </a:rPr>
              <a:t>GINAL DATASET FOR INDIA,GERMANY AND KENYA</a:t>
            </a:r>
            <a:endParaRPr kumimoji="0" lang="en-IN" sz="18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endParaRPr>
          </a:p>
        </p:txBody>
      </p:sp>
      <p:sp>
        <p:nvSpPr>
          <p:cNvPr id="8" name="TextBox 7">
            <a:extLst>
              <a:ext uri="{FF2B5EF4-FFF2-40B4-BE49-F238E27FC236}">
                <a16:creationId xmlns:a16="http://schemas.microsoft.com/office/drawing/2014/main" id="{B1160784-C3EC-1A06-FF1B-DCA5E73BB4A0}"/>
              </a:ext>
            </a:extLst>
          </p:cNvPr>
          <p:cNvSpPr txBox="1"/>
          <p:nvPr/>
        </p:nvSpPr>
        <p:spPr>
          <a:xfrm>
            <a:off x="8118582" y="4760384"/>
            <a:ext cx="899410" cy="383116"/>
          </a:xfrm>
          <a:prstGeom prst="rect">
            <a:avLst/>
          </a:prstGeom>
          <a:noFill/>
        </p:spPr>
        <p:txBody>
          <a:bodyPr wrap="square" rtlCol="0">
            <a:spAutoFit/>
          </a:bodyPr>
          <a:lstStyle/>
          <a:p>
            <a:r>
              <a:rPr lang="en-IN" dirty="0">
                <a:hlinkClick r:id="rId2" action="ppaction://hlinksldjump"/>
              </a:rPr>
              <a:t>Back</a:t>
            </a:r>
            <a:endParaRPr lang="en-IN" dirty="0"/>
          </a:p>
        </p:txBody>
      </p:sp>
      <p:sp>
        <p:nvSpPr>
          <p:cNvPr id="10" name="Arrow: Left 9">
            <a:extLst>
              <a:ext uri="{FF2B5EF4-FFF2-40B4-BE49-F238E27FC236}">
                <a16:creationId xmlns:a16="http://schemas.microsoft.com/office/drawing/2014/main" id="{FA420871-C734-9EE2-D348-4C71DDF63012}"/>
              </a:ext>
            </a:extLst>
          </p:cNvPr>
          <p:cNvSpPr/>
          <p:nvPr/>
        </p:nvSpPr>
        <p:spPr>
          <a:xfrm>
            <a:off x="7908719" y="4889879"/>
            <a:ext cx="209863" cy="13035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2701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29E0-47BC-88BD-AA62-D149F9051DEC}"/>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16789F1-6BA5-B133-CB15-CBFB9F8719E0}"/>
              </a:ext>
            </a:extLst>
          </p:cNvPr>
          <p:cNvGraphicFramePr>
            <a:graphicFrameLocks noGrp="1"/>
          </p:cNvGraphicFramePr>
          <p:nvPr>
            <p:extLst>
              <p:ext uri="{D42A27DB-BD31-4B8C-83A1-F6EECF244321}">
                <p14:modId xmlns:p14="http://schemas.microsoft.com/office/powerpoint/2010/main" val="230035599"/>
              </p:ext>
            </p:extLst>
          </p:nvPr>
        </p:nvGraphicFramePr>
        <p:xfrm>
          <a:off x="464695" y="950638"/>
          <a:ext cx="8229599" cy="3497056"/>
        </p:xfrm>
        <a:graphic>
          <a:graphicData uri="http://schemas.openxmlformats.org/drawingml/2006/table">
            <a:tbl>
              <a:tblPr firstRow="1" firstCol="1" bandRow="1">
                <a:tableStyleId>{5C22544A-7EE6-4342-B048-85BDC9FD1C3A}</a:tableStyleId>
              </a:tblPr>
              <a:tblGrid>
                <a:gridCol w="737866">
                  <a:extLst>
                    <a:ext uri="{9D8B030D-6E8A-4147-A177-3AD203B41FA5}">
                      <a16:colId xmlns:a16="http://schemas.microsoft.com/office/drawing/2014/main" val="4172833586"/>
                    </a:ext>
                  </a:extLst>
                </a:gridCol>
                <a:gridCol w="474644">
                  <a:extLst>
                    <a:ext uri="{9D8B030D-6E8A-4147-A177-3AD203B41FA5}">
                      <a16:colId xmlns:a16="http://schemas.microsoft.com/office/drawing/2014/main" val="969484746"/>
                    </a:ext>
                  </a:extLst>
                </a:gridCol>
                <a:gridCol w="696550">
                  <a:extLst>
                    <a:ext uri="{9D8B030D-6E8A-4147-A177-3AD203B41FA5}">
                      <a16:colId xmlns:a16="http://schemas.microsoft.com/office/drawing/2014/main" val="1724499980"/>
                    </a:ext>
                  </a:extLst>
                </a:gridCol>
                <a:gridCol w="705149">
                  <a:extLst>
                    <a:ext uri="{9D8B030D-6E8A-4147-A177-3AD203B41FA5}">
                      <a16:colId xmlns:a16="http://schemas.microsoft.com/office/drawing/2014/main" val="2586281976"/>
                    </a:ext>
                  </a:extLst>
                </a:gridCol>
                <a:gridCol w="619155">
                  <a:extLst>
                    <a:ext uri="{9D8B030D-6E8A-4147-A177-3AD203B41FA5}">
                      <a16:colId xmlns:a16="http://schemas.microsoft.com/office/drawing/2014/main" val="1816826860"/>
                    </a:ext>
                  </a:extLst>
                </a:gridCol>
                <a:gridCol w="877136">
                  <a:extLst>
                    <a:ext uri="{9D8B030D-6E8A-4147-A177-3AD203B41FA5}">
                      <a16:colId xmlns:a16="http://schemas.microsoft.com/office/drawing/2014/main" val="1152562787"/>
                    </a:ext>
                  </a:extLst>
                </a:gridCol>
                <a:gridCol w="1014726">
                  <a:extLst>
                    <a:ext uri="{9D8B030D-6E8A-4147-A177-3AD203B41FA5}">
                      <a16:colId xmlns:a16="http://schemas.microsoft.com/office/drawing/2014/main" val="1805177015"/>
                    </a:ext>
                  </a:extLst>
                </a:gridCol>
                <a:gridCol w="825539">
                  <a:extLst>
                    <a:ext uri="{9D8B030D-6E8A-4147-A177-3AD203B41FA5}">
                      <a16:colId xmlns:a16="http://schemas.microsoft.com/office/drawing/2014/main" val="1774908205"/>
                    </a:ext>
                  </a:extLst>
                </a:gridCol>
                <a:gridCol w="670752">
                  <a:extLst>
                    <a:ext uri="{9D8B030D-6E8A-4147-A177-3AD203B41FA5}">
                      <a16:colId xmlns:a16="http://schemas.microsoft.com/office/drawing/2014/main" val="2753330038"/>
                    </a:ext>
                  </a:extLst>
                </a:gridCol>
                <a:gridCol w="928732">
                  <a:extLst>
                    <a:ext uri="{9D8B030D-6E8A-4147-A177-3AD203B41FA5}">
                      <a16:colId xmlns:a16="http://schemas.microsoft.com/office/drawing/2014/main" val="1664921483"/>
                    </a:ext>
                  </a:extLst>
                </a:gridCol>
                <a:gridCol w="679350">
                  <a:extLst>
                    <a:ext uri="{9D8B030D-6E8A-4147-A177-3AD203B41FA5}">
                      <a16:colId xmlns:a16="http://schemas.microsoft.com/office/drawing/2014/main" val="887807153"/>
                    </a:ext>
                  </a:extLst>
                </a:gridCol>
              </a:tblGrid>
              <a:tr h="314551">
                <a:tc>
                  <a:txBody>
                    <a:bodyPr/>
                    <a:lstStyle/>
                    <a:p>
                      <a:r>
                        <a:rPr lang="en-IN" sz="1000" kern="100" dirty="0">
                          <a:effectLst/>
                          <a:latin typeface="Calibri" panose="020F0502020204030204" pitchFamily="34" charset="0"/>
                          <a:cs typeface="Times New Roman" panose="02020603050405020304" pitchFamily="18" charset="0"/>
                        </a:rPr>
                        <a:t>Years</a:t>
                      </a:r>
                    </a:p>
                  </a:txBody>
                  <a:tcPr marL="45753" marR="45753" marT="0" marB="0"/>
                </a:tc>
                <a:tc>
                  <a:txBody>
                    <a:bodyPr/>
                    <a:lstStyle/>
                    <a:p>
                      <a:pPr>
                        <a:lnSpc>
                          <a:spcPct val="115000"/>
                        </a:lnSpc>
                        <a:spcAft>
                          <a:spcPts val="800"/>
                        </a:spcAft>
                        <a:buNone/>
                      </a:pPr>
                      <a:r>
                        <a:rPr lang="en-IN" sz="1000" kern="100" dirty="0">
                          <a:effectLst/>
                        </a:rPr>
                        <a:t>Delhi</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Mizoram</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Madhya Pradesh</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Assam</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Arunachal Pradesh</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Chhattisgarh</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Rajasthan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Tripura</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Chandigarh</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Haryana</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1495283750"/>
                  </a:ext>
                </a:extLst>
              </a:tr>
              <a:tr h="132828">
                <a:tc>
                  <a:txBody>
                    <a:bodyPr/>
                    <a:lstStyle/>
                    <a:p>
                      <a:pPr>
                        <a:lnSpc>
                          <a:spcPct val="115000"/>
                        </a:lnSpc>
                        <a:spcAft>
                          <a:spcPts val="800"/>
                        </a:spcAft>
                        <a:buNone/>
                      </a:pPr>
                      <a:r>
                        <a:rPr lang="en-IN" sz="1000" kern="100">
                          <a:effectLst/>
                        </a:rPr>
                        <a:t>2004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3.6</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2.1</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3662700944"/>
                  </a:ext>
                </a:extLst>
              </a:tr>
              <a:tr h="132828">
                <a:tc>
                  <a:txBody>
                    <a:bodyPr/>
                    <a:lstStyle/>
                    <a:p>
                      <a:pPr>
                        <a:lnSpc>
                          <a:spcPct val="115000"/>
                        </a:lnSpc>
                        <a:spcAft>
                          <a:spcPts val="800"/>
                        </a:spcAft>
                        <a:buNone/>
                      </a:pPr>
                      <a:r>
                        <a:rPr lang="en-IN" sz="1000" kern="100">
                          <a:effectLst/>
                        </a:rPr>
                        <a:t>2005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3.9</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3770278630"/>
                  </a:ext>
                </a:extLst>
              </a:tr>
              <a:tr h="132828">
                <a:tc>
                  <a:txBody>
                    <a:bodyPr/>
                    <a:lstStyle/>
                    <a:p>
                      <a:pPr>
                        <a:lnSpc>
                          <a:spcPct val="115000"/>
                        </a:lnSpc>
                        <a:spcAft>
                          <a:spcPts val="800"/>
                        </a:spcAft>
                        <a:buNone/>
                      </a:pPr>
                      <a:r>
                        <a:rPr lang="en-IN" sz="1000" kern="100">
                          <a:effectLst/>
                        </a:rPr>
                        <a:t>2006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7.5</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1230089099"/>
                  </a:ext>
                </a:extLst>
              </a:tr>
              <a:tr h="132828">
                <a:tc>
                  <a:txBody>
                    <a:bodyPr/>
                    <a:lstStyle/>
                    <a:p>
                      <a:pPr>
                        <a:lnSpc>
                          <a:spcPct val="115000"/>
                        </a:lnSpc>
                        <a:spcAft>
                          <a:spcPts val="800"/>
                        </a:spcAft>
                        <a:buNone/>
                      </a:pPr>
                      <a:r>
                        <a:rPr lang="en-IN" sz="1000" kern="100">
                          <a:effectLst/>
                        </a:rPr>
                        <a:t>2007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8.5</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4283007542"/>
                  </a:ext>
                </a:extLst>
              </a:tr>
              <a:tr h="132828">
                <a:tc>
                  <a:txBody>
                    <a:bodyPr/>
                    <a:lstStyle/>
                    <a:p>
                      <a:pPr>
                        <a:lnSpc>
                          <a:spcPct val="115000"/>
                        </a:lnSpc>
                        <a:spcAft>
                          <a:spcPts val="800"/>
                        </a:spcAft>
                        <a:buNone/>
                      </a:pPr>
                      <a:r>
                        <a:rPr lang="en-IN" sz="1000" kern="100">
                          <a:effectLst/>
                        </a:rPr>
                        <a:t>2008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7.8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4.2</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4166482766"/>
                  </a:ext>
                </a:extLst>
              </a:tr>
              <a:tr h="132828">
                <a:tc>
                  <a:txBody>
                    <a:bodyPr/>
                    <a:lstStyle/>
                    <a:p>
                      <a:pPr>
                        <a:lnSpc>
                          <a:spcPct val="115000"/>
                        </a:lnSpc>
                        <a:spcAft>
                          <a:spcPts val="800"/>
                        </a:spcAft>
                        <a:buNone/>
                      </a:pPr>
                      <a:r>
                        <a:rPr lang="en-IN" sz="1000" kern="100">
                          <a:effectLst/>
                        </a:rPr>
                        <a:t>2009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8.3</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4.2</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1117997445"/>
                  </a:ext>
                </a:extLst>
              </a:tr>
              <a:tr h="132828">
                <a:tc>
                  <a:txBody>
                    <a:bodyPr/>
                    <a:lstStyle/>
                    <a:p>
                      <a:pPr>
                        <a:lnSpc>
                          <a:spcPct val="115000"/>
                        </a:lnSpc>
                        <a:spcAft>
                          <a:spcPts val="800"/>
                        </a:spcAft>
                        <a:buNone/>
                      </a:pPr>
                      <a:r>
                        <a:rPr lang="en-IN" sz="1000" kern="100">
                          <a:effectLst/>
                        </a:rPr>
                        <a:t>2010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4.3</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6.6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3686593312"/>
                  </a:ext>
                </a:extLst>
              </a:tr>
              <a:tr h="132828">
                <a:tc>
                  <a:txBody>
                    <a:bodyPr/>
                    <a:lstStyle/>
                    <a:p>
                      <a:pPr>
                        <a:lnSpc>
                          <a:spcPct val="115000"/>
                        </a:lnSpc>
                        <a:spcAft>
                          <a:spcPts val="800"/>
                        </a:spcAft>
                        <a:buNone/>
                      </a:pPr>
                      <a:r>
                        <a:rPr lang="en-IN" sz="1000" kern="100">
                          <a:effectLst/>
                        </a:rPr>
                        <a:t>2011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3.4</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7.1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5.5</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2134473165"/>
                  </a:ext>
                </a:extLst>
              </a:tr>
              <a:tr h="132828">
                <a:tc>
                  <a:txBody>
                    <a:bodyPr/>
                    <a:lstStyle/>
                    <a:p>
                      <a:pPr>
                        <a:lnSpc>
                          <a:spcPct val="115000"/>
                        </a:lnSpc>
                        <a:spcAft>
                          <a:spcPts val="800"/>
                        </a:spcAft>
                        <a:buNone/>
                      </a:pPr>
                      <a:r>
                        <a:rPr lang="en-IN" sz="1000" kern="100">
                          <a:effectLst/>
                        </a:rPr>
                        <a:t>2012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20.81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9.72</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11.34</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7.71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8.41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6.19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12.77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4.21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563206691"/>
                  </a:ext>
                </a:extLst>
              </a:tr>
              <a:tr h="206613">
                <a:tc>
                  <a:txBody>
                    <a:bodyPr/>
                    <a:lstStyle/>
                    <a:p>
                      <a:pPr>
                        <a:lnSpc>
                          <a:spcPct val="115000"/>
                        </a:lnSpc>
                        <a:spcAft>
                          <a:spcPts val="800"/>
                        </a:spcAft>
                        <a:buNone/>
                      </a:pPr>
                      <a:r>
                        <a:rPr lang="en-IN" sz="1000" kern="100">
                          <a:effectLst/>
                        </a:rPr>
                        <a:t>2013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18.63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17.8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12.65</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12.42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11.08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9.78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12.84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6.74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8.02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741479197"/>
                  </a:ext>
                </a:extLst>
              </a:tr>
              <a:tr h="132828">
                <a:tc>
                  <a:txBody>
                    <a:bodyPr/>
                    <a:lstStyle/>
                    <a:p>
                      <a:pPr>
                        <a:lnSpc>
                          <a:spcPct val="115000"/>
                        </a:lnSpc>
                        <a:spcAft>
                          <a:spcPts val="800"/>
                        </a:spcAft>
                        <a:buNone/>
                      </a:pPr>
                      <a:r>
                        <a:rPr lang="en-IN" sz="1000" kern="100">
                          <a:effectLst/>
                        </a:rPr>
                        <a:t>2014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23.2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23.7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13.6</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1779780362"/>
                  </a:ext>
                </a:extLst>
              </a:tr>
              <a:tr h="132828">
                <a:tc>
                  <a:txBody>
                    <a:bodyPr/>
                    <a:lstStyle/>
                    <a:p>
                      <a:pPr>
                        <a:lnSpc>
                          <a:spcPct val="115000"/>
                        </a:lnSpc>
                        <a:spcAft>
                          <a:spcPts val="800"/>
                        </a:spcAft>
                        <a:buNone/>
                      </a:pPr>
                      <a:r>
                        <a:rPr lang="en-IN" sz="1000" kern="100">
                          <a:effectLst/>
                        </a:rPr>
                        <a:t>2015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23.7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11.5</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4133729847"/>
                  </a:ext>
                </a:extLst>
              </a:tr>
              <a:tr h="132828">
                <a:tc>
                  <a:txBody>
                    <a:bodyPr/>
                    <a:lstStyle/>
                    <a:p>
                      <a:pPr>
                        <a:lnSpc>
                          <a:spcPct val="115000"/>
                        </a:lnSpc>
                        <a:spcAft>
                          <a:spcPts val="800"/>
                        </a:spcAft>
                        <a:buNone/>
                      </a:pPr>
                      <a:r>
                        <a:rPr lang="en-IN" sz="1000" kern="100">
                          <a:effectLst/>
                        </a:rPr>
                        <a:t>2016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13.1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14.7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12.6</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3541498343"/>
                  </a:ext>
                </a:extLst>
              </a:tr>
              <a:tr h="132828">
                <a:tc>
                  <a:txBody>
                    <a:bodyPr/>
                    <a:lstStyle/>
                    <a:p>
                      <a:pPr>
                        <a:lnSpc>
                          <a:spcPct val="115000"/>
                        </a:lnSpc>
                        <a:spcAft>
                          <a:spcPts val="800"/>
                        </a:spcAft>
                        <a:buNone/>
                      </a:pPr>
                      <a:r>
                        <a:rPr lang="en-IN" sz="1000" kern="100">
                          <a:effectLst/>
                        </a:rPr>
                        <a:t>2017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14.7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9.4</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14.6</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2226265054"/>
                  </a:ext>
                </a:extLst>
              </a:tr>
              <a:tr h="132828">
                <a:tc>
                  <a:txBody>
                    <a:bodyPr/>
                    <a:lstStyle/>
                    <a:p>
                      <a:pPr>
                        <a:lnSpc>
                          <a:spcPct val="115000"/>
                        </a:lnSpc>
                        <a:spcAft>
                          <a:spcPts val="800"/>
                        </a:spcAft>
                        <a:buNone/>
                      </a:pPr>
                      <a:r>
                        <a:rPr lang="en-IN" sz="1000" kern="100">
                          <a:effectLst/>
                        </a:rPr>
                        <a:t>2018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13.3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13.8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14.7</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11.7</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16.1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422567309"/>
                  </a:ext>
                </a:extLst>
              </a:tr>
              <a:tr h="132828">
                <a:tc>
                  <a:txBody>
                    <a:bodyPr/>
                    <a:lstStyle/>
                    <a:p>
                      <a:pPr>
                        <a:lnSpc>
                          <a:spcPct val="115000"/>
                        </a:lnSpc>
                        <a:spcAft>
                          <a:spcPts val="800"/>
                        </a:spcAft>
                        <a:buNone/>
                      </a:pPr>
                      <a:r>
                        <a:rPr lang="en-IN" sz="1000" kern="100">
                          <a:effectLst/>
                        </a:rPr>
                        <a:t>2019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8.3</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13.9</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997214230"/>
                  </a:ext>
                </a:extLst>
              </a:tr>
              <a:tr h="120353">
                <a:tc>
                  <a:txBody>
                    <a:bodyPr/>
                    <a:lstStyle/>
                    <a:p>
                      <a:pPr>
                        <a:lnSpc>
                          <a:spcPct val="115000"/>
                        </a:lnSpc>
                        <a:spcAft>
                          <a:spcPts val="800"/>
                        </a:spcAft>
                        <a:buNone/>
                      </a:pPr>
                      <a:r>
                        <a:rPr lang="en-IN" sz="1000" kern="100">
                          <a:effectLst/>
                        </a:rPr>
                        <a:t>2020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5.8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13.9</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4</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10</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1718939524"/>
                  </a:ext>
                </a:extLst>
              </a:tr>
              <a:tr h="132828">
                <a:tc>
                  <a:txBody>
                    <a:bodyPr/>
                    <a:lstStyle/>
                    <a:p>
                      <a:pPr>
                        <a:lnSpc>
                          <a:spcPct val="115000"/>
                        </a:lnSpc>
                        <a:spcAft>
                          <a:spcPts val="800"/>
                        </a:spcAft>
                        <a:buNone/>
                      </a:pPr>
                      <a:r>
                        <a:rPr lang="en-IN" sz="1000" kern="100">
                          <a:effectLst/>
                        </a:rPr>
                        <a:t>2021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4.3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7.2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7.4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16.4</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3</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13.3</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313851136"/>
                  </a:ext>
                </a:extLst>
              </a:tr>
              <a:tr h="132828">
                <a:tc>
                  <a:txBody>
                    <a:bodyPr/>
                    <a:lstStyle/>
                    <a:p>
                      <a:pPr>
                        <a:lnSpc>
                          <a:spcPct val="115000"/>
                        </a:lnSpc>
                        <a:spcAft>
                          <a:spcPts val="800"/>
                        </a:spcAft>
                        <a:buNone/>
                      </a:pPr>
                      <a:r>
                        <a:rPr lang="en-IN" sz="1000" kern="100">
                          <a:effectLst/>
                        </a:rPr>
                        <a:t>2022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7.3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6.4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9.8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8.3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a:effectLst/>
                        </a:rPr>
                        <a:t>13.8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3.1</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13.9</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tc>
                  <a:txBody>
                    <a:bodyPr/>
                    <a:lstStyle/>
                    <a:p>
                      <a:pPr>
                        <a:lnSpc>
                          <a:spcPct val="115000"/>
                        </a:lnSpc>
                        <a:spcAft>
                          <a:spcPts val="800"/>
                        </a:spcAft>
                        <a:buNone/>
                      </a:pPr>
                      <a:r>
                        <a:rPr lang="en-IN" sz="1000" kern="100" dirty="0">
                          <a:effectLst/>
                        </a:rPr>
                        <a:t>12.7</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53" marR="45753" marT="0" marB="0"/>
                </a:tc>
                <a:extLst>
                  <a:ext uri="{0D108BD9-81ED-4DB2-BD59-A6C34878D82A}">
                    <a16:rowId xmlns:a16="http://schemas.microsoft.com/office/drawing/2014/main" val="2993367669"/>
                  </a:ext>
                </a:extLst>
              </a:tr>
            </a:tbl>
          </a:graphicData>
        </a:graphic>
      </p:graphicFrame>
      <p:sp>
        <p:nvSpPr>
          <p:cNvPr id="4" name="TextBox 3">
            <a:extLst>
              <a:ext uri="{FF2B5EF4-FFF2-40B4-BE49-F238E27FC236}">
                <a16:creationId xmlns:a16="http://schemas.microsoft.com/office/drawing/2014/main" id="{999E0AEF-073A-CC79-4160-907E7BC3A3B1}"/>
              </a:ext>
            </a:extLst>
          </p:cNvPr>
          <p:cNvSpPr txBox="1"/>
          <p:nvPr/>
        </p:nvSpPr>
        <p:spPr>
          <a:xfrm>
            <a:off x="1688267" y="92811"/>
            <a:ext cx="5505136" cy="646331"/>
          </a:xfrm>
          <a:prstGeom prst="rect">
            <a:avLst/>
          </a:prstGeom>
          <a:noFill/>
        </p:spPr>
        <p:txBody>
          <a:bodyPr wrap="square">
            <a:spAutoFit/>
          </a:bodyPr>
          <a:lstStyle/>
          <a:p>
            <a:pPr algn="ctr"/>
            <a:r>
              <a:rPr kumimoji="0" lang="en-IN"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ORI</a:t>
            </a:r>
            <a:r>
              <a:rPr lang="en-IN" b="1" dirty="0">
                <a:solidFill>
                  <a:srgbClr val="1D1D1D"/>
                </a:solidFill>
                <a:latin typeface="IBM Plex Mono" panose="020B0509050203000203" pitchFamily="49" charset="0"/>
              </a:rPr>
              <a:t>GINAL DATASET FOR TOP 10 INDIAN STATES AND UNION TERRITORIES</a:t>
            </a:r>
            <a:endParaRPr kumimoji="0" lang="en-IN"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endParaRPr>
          </a:p>
        </p:txBody>
      </p:sp>
      <p:sp>
        <p:nvSpPr>
          <p:cNvPr id="5" name="TextBox 4">
            <a:extLst>
              <a:ext uri="{FF2B5EF4-FFF2-40B4-BE49-F238E27FC236}">
                <a16:creationId xmlns:a16="http://schemas.microsoft.com/office/drawing/2014/main" id="{0408648A-8947-8CDB-E4ED-AF3997C2299B}"/>
              </a:ext>
            </a:extLst>
          </p:cNvPr>
          <p:cNvSpPr txBox="1"/>
          <p:nvPr/>
        </p:nvSpPr>
        <p:spPr>
          <a:xfrm>
            <a:off x="7869836" y="4676931"/>
            <a:ext cx="824458" cy="369332"/>
          </a:xfrm>
          <a:prstGeom prst="rect">
            <a:avLst/>
          </a:prstGeom>
          <a:noFill/>
        </p:spPr>
        <p:txBody>
          <a:bodyPr wrap="square" rtlCol="0">
            <a:spAutoFit/>
          </a:bodyPr>
          <a:lstStyle/>
          <a:p>
            <a:r>
              <a:rPr lang="en-IN" dirty="0">
                <a:hlinkClick r:id="rId2" action="ppaction://hlinksldjump"/>
              </a:rPr>
              <a:t>Back</a:t>
            </a:r>
            <a:endParaRPr lang="en-IN" dirty="0"/>
          </a:p>
        </p:txBody>
      </p:sp>
      <p:sp>
        <p:nvSpPr>
          <p:cNvPr id="6" name="Arrow: Left 5">
            <a:extLst>
              <a:ext uri="{FF2B5EF4-FFF2-40B4-BE49-F238E27FC236}">
                <a16:creationId xmlns:a16="http://schemas.microsoft.com/office/drawing/2014/main" id="{899B95B9-9334-819F-E9B8-59424481BCD4}"/>
              </a:ext>
            </a:extLst>
          </p:cNvPr>
          <p:cNvSpPr/>
          <p:nvPr/>
        </p:nvSpPr>
        <p:spPr>
          <a:xfrm>
            <a:off x="7615004" y="4789357"/>
            <a:ext cx="314794" cy="19487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10570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641F0D5-6301-6EDB-98E8-08AD78E00067}"/>
              </a:ext>
            </a:extLst>
          </p:cNvPr>
          <p:cNvGraphicFramePr>
            <a:graphicFrameLocks noGrp="1"/>
          </p:cNvGraphicFramePr>
          <p:nvPr>
            <p:extLst>
              <p:ext uri="{D42A27DB-BD31-4B8C-83A1-F6EECF244321}">
                <p14:modId xmlns:p14="http://schemas.microsoft.com/office/powerpoint/2010/main" val="2363756788"/>
              </p:ext>
            </p:extLst>
          </p:nvPr>
        </p:nvGraphicFramePr>
        <p:xfrm>
          <a:off x="1708878" y="820790"/>
          <a:ext cx="5913619" cy="3049720"/>
        </p:xfrm>
        <a:graphic>
          <a:graphicData uri="http://schemas.openxmlformats.org/drawingml/2006/table">
            <a:tbl>
              <a:tblPr firstRow="1" firstCol="1" bandRow="1"/>
              <a:tblGrid>
                <a:gridCol w="291938">
                  <a:extLst>
                    <a:ext uri="{9D8B030D-6E8A-4147-A177-3AD203B41FA5}">
                      <a16:colId xmlns:a16="http://schemas.microsoft.com/office/drawing/2014/main" val="2277073916"/>
                    </a:ext>
                  </a:extLst>
                </a:gridCol>
                <a:gridCol w="309251">
                  <a:extLst>
                    <a:ext uri="{9D8B030D-6E8A-4147-A177-3AD203B41FA5}">
                      <a16:colId xmlns:a16="http://schemas.microsoft.com/office/drawing/2014/main" val="2475947169"/>
                    </a:ext>
                  </a:extLst>
                </a:gridCol>
                <a:gridCol w="1294362">
                  <a:extLst>
                    <a:ext uri="{9D8B030D-6E8A-4147-A177-3AD203B41FA5}">
                      <a16:colId xmlns:a16="http://schemas.microsoft.com/office/drawing/2014/main" val="3030313609"/>
                    </a:ext>
                  </a:extLst>
                </a:gridCol>
                <a:gridCol w="713625">
                  <a:extLst>
                    <a:ext uri="{9D8B030D-6E8A-4147-A177-3AD203B41FA5}">
                      <a16:colId xmlns:a16="http://schemas.microsoft.com/office/drawing/2014/main" val="965869191"/>
                    </a:ext>
                  </a:extLst>
                </a:gridCol>
                <a:gridCol w="1294362">
                  <a:extLst>
                    <a:ext uri="{9D8B030D-6E8A-4147-A177-3AD203B41FA5}">
                      <a16:colId xmlns:a16="http://schemas.microsoft.com/office/drawing/2014/main" val="1570791961"/>
                    </a:ext>
                  </a:extLst>
                </a:gridCol>
                <a:gridCol w="713625">
                  <a:extLst>
                    <a:ext uri="{9D8B030D-6E8A-4147-A177-3AD203B41FA5}">
                      <a16:colId xmlns:a16="http://schemas.microsoft.com/office/drawing/2014/main" val="2312582891"/>
                    </a:ext>
                  </a:extLst>
                </a:gridCol>
                <a:gridCol w="1296456">
                  <a:extLst>
                    <a:ext uri="{9D8B030D-6E8A-4147-A177-3AD203B41FA5}">
                      <a16:colId xmlns:a16="http://schemas.microsoft.com/office/drawing/2014/main" val="467855234"/>
                    </a:ext>
                  </a:extLst>
                </a:gridCol>
              </a:tblGrid>
              <a:tr h="167983">
                <a:tc>
                  <a:txBody>
                    <a:bodyPr/>
                    <a:lstStyle/>
                    <a:p>
                      <a:pPr algn="ctr">
                        <a:lnSpc>
                          <a:spcPct val="115000"/>
                        </a:lnSpc>
                        <a:spcAft>
                          <a:spcPts val="800"/>
                        </a:spcAft>
                        <a:buNone/>
                      </a:pPr>
                      <a:r>
                        <a:rPr lang="en-IN" sz="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Germany</a:t>
                      </a:r>
                      <a:endParaRPr lang="en-IN" sz="2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Kenya</a:t>
                      </a:r>
                      <a:endParaRPr lang="en-IN" sz="2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IN" sz="16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India</a:t>
                      </a:r>
                      <a:endParaRPr lang="en-IN" sz="2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4068241"/>
                  </a:ext>
                </a:extLst>
              </a:tr>
              <a:tr h="303186">
                <a:tc gridSpan="2">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Year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Forecasted rape crime rate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Year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Forecasted rape crime rate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Year</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Forecasted rape crime rate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905738"/>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13.41399</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4597207"/>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13.91169</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4140566"/>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2025</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14.33503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2025</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2025</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5953283"/>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2026</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14.81084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2026</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2026</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7003045"/>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15.24963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3497845"/>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2028</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15.71454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2028</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2028</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7454504"/>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2029</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16.16102</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2029</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2029</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403847"/>
                  </a:ext>
                </a:extLst>
              </a:tr>
              <a:tr h="147006">
                <a:tc gridSpan="2">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16.62050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5025015"/>
                  </a:ext>
                </a:extLst>
              </a:tr>
              <a:tr h="147006">
                <a:tc gridSpan="2">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2031</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17.07081</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2031</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2031</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5281062"/>
                  </a:ext>
                </a:extLst>
              </a:tr>
              <a:tr h="147006">
                <a:tc gridSpan="2">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2032</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17.52760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2032</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1.727274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2032</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N" sz="14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941" marR="549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606489"/>
                  </a:ext>
                </a:extLst>
              </a:tr>
            </a:tbl>
          </a:graphicData>
        </a:graphic>
      </p:graphicFrame>
      <p:sp>
        <p:nvSpPr>
          <p:cNvPr id="6" name="TextBox 5">
            <a:extLst>
              <a:ext uri="{FF2B5EF4-FFF2-40B4-BE49-F238E27FC236}">
                <a16:creationId xmlns:a16="http://schemas.microsoft.com/office/drawing/2014/main" id="{D8B3EAC1-2B7C-CA13-CD87-F4D3AE23374C}"/>
              </a:ext>
            </a:extLst>
          </p:cNvPr>
          <p:cNvSpPr txBox="1"/>
          <p:nvPr/>
        </p:nvSpPr>
        <p:spPr>
          <a:xfrm>
            <a:off x="0" y="205237"/>
            <a:ext cx="9144000" cy="615553"/>
          </a:xfrm>
          <a:prstGeom prst="rect">
            <a:avLst/>
          </a:prstGeom>
          <a:noFill/>
        </p:spPr>
        <p:txBody>
          <a:bodyPr wrap="square">
            <a:spAutoFit/>
          </a:bodyPr>
          <a:lstStyle/>
          <a:p>
            <a:pPr algn="ctr"/>
            <a:r>
              <a:rPr lang="en-IN" sz="2000" b="1" dirty="0">
                <a:solidFill>
                  <a:srgbClr val="1D1D1D"/>
                </a:solidFill>
                <a:latin typeface="IBM Plex Mono" panose="020B0509050203000203" pitchFamily="49" charset="0"/>
              </a:rPr>
              <a:t>TABLE FOR FORECASTED VALUE</a:t>
            </a:r>
            <a:endPar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endParaRPr>
          </a:p>
          <a:p>
            <a:pPr algn="ctr"/>
            <a:r>
              <a:rPr lang="en-IN" sz="1400" dirty="0">
                <a:solidFill>
                  <a:srgbClr val="1D1D1D"/>
                </a:solidFill>
              </a:rPr>
              <a:t>Table representing the forecasted values for the three countries Germany, Kenya and India. </a:t>
            </a:r>
            <a:endParaRPr kumimoji="0" lang="en-IN" sz="1200" i="0" u="none" strike="noStrike" kern="1200" cap="none" spc="0" normalizeH="0" baseline="0" noProof="0" dirty="0">
              <a:ln>
                <a:noFill/>
              </a:ln>
              <a:solidFill>
                <a:srgbClr val="1D1D1D"/>
              </a:solidFill>
              <a:effectLst/>
              <a:uLnTx/>
              <a:uFillTx/>
              <a:ea typeface="+mn-ea"/>
              <a:cs typeface="+mn-cs"/>
            </a:endParaRPr>
          </a:p>
        </p:txBody>
      </p:sp>
      <p:sp>
        <p:nvSpPr>
          <p:cNvPr id="8" name="Rectangle 7">
            <a:extLst>
              <a:ext uri="{FF2B5EF4-FFF2-40B4-BE49-F238E27FC236}">
                <a16:creationId xmlns:a16="http://schemas.microsoft.com/office/drawing/2014/main" id="{86C10F62-9C4F-E16C-B829-2EC9BC5B0C4D}"/>
              </a:ext>
            </a:extLst>
          </p:cNvPr>
          <p:cNvSpPr/>
          <p:nvPr/>
        </p:nvSpPr>
        <p:spPr>
          <a:xfrm>
            <a:off x="277315" y="3975557"/>
            <a:ext cx="7345182" cy="872765"/>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IN" sz="1400" dirty="0">
                <a:solidFill>
                  <a:schemeClr val="tx1"/>
                </a:solidFill>
              </a:rPr>
              <a:t>Analysis based on the forecasted values: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rPr>
              <a:t>Forecasted rape crime cases in Germany increases every one year after.</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rPr>
              <a:t>Forecasted rape crime case for India and Kenya gives constant value and shows stabilized growth.</a:t>
            </a:r>
          </a:p>
        </p:txBody>
      </p:sp>
      <p:sp>
        <p:nvSpPr>
          <p:cNvPr id="9" name="TextBox 8">
            <a:extLst>
              <a:ext uri="{FF2B5EF4-FFF2-40B4-BE49-F238E27FC236}">
                <a16:creationId xmlns:a16="http://schemas.microsoft.com/office/drawing/2014/main" id="{719FAD05-F66B-F886-A66C-48782E2B34D7}"/>
              </a:ext>
            </a:extLst>
          </p:cNvPr>
          <p:cNvSpPr txBox="1"/>
          <p:nvPr/>
        </p:nvSpPr>
        <p:spPr>
          <a:xfrm>
            <a:off x="8334528" y="4663656"/>
            <a:ext cx="809472" cy="369332"/>
          </a:xfrm>
          <a:prstGeom prst="rect">
            <a:avLst/>
          </a:prstGeom>
          <a:noFill/>
        </p:spPr>
        <p:txBody>
          <a:bodyPr wrap="square" rtlCol="0">
            <a:spAutoFit/>
          </a:bodyPr>
          <a:lstStyle/>
          <a:p>
            <a:r>
              <a:rPr lang="en-IN" dirty="0">
                <a:hlinkClick r:id="rId2" action="ppaction://hlinksldjump"/>
              </a:rPr>
              <a:t>Back</a:t>
            </a:r>
            <a:endParaRPr lang="en-IN" dirty="0"/>
          </a:p>
        </p:txBody>
      </p:sp>
      <p:sp>
        <p:nvSpPr>
          <p:cNvPr id="10" name="Arrow: Left 9">
            <a:extLst>
              <a:ext uri="{FF2B5EF4-FFF2-40B4-BE49-F238E27FC236}">
                <a16:creationId xmlns:a16="http://schemas.microsoft.com/office/drawing/2014/main" id="{D5B3BCA0-BA39-20E9-F121-87D5C553E501}"/>
              </a:ext>
            </a:extLst>
          </p:cNvPr>
          <p:cNvSpPr/>
          <p:nvPr/>
        </p:nvSpPr>
        <p:spPr>
          <a:xfrm>
            <a:off x="8117174" y="4781862"/>
            <a:ext cx="277318" cy="1564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42622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F718D-FC87-A1DD-CE5B-DA5FD84507A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82744BB-B102-C6B4-5196-B4F3102522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7279" y="904023"/>
            <a:ext cx="8469442" cy="2276911"/>
          </a:xfrm>
          <a:prstGeom prst="rect">
            <a:avLst/>
          </a:prstGeom>
          <a:noFill/>
          <a:ln>
            <a:noFill/>
          </a:ln>
        </p:spPr>
      </p:pic>
      <p:sp>
        <p:nvSpPr>
          <p:cNvPr id="4" name="TextBox 3">
            <a:extLst>
              <a:ext uri="{FF2B5EF4-FFF2-40B4-BE49-F238E27FC236}">
                <a16:creationId xmlns:a16="http://schemas.microsoft.com/office/drawing/2014/main" id="{29D079BA-410B-E456-046D-98C1D1A823A3}"/>
              </a:ext>
            </a:extLst>
          </p:cNvPr>
          <p:cNvSpPr txBox="1"/>
          <p:nvPr/>
        </p:nvSpPr>
        <p:spPr>
          <a:xfrm>
            <a:off x="1950595" y="35721"/>
            <a:ext cx="5505136" cy="707886"/>
          </a:xfrm>
          <a:prstGeom prst="rect">
            <a:avLst/>
          </a:prstGeom>
          <a:noFill/>
        </p:spPr>
        <p:txBody>
          <a:bodyPr wrap="square">
            <a:spAutoFit/>
          </a:bodyPr>
          <a:lstStyle/>
          <a:p>
            <a:pPr algn="ctr"/>
            <a:r>
              <a:rPr lang="en-IN" sz="2000" b="1" dirty="0">
                <a:solidFill>
                  <a:srgbClr val="1D1D1D"/>
                </a:solidFill>
                <a:latin typeface="IBM Plex Mono" panose="020B0509050203000203" pitchFamily="49" charset="0"/>
              </a:rPr>
              <a:t>PREDICTIVE RANK TABLE </a:t>
            </a:r>
            <a:r>
              <a:rPr kumimoji="0" lang="en-IN" sz="2000" b="1" i="0" u="none" strike="noStrike" kern="1200" cap="none" spc="0" normalizeH="0" baseline="0" noProof="0" dirty="0">
                <a:ln>
                  <a:noFill/>
                </a:ln>
                <a:solidFill>
                  <a:srgbClr val="1D1D1D"/>
                </a:solidFill>
                <a:effectLst/>
                <a:uLnTx/>
                <a:uFillTx/>
                <a:latin typeface="IBM Plex Mono" panose="020B0509050203000203" pitchFamily="49" charset="0"/>
                <a:ea typeface="+mn-ea"/>
                <a:cs typeface="+mn-cs"/>
              </a:rPr>
              <a:t>OF 10 INDIAN STATES</a:t>
            </a:r>
          </a:p>
        </p:txBody>
      </p:sp>
      <p:sp>
        <p:nvSpPr>
          <p:cNvPr id="5" name="Rectangle 4">
            <a:extLst>
              <a:ext uri="{FF2B5EF4-FFF2-40B4-BE49-F238E27FC236}">
                <a16:creationId xmlns:a16="http://schemas.microsoft.com/office/drawing/2014/main" id="{77169E82-45C3-BB80-8747-A085AA77AF3E}"/>
              </a:ext>
            </a:extLst>
          </p:cNvPr>
          <p:cNvSpPr/>
          <p:nvPr/>
        </p:nvSpPr>
        <p:spPr>
          <a:xfrm>
            <a:off x="337279" y="3338163"/>
            <a:ext cx="8469442" cy="1303000"/>
          </a:xfrm>
          <a:prstGeom prst="rect">
            <a:avLst/>
          </a:prstGeom>
          <a:solidFill>
            <a:schemeClr val="accent4"/>
          </a:solidFill>
          <a:ln>
            <a:solidFill>
              <a:schemeClr val="bg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IN" sz="1600" dirty="0">
                <a:solidFill>
                  <a:schemeClr val="tx1"/>
                </a:solidFill>
              </a:rPr>
              <a:t>From the above table we can conclude that: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solidFill>
                  <a:schemeClr val="tx1"/>
                </a:solidFill>
              </a:rPr>
              <a:t>Chandigarh with in the past years (2004-2022) was the top 9</a:t>
            </a:r>
            <a:r>
              <a:rPr lang="en-IN" sz="1600" baseline="30000" dirty="0">
                <a:solidFill>
                  <a:schemeClr val="tx1"/>
                </a:solidFill>
              </a:rPr>
              <a:t>th</a:t>
            </a:r>
            <a:r>
              <a:rPr lang="en-IN" sz="1600" dirty="0">
                <a:solidFill>
                  <a:schemeClr val="tx1"/>
                </a:solidFill>
              </a:rPr>
              <a:t> state in rape crime rate becomes the leading state in rape crime rate.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a:solidFill>
                  <a:schemeClr val="tx1"/>
                </a:solidFill>
              </a:rPr>
              <a:t>Also, the state which lead the top 10’s list in the past 19 years seems to be the last among all the top 10 states.</a:t>
            </a:r>
          </a:p>
        </p:txBody>
      </p:sp>
      <p:sp>
        <p:nvSpPr>
          <p:cNvPr id="7" name="TextBox 6">
            <a:extLst>
              <a:ext uri="{FF2B5EF4-FFF2-40B4-BE49-F238E27FC236}">
                <a16:creationId xmlns:a16="http://schemas.microsoft.com/office/drawing/2014/main" id="{5AAAE069-5F26-67FF-B1A8-8E8903B44343}"/>
              </a:ext>
            </a:extLst>
          </p:cNvPr>
          <p:cNvSpPr txBox="1"/>
          <p:nvPr/>
        </p:nvSpPr>
        <p:spPr>
          <a:xfrm>
            <a:off x="8124668" y="4641163"/>
            <a:ext cx="1131757" cy="369332"/>
          </a:xfrm>
          <a:prstGeom prst="rect">
            <a:avLst/>
          </a:prstGeom>
          <a:noFill/>
        </p:spPr>
        <p:txBody>
          <a:bodyPr wrap="square" rtlCol="0">
            <a:spAutoFit/>
          </a:bodyPr>
          <a:lstStyle/>
          <a:p>
            <a:r>
              <a:rPr lang="en-IN" dirty="0">
                <a:hlinkClick r:id="rId3" action="ppaction://hlinksldjump"/>
              </a:rPr>
              <a:t>Back</a:t>
            </a:r>
            <a:endParaRPr lang="en-IN" dirty="0"/>
          </a:p>
        </p:txBody>
      </p:sp>
      <p:sp>
        <p:nvSpPr>
          <p:cNvPr id="8" name="Arrow: Left 7">
            <a:extLst>
              <a:ext uri="{FF2B5EF4-FFF2-40B4-BE49-F238E27FC236}">
                <a16:creationId xmlns:a16="http://schemas.microsoft.com/office/drawing/2014/main" id="{7BC31A74-0260-4F0F-75AD-28E01563C93F}"/>
              </a:ext>
            </a:extLst>
          </p:cNvPr>
          <p:cNvSpPr/>
          <p:nvPr/>
        </p:nvSpPr>
        <p:spPr>
          <a:xfrm>
            <a:off x="7862341" y="4761084"/>
            <a:ext cx="299803" cy="17817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36006435"/>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563</TotalTime>
  <Words>3539</Words>
  <Application>Microsoft Office PowerPoint</Application>
  <PresentationFormat>On-screen Show (16:9)</PresentationFormat>
  <Paragraphs>628</Paragraphs>
  <Slides>37</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37</vt:i4>
      </vt:variant>
    </vt:vector>
  </HeadingPairs>
  <TitlesOfParts>
    <vt:vector size="49" baseType="lpstr">
      <vt:lpstr>Algerian</vt:lpstr>
      <vt:lpstr>Arial</vt:lpstr>
      <vt:lpstr>Calibri</vt:lpstr>
      <vt:lpstr>Calibri Light</vt:lpstr>
      <vt:lpstr>Cambria Math</vt:lpstr>
      <vt:lpstr>IBM Plex Mono</vt:lpstr>
      <vt:lpstr>OpenSymbol</vt:lpstr>
      <vt:lpstr>Symbol</vt:lpstr>
      <vt:lpstr>Times New Roman</vt:lpstr>
      <vt:lpstr>Wingdings</vt:lpstr>
      <vt:lpstr>Introduction to Coding Workshop by Slidesgo</vt:lpstr>
      <vt:lpstr>Introduction to Coding Workshop by Slidesgo</vt:lpstr>
      <vt:lpstr>Rape Crime Statistics: A Comparative study Among three nations   </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Manjima Rit</cp:lastModifiedBy>
  <cp:revision>6</cp:revision>
  <dcterms:modified xsi:type="dcterms:W3CDTF">2025-05-02T03:59:15Z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2025-05-01T09:31:10Z</dcterms:created>
  <dc:creator>Unknown Creator</dc:creator>
  <dc:description/>
  <dc:language>en-US</dc:language>
  <cp:lastModifiedBy>Unknown Creator</cp:lastModifiedBy>
  <dcterms:modified xsi:type="dcterms:W3CDTF">2025-05-01T09:31:10Z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